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52360" y="914400"/>
            <a:ext cx="3931920" cy="4937760"/>
          </a:xfrm>
          <a:prstGeom prst="roundRect">
            <a:avLst/>
          </a:prstGeom>
          <a:solidFill>
            <a:srgbClr val="141F34"/>
          </a:solidFill>
          <a:ln>
            <a:solidFill>
              <a:srgbClr val="55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18120" y="1234440"/>
            <a:ext cx="3200400" cy="1828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0400" b="1">
                <a:solidFill>
                  <a:srgbClr val="35D3E2"/>
                </a:solidFill>
                <a:latin typeface="Apto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26679" y="3246120"/>
            <a:ext cx="338328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5F8FF"/>
                </a:solidFill>
                <a:latin typeface="Aptos"/>
              </a:rPr>
              <a:t>AEROBOOK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530352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35D3E2"/>
                </a:solidFill>
                <a:latin typeface="Aptos"/>
              </a:rPr>
              <a:t>PROJECT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217920" cy="7772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4600" b="1">
                <a:solidFill>
                  <a:srgbClr val="F5F8FF"/>
                </a:solidFill>
                <a:latin typeface="Aptos"/>
              </a:rPr>
              <a:t>AEROBOOK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60320"/>
            <a:ext cx="6035040" cy="9144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200" b="0">
                <a:solidFill>
                  <a:srgbClr val="AEBCD0"/>
                </a:solidFill>
                <a:latin typeface="Aptos"/>
              </a:rPr>
              <a:t>Airline Reservation &amp; Airport Operations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AEBCD0"/>
                </a:solidFill>
                <a:latin typeface="Aptos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3657600" cy="3657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5F8FF"/>
                </a:solidFill>
                <a:latin typeface="Aptos"/>
              </a:rPr>
              <a:t>Amir Sohel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35D3E2"/>
                </a:solidFill>
                <a:latin typeface="Aptos"/>
              </a:rPr>
              <a:t>Software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AEBCD0"/>
                </a:solidFill>
                <a:latin typeface="Aptos"/>
              </a:rPr>
              <a:t>Passenger services  /  Ground operations  /  Airline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01  / 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"/>
              </a:rPr>
              <a:t>One platform. Three connected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AeroBook supports the passenger journey and airline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Passenger services: flight search, booking, payment, check-in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46557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337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Airport operations: manifests, PNR lookup, boarding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6085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4480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Airline management: fleet, schedules, fares, promotions,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02  /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A modular microservices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Frontend requests pass through a gateway to services and data stores.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Angular 18 frontend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17982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05181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Spring Cloud Gateway + Netflix Eureka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0370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90906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Java Spring Boot microservices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894326"/>
            <a:ext cx="118872" cy="118872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476631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MySQL databases, JWT authentication, RabbitMQ messaging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03  / 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Three important technical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Security, data consistency, and modular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JWT + role-based access control protect role-specific dashboards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46557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337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Row-level database locking helps prevent duplicate seat allocation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6085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4480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RabbitMQ supports asynchronous tasks such as notifications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04  /  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"/>
              </a:rPr>
              <a:t>Three roles, separate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Each dashboard focuses on the tasks needed by that user.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Passenger: search, book, pay, check in, view boarding pass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46557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337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Ground staff: manifests, PNR lookup, boarding validation, flight status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6085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4480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Administrator: aircraft, schedules, fares, coupons, user accounts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05  / 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End-to-end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Follow the same order as the application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5257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1. Search for a flight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289407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766060"/>
            <a:ext cx="9509760" cy="5257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2. Select a flight and review fare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34655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337560"/>
            <a:ext cx="9509760" cy="5257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3. Complete test payment and get PNR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037076"/>
            <a:ext cx="118872" cy="118872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909060"/>
            <a:ext cx="9509760" cy="5257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4. Check in and choose a seat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4608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480560"/>
            <a:ext cx="9509760" cy="5257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5. Validate boarding as staff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518007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5052060"/>
            <a:ext cx="9509760" cy="5257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6. Review admin controls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06  /  PASSENGER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Search flights and review the fare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Example journey: Delhi to Mumbai.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Enter journey details and search available flights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17982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05181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Select a flight and review passenger and fare details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0370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90906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Apply WELCOME10; discount is applied if eligible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894326"/>
            <a:ext cx="118872" cy="118872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476631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AERO2026 is another documented sample coupon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07  /  BOOKING CONFIRMATION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Payment, PNR, and e-ticket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The demo uses the configured Razorpay test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Complete the test payment process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17982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05181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Verify the payment result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0370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90906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Confirm the booking and generate a unique PNR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894326"/>
            <a:ext cx="118872" cy="118872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476631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View the e-ticket and download it as a PDF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08  /  PASSENGER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"/>
              </a:rPr>
              <a:t>Web check-in and digital boarding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The PNR links the booking to the check-in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Retrieve the booking using its PNR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17982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05181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Select an available seat from the seat map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0370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90906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Confirm check-in and update booking status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894326"/>
            <a:ext cx="118872" cy="118872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476631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View the digital boarding pass with travel details and barcode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09  /  GROUND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From manifest to boarding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Ground staff connects booking records with airport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Open the passenger manifest and find the booking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00837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880360"/>
            <a:ext cx="95097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Look up the reservation using its PNR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36941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566160"/>
            <a:ext cx="95097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Validate boarding pass details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379976"/>
            <a:ext cx="118872" cy="118872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4251960"/>
            <a:ext cx="95097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Update passenger status from CHECKED_IN to BOARDED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50657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937760"/>
            <a:ext cx="95097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Update flight status when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10  / 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Manage airline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The administrator controls core reference data and platform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Fleet management: maintain aircraft records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17982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05181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Flight schedules: configure routes, timings, and fares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0370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90906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Promotions: manage coupons and discounts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894326"/>
            <a:ext cx="118872" cy="118872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4766310"/>
            <a:ext cx="9509760" cy="81153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User management: maintain accounts and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35D3E2"/>
                </a:solidFill>
                <a:latin typeface="Aptos"/>
              </a:rPr>
              <a:t>11  /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6400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  <a:latin typeface="Aptos"/>
              </a:rPr>
              <a:t>AeroBook connects the journey end to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EBCD0"/>
                </a:solidFill>
                <a:latin typeface="Aptos"/>
              </a:rPr>
              <a:t>Booking • Payment • E-ticket • Check-in • Boarding • Administration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44200" cy="3886200"/>
          </a:xfrm>
          <a:prstGeom prst="roundRect">
            <a:avLst/>
          </a:prstGeom>
          <a:solidFill>
            <a:srgbClr val="141F34"/>
          </a:solidFill>
          <a:ln>
            <a:solidFill>
              <a:srgbClr val="24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22576"/>
            <a:ext cx="118872" cy="118872"/>
          </a:xfrm>
          <a:prstGeom prst="ellipse">
            <a:avLst/>
          </a:prstGeom>
          <a:solidFill>
            <a:srgbClr val="35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194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Built with Angular, Spring Boot microservices, MySQL, gateway routing, service discovery, and security controls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465576"/>
            <a:ext cx="118872" cy="118872"/>
          </a:xfrm>
          <a:prstGeom prst="ellipse">
            <a:avLst/>
          </a:prstGeom>
          <a:solidFill>
            <a:srgbClr val="55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337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Future scope: cloud deployment, Kubernetes, production monitoring, and live payment integration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608576"/>
            <a:ext cx="118872" cy="118872"/>
          </a:xfrm>
          <a:prstGeom prst="ellipse">
            <a:avLst/>
          </a:prstGeom>
          <a:solidFill>
            <a:srgbClr val="5DD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4480560"/>
            <a:ext cx="9509760" cy="10972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5F8FF"/>
                </a:solidFill>
                <a:latin typeface="Aptos"/>
              </a:rPr>
              <a:t>Thank you — Amir Sohel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6446520"/>
            <a:ext cx="10744200" cy="16459"/>
          </a:xfrm>
          <a:prstGeom prst="rect">
            <a:avLst/>
          </a:prstGeom>
          <a:solidFill>
            <a:srgbClr val="23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005840" cy="18288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AEBCD0"/>
                </a:solidFill>
                <a:latin typeface="Apto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