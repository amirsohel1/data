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9823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AeroBook is a cloud-native airline reservation and airport operations platform. This deck summarises the 75-page technical documentation in nine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short parts. Spend most time on architecture, communication and security.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problem: an airline platform needs fault isolation, independent scaling, data integrity and role-specific experiences. The numbers on the right come from the implementation status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domains map to the services. Three authenticated roles route to separate dashboards after login; guests can search flights and validate coupons.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Browser traffic enters only through the gateway on 8083. Services register with Eureka and are reached by logical name. Each business service owns its own MySQL schema.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business services each own exactly one schema. The three infrastructure services are stateless or in-memory.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synchronous calls where an immediate answer is required, events where work can happen in the background. Booking still succeeds if the notification path is delayed.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right: search, price, book, pay, check in, board. Cancellation triggers an automated refund. Each step is owned by a different service, which is why the gateway and events matter.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 the numbers. The booking response does not wait for the event consumer: the RabbitMQ step happens in the background, so a slow consumer never delays the passenger.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schema is private to one service. Logical IDs replace foreign keys across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JWT is verified once at the gateway; downstream services trust the propagated headers, which keeps them light but means internal ports must not be exposed externally.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accepted architecture decision records. Each trades some complexity for scalability and isolation.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Versions follow the verified technology matrix in the documentation: Spring Boot 4.1.1 for nine services and 3.5.5 for gateway and flight service, Angular 18.2.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challenges come from the architecture trade-offs and the troubleshooting runbook. Replace or add your own project experiences while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roadmap. Prioritised items come from the Architecture Evolution chapter.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AeroBook  |  Amir Sohel, Capgemini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AeroBook  |  Amir Sohel, Capgemini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 circle large"/>
          <p:cNvSpPr/>
          <p:nvPr/>
        </p:nvSpPr>
        <p:spPr>
          <a:xfrm>
            <a:off x="6035040" y="-1097280"/>
            <a:ext cx="5029200" cy="5029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" name="Decor circle small"/>
          <p:cNvSpPr/>
          <p:nvPr/>
        </p:nvSpPr>
        <p:spPr>
          <a:xfrm>
            <a:off x="7223760" y="2377440"/>
            <a:ext cx="3291840" cy="3291840"/>
          </a:xfrm>
          <a:prstGeom prst="ellipse">
            <a:avLst/>
          </a:prstGeom>
          <a:solidFill>
            <a:schemeClr val="accent2">
              <a:alpha val="45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pic>
        <p:nvPicPr>
          <p:cNvPr id="4" name="Plane icon" descr="Airpla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200000">
            <a:off x="7315200" y="109728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1430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chemeClr val="accent1"/>
                </a:solidFill>
              </a:rPr>
              <a:t>PLATFORM ARCHITECTURE OVERVIEW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50876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AeroBook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1460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A</a:t>
            </a:r>
            <a:r>
              <a:rPr lang="en-US" sz="1800" dirty="0">
                <a:solidFill>
                  <a:schemeClr val="accent6"/>
                </a:solidFill>
              </a:rPr>
              <a:t>irline reservation &amp; operations ecosystem built on 11 Spring Boot microservices and an Angular 18 front end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7490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Presented by Amir Sohel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Software Engineer, Capgemini  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we will cover</a:t>
            </a:r>
            <a:endParaRPr lang="en-US" sz="3000" dirty="0"/>
          </a:p>
        </p:txBody>
      </p:sp>
      <p:sp>
        <p:nvSpPr>
          <p:cNvPr id="3" name="Agenda card 1"/>
          <p:cNvSpPr/>
          <p:nvPr/>
        </p:nvSpPr>
        <p:spPr>
          <a:xfrm>
            <a:off x="457200" y="1188720"/>
            <a:ext cx="4023360" cy="1051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Agenda marker 1"/>
          <p:cNvSpPr/>
          <p:nvPr/>
        </p:nvSpPr>
        <p:spPr>
          <a:xfrm>
            <a:off x="685800" y="14630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18872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Problem, domains and users</a:t>
            </a:r>
            <a:endParaRPr lang="en-US" sz="1800" dirty="0"/>
          </a:p>
        </p:txBody>
      </p:sp>
      <p:sp>
        <p:nvSpPr>
          <p:cNvPr id="7" name="Agenda card 2"/>
          <p:cNvSpPr/>
          <p:nvPr/>
        </p:nvSpPr>
        <p:spPr>
          <a:xfrm>
            <a:off x="4663440" y="1188720"/>
            <a:ext cx="4023360" cy="1051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Agenda marker 2"/>
          <p:cNvSpPr/>
          <p:nvPr/>
        </p:nvSpPr>
        <p:spPr>
          <a:xfrm>
            <a:off x="4892040" y="14630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623560" y="118872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Gateway, services and registry</a:t>
            </a:r>
            <a:endParaRPr lang="en-US" sz="1800" dirty="0"/>
          </a:p>
        </p:txBody>
      </p:sp>
      <p:sp>
        <p:nvSpPr>
          <p:cNvPr id="11" name="Agenda card 3"/>
          <p:cNvSpPr/>
          <p:nvPr/>
        </p:nvSpPr>
        <p:spPr>
          <a:xfrm>
            <a:off x="457200" y="2377440"/>
            <a:ext cx="4023360" cy="1051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Agenda marker 3"/>
          <p:cNvSpPr/>
          <p:nvPr/>
        </p:nvSpPr>
        <p:spPr>
          <a:xfrm>
            <a:off x="685800" y="26517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237744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 &amp; data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Feign, RabbitMQ and schemas</a:t>
            </a:r>
            <a:endParaRPr lang="en-US" sz="1800" dirty="0"/>
          </a:p>
        </p:txBody>
      </p:sp>
      <p:sp>
        <p:nvSpPr>
          <p:cNvPr id="15" name="Agenda card 4"/>
          <p:cNvSpPr/>
          <p:nvPr/>
        </p:nvSpPr>
        <p:spPr>
          <a:xfrm>
            <a:off x="4663440" y="2377440"/>
            <a:ext cx="4023360" cy="1051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Agenda marker 4"/>
          <p:cNvSpPr/>
          <p:nvPr/>
        </p:nvSpPr>
        <p:spPr>
          <a:xfrm>
            <a:off x="4892040" y="26517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9204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623560" y="237744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JWT at the edge and RBAC</a:t>
            </a:r>
            <a:endParaRPr lang="en-US" sz="1800" dirty="0"/>
          </a:p>
        </p:txBody>
      </p:sp>
      <p:sp>
        <p:nvSpPr>
          <p:cNvPr id="19" name="Agenda card 5"/>
          <p:cNvSpPr/>
          <p:nvPr/>
        </p:nvSpPr>
        <p:spPr>
          <a:xfrm>
            <a:off x="457200" y="3566160"/>
            <a:ext cx="4023360" cy="1051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Agenda marker 5"/>
          <p:cNvSpPr/>
          <p:nvPr/>
        </p:nvSpPr>
        <p:spPr>
          <a:xfrm>
            <a:off x="685800" y="38404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356616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Decisions, quality, deployment</a:t>
            </a:r>
            <a:endParaRPr lang="en-US" sz="1800" dirty="0"/>
          </a:p>
        </p:txBody>
      </p:sp>
      <p:sp>
        <p:nvSpPr>
          <p:cNvPr id="23" name="Agenda card 6"/>
          <p:cNvSpPr/>
          <p:nvPr/>
        </p:nvSpPr>
        <p:spPr>
          <a:xfrm>
            <a:off x="4663440" y="3566160"/>
            <a:ext cx="4023360" cy="1051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Agenda marker 6"/>
          <p:cNvSpPr/>
          <p:nvPr/>
        </p:nvSpPr>
        <p:spPr>
          <a:xfrm>
            <a:off x="4892040" y="3840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9204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6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623560" y="356616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future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Lessons and the roadmap</a:t>
            </a:r>
            <a:endParaRPr lang="en-US" sz="18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AeroBook at a glance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</a:t>
            </a:r>
            <a:endParaRPr lang="en-US" sz="1800" dirty="0"/>
          </a:p>
        </p:txBody>
      </p:sp>
      <p:sp>
        <p:nvSpPr>
          <p:cNvPr id="4" name="Challenge 1"/>
          <p:cNvSpPr txBox="1"/>
          <p:nvPr/>
        </p:nvSpPr>
        <p:spPr>
          <a:xfrm>
            <a:off x="457200" y="1600200"/>
            <a:ext cx="4023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Fault isolation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A failed notification must never block a booking or boarding.</a:t>
            </a:r>
            <a:endParaRPr lang="en-US" sz="1400" dirty="0"/>
          </a:p>
        </p:txBody>
      </p:sp>
      <p:sp>
        <p:nvSpPr>
          <p:cNvPr id="5" name="Challenge 2"/>
          <p:cNvSpPr txBox="1"/>
          <p:nvPr/>
        </p:nvSpPr>
        <p:spPr>
          <a:xfrm>
            <a:off x="457200" y="2368296"/>
            <a:ext cx="4023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Independent scaling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Holiday search surges must not strain booking or payment data.</a:t>
            </a:r>
            <a:endParaRPr lang="en-US" sz="1400" dirty="0"/>
          </a:p>
        </p:txBody>
      </p:sp>
      <p:sp>
        <p:nvSpPr>
          <p:cNvPr id="6" name="Challenge 3"/>
          <p:cNvSpPr txBox="1"/>
          <p:nvPr/>
        </p:nvSpPr>
        <p:spPr>
          <a:xfrm>
            <a:off x="457200" y="3136392"/>
            <a:ext cx="4023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Data integrity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Seats, payments and PNRs stay consistent across services.</a:t>
            </a:r>
            <a:endParaRPr lang="en-US" sz="1400" dirty="0"/>
          </a:p>
        </p:txBody>
      </p:sp>
      <p:sp>
        <p:nvSpPr>
          <p:cNvPr id="7" name="Challenge 4"/>
          <p:cNvSpPr txBox="1"/>
          <p:nvPr/>
        </p:nvSpPr>
        <p:spPr>
          <a:xfrm>
            <a:off x="457200" y="3904488"/>
            <a:ext cx="4023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Multiple personas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Passengers, ground staff and admins each need their own workflow.</a:t>
            </a:r>
            <a:endParaRPr lang="en-US" sz="1400" dirty="0"/>
          </a:p>
        </p:txBody>
      </p:sp>
      <p:sp>
        <p:nvSpPr>
          <p:cNvPr id="8" name="Stat card 1"/>
          <p:cNvSpPr/>
          <p:nvPr/>
        </p:nvSpPr>
        <p:spPr>
          <a:xfrm>
            <a:off x="4846320" y="1188720"/>
            <a:ext cx="1828800" cy="16459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846320" y="13716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4983480" y="21488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Spring Boot microservices</a:t>
            </a:r>
            <a:endParaRPr lang="en-US" sz="1400" dirty="0"/>
          </a:p>
        </p:txBody>
      </p:sp>
      <p:sp>
        <p:nvSpPr>
          <p:cNvPr id="11" name="Stat card 2"/>
          <p:cNvSpPr/>
          <p:nvPr/>
        </p:nvSpPr>
        <p:spPr>
          <a:xfrm>
            <a:off x="6812280" y="1188720"/>
            <a:ext cx="1828800" cy="1645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812280" y="13716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800" dirty="0"/>
          </a:p>
        </p:txBody>
      </p:sp>
      <p:sp>
        <p:nvSpPr>
          <p:cNvPr id="13" name="Text 11"/>
          <p:cNvSpPr txBox="1"/>
          <p:nvPr/>
        </p:nvSpPr>
        <p:spPr>
          <a:xfrm>
            <a:off x="6949440" y="21488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Angular 18 SPA</a:t>
            </a:r>
            <a:endParaRPr lang="en-US" sz="1400" dirty="0"/>
          </a:p>
        </p:txBody>
      </p:sp>
      <p:sp>
        <p:nvSpPr>
          <p:cNvPr id="14" name="Stat card 3"/>
          <p:cNvSpPr/>
          <p:nvPr/>
        </p:nvSpPr>
        <p:spPr>
          <a:xfrm>
            <a:off x="4846320" y="2971800"/>
            <a:ext cx="1828800" cy="1645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846320" y="31546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800" dirty="0"/>
          </a:p>
        </p:txBody>
      </p:sp>
      <p:sp>
        <p:nvSpPr>
          <p:cNvPr id="16" name="Text 14"/>
          <p:cNvSpPr txBox="1"/>
          <p:nvPr/>
        </p:nvSpPr>
        <p:spPr>
          <a:xfrm>
            <a:off x="4983480" y="39319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isolated MySQL schemas</a:t>
            </a:r>
            <a:endParaRPr lang="en-US" sz="1400" dirty="0"/>
          </a:p>
        </p:txBody>
      </p:sp>
      <p:sp>
        <p:nvSpPr>
          <p:cNvPr id="17" name="Stat card 4"/>
          <p:cNvSpPr/>
          <p:nvPr/>
        </p:nvSpPr>
        <p:spPr>
          <a:xfrm>
            <a:off x="6812280" y="2971800"/>
            <a:ext cx="1828800" cy="1645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812280" y="31546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50+</a:t>
            </a:r>
            <a:endParaRPr lang="en-US" sz="480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39319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REST endpoints, 13 controllers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Six business domains, three personas</a:t>
            </a:r>
            <a:endParaRPr lang="en-US" sz="3000" dirty="0"/>
          </a:p>
        </p:txBody>
      </p:sp>
      <p:sp>
        <p:nvSpPr>
          <p:cNvPr id="3" name="Domain card 1"/>
          <p:cNvSpPr/>
          <p:nvPr/>
        </p:nvSpPr>
        <p:spPr>
          <a:xfrm>
            <a:off x="457200" y="1188720"/>
            <a:ext cx="2468880" cy="1051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Flight &amp; Fleet circle"/>
          <p:cNvSpPr/>
          <p:nvPr/>
        </p:nvSpPr>
        <p:spPr>
          <a:xfrm>
            <a:off x="594360" y="14630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Flight &amp; Fleet icon" descr="Flight &amp; Fle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" y="158877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28016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Flight &amp; Fleet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Aircraft, schedules, status</a:t>
            </a:r>
            <a:endParaRPr lang="en-US" sz="1300" dirty="0"/>
          </a:p>
        </p:txBody>
      </p:sp>
      <p:sp>
        <p:nvSpPr>
          <p:cNvPr id="7" name="Domain card 2"/>
          <p:cNvSpPr/>
          <p:nvPr/>
        </p:nvSpPr>
        <p:spPr>
          <a:xfrm>
            <a:off x="3063240" y="1188720"/>
            <a:ext cx="2468880" cy="1051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Pricing &amp; Revenue circle"/>
          <p:cNvSpPr/>
          <p:nvPr/>
        </p:nvSpPr>
        <p:spPr>
          <a:xfrm>
            <a:off x="3200400" y="14630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Pricing &amp; Revenue icon" descr="Pricing &amp; Revenu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6130" y="1588770"/>
            <a:ext cx="251460" cy="2514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794760" y="128016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Pricing &amp; Revenue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Tiered fares, tax, coupons</a:t>
            </a:r>
            <a:endParaRPr lang="en-US" sz="1300" dirty="0"/>
          </a:p>
        </p:txBody>
      </p:sp>
      <p:sp>
        <p:nvSpPr>
          <p:cNvPr id="11" name="Domain card 3"/>
          <p:cNvSpPr/>
          <p:nvPr/>
        </p:nvSpPr>
        <p:spPr>
          <a:xfrm>
            <a:off x="457200" y="2359152"/>
            <a:ext cx="2468880" cy="1051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Reservation &amp; Payment circle"/>
          <p:cNvSpPr/>
          <p:nvPr/>
        </p:nvSpPr>
        <p:spPr>
          <a:xfrm>
            <a:off x="594360" y="2633472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3" name="Reservation &amp; Payment icon" descr="Reservation &amp; Paymen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90" y="2759202"/>
            <a:ext cx="251460" cy="2514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88720" y="2450592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Reservation &amp; Payment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PNR, orders, Razorpay HMAC</a:t>
            </a:r>
            <a:endParaRPr lang="en-US" sz="1300" dirty="0"/>
          </a:p>
        </p:txBody>
      </p:sp>
      <p:sp>
        <p:nvSpPr>
          <p:cNvPr id="15" name="Domain card 4"/>
          <p:cNvSpPr/>
          <p:nvPr/>
        </p:nvSpPr>
        <p:spPr>
          <a:xfrm>
            <a:off x="3063240" y="2359152"/>
            <a:ext cx="2468880" cy="1051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Airport Operations circle"/>
          <p:cNvSpPr/>
          <p:nvPr/>
        </p:nvSpPr>
        <p:spPr>
          <a:xfrm>
            <a:off x="3200400" y="2633472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Airport Operations icon" descr="Airport Operation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6130" y="2759202"/>
            <a:ext cx="251460" cy="2514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3794760" y="2450592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Airport Operations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Check-in, boarding, gates</a:t>
            </a:r>
            <a:endParaRPr lang="en-US" sz="1300" dirty="0"/>
          </a:p>
        </p:txBody>
      </p:sp>
      <p:sp>
        <p:nvSpPr>
          <p:cNvPr id="19" name="Domain card 5"/>
          <p:cNvSpPr/>
          <p:nvPr/>
        </p:nvSpPr>
        <p:spPr>
          <a:xfrm>
            <a:off x="457200" y="3529584"/>
            <a:ext cx="2468880" cy="1051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Identity &amp; Security circle"/>
          <p:cNvSpPr/>
          <p:nvPr/>
        </p:nvSpPr>
        <p:spPr>
          <a:xfrm>
            <a:off x="594360" y="3803904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dentity &amp; Security icon" descr="Identity &amp; Security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090" y="3929634"/>
            <a:ext cx="251460" cy="25146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188720" y="3621024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Identity &amp; Security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JWT, RBAC, profiles, OTP</a:t>
            </a:r>
            <a:endParaRPr lang="en-US" sz="1300" dirty="0"/>
          </a:p>
        </p:txBody>
      </p:sp>
      <p:sp>
        <p:nvSpPr>
          <p:cNvPr id="23" name="Domain card 6"/>
          <p:cNvSpPr/>
          <p:nvPr/>
        </p:nvSpPr>
        <p:spPr>
          <a:xfrm>
            <a:off x="3063240" y="3529584"/>
            <a:ext cx="2468880" cy="1051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Communication circle"/>
          <p:cNvSpPr/>
          <p:nvPr/>
        </p:nvSpPr>
        <p:spPr>
          <a:xfrm>
            <a:off x="3200400" y="3803904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5" name="Communication icon" descr="Communicati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26130" y="3929634"/>
            <a:ext cx="251460" cy="25146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3794760" y="3621024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Communication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Email, PDF tickets, alerts</a:t>
            </a:r>
            <a:endParaRPr lang="en-US" sz="1300" dirty="0"/>
          </a:p>
        </p:txBody>
      </p:sp>
      <p:sp>
        <p:nvSpPr>
          <p:cNvPr id="27" name="Persona card 1"/>
          <p:cNvSpPr/>
          <p:nvPr/>
        </p:nvSpPr>
        <p:spPr>
          <a:xfrm>
            <a:off x="5852160" y="1188720"/>
            <a:ext cx="2834640" cy="105156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28" name="Text 20"/>
          <p:cNvSpPr txBox="1"/>
          <p:nvPr/>
        </p:nvSpPr>
        <p:spPr>
          <a:xfrm>
            <a:off x="5989320" y="123444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Passenger</a:t>
            </a:r>
            <a:endParaRPr lang="en-US" sz="1600" dirty="0"/>
          </a:p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ROLE_USER  |  /customer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Search, book, pay, check in, download tickets</a:t>
            </a:r>
            <a:endParaRPr lang="en-US" sz="1600" dirty="0"/>
          </a:p>
        </p:txBody>
      </p:sp>
      <p:sp>
        <p:nvSpPr>
          <p:cNvPr id="29" name="Persona card 2"/>
          <p:cNvSpPr/>
          <p:nvPr/>
        </p:nvSpPr>
        <p:spPr>
          <a:xfrm>
            <a:off x="5852160" y="2359152"/>
            <a:ext cx="2834640" cy="105156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30" name="Text 22"/>
          <p:cNvSpPr txBox="1"/>
          <p:nvPr/>
        </p:nvSpPr>
        <p:spPr>
          <a:xfrm>
            <a:off x="5989320" y="2404872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 Staff</a:t>
            </a:r>
            <a:endParaRPr lang="en-US" sz="1600" dirty="0"/>
          </a:p>
          <a:p>
            <a:pPr marL="0" indent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ROLE_STAFF  |  /staff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Check-in desk, gate scanner, manifests, incidents</a:t>
            </a:r>
            <a:endParaRPr lang="en-US" sz="1600" dirty="0"/>
          </a:p>
        </p:txBody>
      </p:sp>
      <p:sp>
        <p:nvSpPr>
          <p:cNvPr id="31" name="Persona card 3"/>
          <p:cNvSpPr/>
          <p:nvPr/>
        </p:nvSpPr>
        <p:spPr>
          <a:xfrm>
            <a:off x="5852160" y="3529584"/>
            <a:ext cx="2834640" cy="105156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32" name="Text 24"/>
          <p:cNvSpPr txBox="1"/>
          <p:nvPr/>
        </p:nvSpPr>
        <p:spPr>
          <a:xfrm>
            <a:off x="5989320" y="3575304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Administrator</a:t>
            </a:r>
            <a:endParaRPr lang="en-US" sz="1600" dirty="0"/>
          </a:p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ROLE_ADMIN  |  /admin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Flights, fleet, fares, coupons, user audit</a:t>
            </a:r>
            <a:endParaRPr lang="en-US" sz="16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Architecture: one gateway, many services</a:t>
            </a:r>
            <a:endParaRPr lang="en-US" sz="3000" dirty="0"/>
          </a:p>
        </p:txBody>
      </p:sp>
      <p:sp>
        <p:nvSpPr>
          <p:cNvPr id="3" name="SPA box"/>
          <p:cNvSpPr/>
          <p:nvPr/>
        </p:nvSpPr>
        <p:spPr>
          <a:xfrm>
            <a:off x="457200" y="1234440"/>
            <a:ext cx="1371600" cy="22860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pic>
        <p:nvPicPr>
          <p:cNvPr id="4" name="SPA icon" descr="Brows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46304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20574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Angular 18 SPA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Port 4200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29718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Bearer JWT</a:t>
            </a:r>
            <a:endParaRPr lang="en-US" sz="1200" dirty="0"/>
          </a:p>
        </p:txBody>
      </p:sp>
      <p:sp>
        <p:nvSpPr>
          <p:cNvPr id="7" name="Arrow SPA to gateway"/>
          <p:cNvSpPr/>
          <p:nvPr/>
        </p:nvSpPr>
        <p:spPr>
          <a:xfrm>
            <a:off x="1828800" y="2377440"/>
            <a:ext cx="36576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8" name="Gateway box"/>
          <p:cNvSpPr/>
          <p:nvPr/>
        </p:nvSpPr>
        <p:spPr>
          <a:xfrm>
            <a:off x="2194560" y="1234440"/>
            <a:ext cx="1737360" cy="2286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pic>
        <p:nvPicPr>
          <p:cNvPr id="9" name="Gateway icon" descr="Shiel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146304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286000" y="201168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API Gateway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accent1"/>
                </a:solidFill>
              </a:rPr>
              <a:t>Port 8083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Reactive Netty, JWT check, CORS, correlation ID</a:t>
            </a:r>
            <a:endParaRPr lang="en-US" sz="1400" dirty="0"/>
          </a:p>
        </p:txBody>
      </p:sp>
      <p:sp>
        <p:nvSpPr>
          <p:cNvPr id="11" name="Arrow gateway to services"/>
          <p:cNvSpPr/>
          <p:nvPr/>
        </p:nvSpPr>
        <p:spPr>
          <a:xfrm>
            <a:off x="3931920" y="2377440"/>
            <a:ext cx="36576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2" name="Service Auth"/>
          <p:cNvSpPr/>
          <p:nvPr/>
        </p:nvSpPr>
        <p:spPr>
          <a:xfrm>
            <a:off x="4297680" y="1234440"/>
            <a:ext cx="2148840" cy="51206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407408" y="1234440"/>
            <a:ext cx="1965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Auth</a:t>
            </a:r>
            <a:r>
              <a:rPr lang="en-US" sz="1400" b="1" dirty="0">
                <a:solidFill>
                  <a:schemeClr val="accent2"/>
                </a:solidFill>
              </a:rPr>
              <a:t>   :8082</a:t>
            </a:r>
            <a:endParaRPr lang="en-US" sz="1400" dirty="0"/>
          </a:p>
        </p:txBody>
      </p:sp>
      <p:sp>
        <p:nvSpPr>
          <p:cNvPr id="14" name="Service User"/>
          <p:cNvSpPr/>
          <p:nvPr/>
        </p:nvSpPr>
        <p:spPr>
          <a:xfrm>
            <a:off x="6537960" y="1234440"/>
            <a:ext cx="2148840" cy="51206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647688" y="1234440"/>
            <a:ext cx="1965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User</a:t>
            </a:r>
            <a:r>
              <a:rPr lang="en-US" sz="1400" b="1" dirty="0">
                <a:solidFill>
                  <a:schemeClr val="accent2"/>
                </a:solidFill>
              </a:rPr>
              <a:t>   :8084</a:t>
            </a:r>
            <a:endParaRPr lang="en-US" sz="1400" dirty="0"/>
          </a:p>
        </p:txBody>
      </p:sp>
      <p:sp>
        <p:nvSpPr>
          <p:cNvPr id="16" name="Service Flight"/>
          <p:cNvSpPr/>
          <p:nvPr/>
        </p:nvSpPr>
        <p:spPr>
          <a:xfrm>
            <a:off x="4297680" y="1819656"/>
            <a:ext cx="2148840" cy="51206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407408" y="1819656"/>
            <a:ext cx="1965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Flight</a:t>
            </a:r>
            <a:r>
              <a:rPr lang="en-US" sz="1400" b="1" dirty="0">
                <a:solidFill>
                  <a:schemeClr val="accent2"/>
                </a:solidFill>
              </a:rPr>
              <a:t>   :8087</a:t>
            </a:r>
            <a:endParaRPr lang="en-US" sz="1400" dirty="0"/>
          </a:p>
        </p:txBody>
      </p:sp>
      <p:sp>
        <p:nvSpPr>
          <p:cNvPr id="18" name="Service Booking"/>
          <p:cNvSpPr/>
          <p:nvPr/>
        </p:nvSpPr>
        <p:spPr>
          <a:xfrm>
            <a:off x="6537960" y="1819656"/>
            <a:ext cx="2148840" cy="51206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647688" y="1819656"/>
            <a:ext cx="1965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Booking</a:t>
            </a:r>
            <a:r>
              <a:rPr lang="en-US" sz="1400" b="1" dirty="0">
                <a:solidFill>
                  <a:schemeClr val="accent2"/>
                </a:solidFill>
              </a:rPr>
              <a:t>   :8088</a:t>
            </a:r>
            <a:endParaRPr lang="en-US" sz="1400" dirty="0"/>
          </a:p>
        </p:txBody>
      </p:sp>
      <p:sp>
        <p:nvSpPr>
          <p:cNvPr id="20" name="Service Fare"/>
          <p:cNvSpPr/>
          <p:nvPr/>
        </p:nvSpPr>
        <p:spPr>
          <a:xfrm>
            <a:off x="4297680" y="2404872"/>
            <a:ext cx="2148840" cy="51206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4407408" y="2404872"/>
            <a:ext cx="1965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Fare</a:t>
            </a:r>
            <a:r>
              <a:rPr lang="en-US" sz="1400" b="1" dirty="0">
                <a:solidFill>
                  <a:schemeClr val="accent2"/>
                </a:solidFill>
              </a:rPr>
              <a:t>   :8089</a:t>
            </a:r>
            <a:endParaRPr lang="en-US" sz="1400" dirty="0"/>
          </a:p>
        </p:txBody>
      </p:sp>
      <p:sp>
        <p:nvSpPr>
          <p:cNvPr id="22" name="Service Check-In"/>
          <p:cNvSpPr/>
          <p:nvPr/>
        </p:nvSpPr>
        <p:spPr>
          <a:xfrm>
            <a:off x="6537960" y="2404872"/>
            <a:ext cx="2148840" cy="51206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647688" y="2404872"/>
            <a:ext cx="1965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Check-In</a:t>
            </a:r>
            <a:r>
              <a:rPr lang="en-US" sz="1400" b="1" dirty="0">
                <a:solidFill>
                  <a:schemeClr val="accent2"/>
                </a:solidFill>
              </a:rPr>
              <a:t>   :8090</a:t>
            </a:r>
            <a:endParaRPr lang="en-US" sz="1400" dirty="0"/>
          </a:p>
        </p:txBody>
      </p:sp>
      <p:sp>
        <p:nvSpPr>
          <p:cNvPr id="24" name="Service Notification"/>
          <p:cNvSpPr/>
          <p:nvPr/>
        </p:nvSpPr>
        <p:spPr>
          <a:xfrm>
            <a:off x="4297680" y="2990088"/>
            <a:ext cx="2148840" cy="51206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4407408" y="2990088"/>
            <a:ext cx="1965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Notification</a:t>
            </a:r>
            <a:r>
              <a:rPr lang="en-US" sz="1400" b="1" dirty="0">
                <a:solidFill>
                  <a:schemeClr val="accent2"/>
                </a:solidFill>
              </a:rPr>
              <a:t>   :8091</a:t>
            </a:r>
            <a:endParaRPr lang="en-US" sz="1400" dirty="0"/>
          </a:p>
        </p:txBody>
      </p:sp>
      <p:sp>
        <p:nvSpPr>
          <p:cNvPr id="26" name="Service Payment"/>
          <p:cNvSpPr/>
          <p:nvPr/>
        </p:nvSpPr>
        <p:spPr>
          <a:xfrm>
            <a:off x="6537960" y="2990088"/>
            <a:ext cx="2148840" cy="51206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6647688" y="2990088"/>
            <a:ext cx="1965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Payment</a:t>
            </a:r>
            <a:r>
              <a:rPr lang="en-US" sz="1400" b="1" dirty="0">
                <a:solidFill>
                  <a:schemeClr val="accent2"/>
                </a:solidFill>
              </a:rPr>
              <a:t>   :8092</a:t>
            </a:r>
            <a:endParaRPr lang="en-US" sz="1400" dirty="0"/>
          </a:p>
        </p:txBody>
      </p:sp>
      <p:sp>
        <p:nvSpPr>
          <p:cNvPr id="28" name="Text 24"/>
          <p:cNvSpPr txBox="1"/>
          <p:nvPr/>
        </p:nvSpPr>
        <p:spPr>
          <a:xfrm>
            <a:off x="457200" y="3703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Supporting infrastructure</a:t>
            </a:r>
            <a:endParaRPr lang="en-US" sz="1400" dirty="0"/>
          </a:p>
        </p:txBody>
      </p:sp>
      <p:sp>
        <p:nvSpPr>
          <p:cNvPr id="29" name="Infra Eureka registry"/>
          <p:cNvSpPr/>
          <p:nvPr/>
        </p:nvSpPr>
        <p:spPr>
          <a:xfrm>
            <a:off x="457200" y="4023360"/>
            <a:ext cx="1965960" cy="6858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548640" y="40233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Eureka registry </a:t>
            </a:r>
            <a:r>
              <a:rPr lang="en-US" sz="1400" b="1" dirty="0">
                <a:solidFill>
                  <a:schemeClr val="accent1"/>
                </a:solidFill>
              </a:rPr>
              <a:t>:8761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Service discovery</a:t>
            </a:r>
            <a:endParaRPr lang="en-US" sz="1400" dirty="0"/>
          </a:p>
        </p:txBody>
      </p:sp>
      <p:sp>
        <p:nvSpPr>
          <p:cNvPr id="31" name="Infra Config Server"/>
          <p:cNvSpPr/>
          <p:nvPr/>
        </p:nvSpPr>
        <p:spPr>
          <a:xfrm>
            <a:off x="2542032" y="4023360"/>
            <a:ext cx="1965960" cy="6858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2633472" y="40233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Config Server </a:t>
            </a:r>
            <a:r>
              <a:rPr lang="en-US" sz="1400" b="1" dirty="0">
                <a:solidFill>
                  <a:schemeClr val="accent1"/>
                </a:solidFill>
              </a:rPr>
              <a:t>:8080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Central configuration</a:t>
            </a:r>
            <a:endParaRPr lang="en-US" sz="1400" dirty="0"/>
          </a:p>
        </p:txBody>
      </p:sp>
      <p:sp>
        <p:nvSpPr>
          <p:cNvPr id="33" name="Infra RabbitMQ"/>
          <p:cNvSpPr/>
          <p:nvPr/>
        </p:nvSpPr>
        <p:spPr>
          <a:xfrm>
            <a:off x="4626864" y="4023360"/>
            <a:ext cx="1965960" cy="6858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4718304" y="40233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RabbitMQ </a:t>
            </a:r>
            <a:r>
              <a:rPr lang="en-US" sz="1400" b="1" dirty="0">
                <a:solidFill>
                  <a:schemeClr val="accent1"/>
                </a:solidFill>
              </a:rPr>
              <a:t>:5672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BOOKING_CREATED events</a:t>
            </a:r>
            <a:endParaRPr lang="en-US" sz="1400" dirty="0"/>
          </a:p>
        </p:txBody>
      </p:sp>
      <p:sp>
        <p:nvSpPr>
          <p:cNvPr id="35" name="Infra MySQL 8"/>
          <p:cNvSpPr/>
          <p:nvPr/>
        </p:nvSpPr>
        <p:spPr>
          <a:xfrm>
            <a:off x="6711696" y="4023360"/>
            <a:ext cx="1965960" cy="6858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6803136" y="40233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MySQL 8 </a:t>
            </a:r>
            <a:r>
              <a:rPr lang="en-US" sz="1400" b="1" dirty="0">
                <a:solidFill>
                  <a:schemeClr val="accent1"/>
                </a:solidFill>
              </a:rPr>
              <a:t>:3306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One schema per service</a:t>
            </a:r>
            <a:endParaRPr lang="en-US" sz="14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Service directory: what each service owns</a:t>
            </a:r>
            <a:endParaRPr lang="en-US" sz="3000" dirty="0"/>
          </a:p>
        </p:txBody>
      </p:sp>
      <p:graphicFrame>
        <p:nvGraphicFramePr>
          <p:cNvPr id="7" name="Servic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2962656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responsibility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Auth</a:t>
                      </a:r>
                      <a:endParaRPr lang="en-US" sz="12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8082</a:t>
                      </a:r>
                      <a:endParaRPr lang="en-US" sz="12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aerobook_auth_db</a:t>
                      </a:r>
                      <a:endParaRPr lang="en-US" sz="12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Registration, BCrypt, JWT, OTP verification</a:t>
                      </a:r>
                      <a:endParaRPr lang="en-US" sz="12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User</a:t>
                      </a:r>
                      <a:endParaRPr lang="en-US" sz="12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8084</a:t>
                      </a:r>
                      <a:endParaRPr lang="en-US" sz="12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aerobook_user_db</a:t>
                      </a:r>
                      <a:endParaRPr lang="en-US" sz="12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Profiles, user directory, incident reports</a:t>
                      </a:r>
                      <a:endParaRPr lang="en-US" sz="12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Flight</a:t>
                      </a:r>
                      <a:endParaRPr lang="en-US" sz="12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8087</a:t>
                      </a:r>
                      <a:endParaRPr lang="en-US" sz="12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aerobook_flight_db</a:t>
                      </a:r>
                      <a:endParaRPr lang="en-US" sz="12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Schedules, fleet roster, live seat counts</a:t>
                      </a:r>
                      <a:endParaRPr lang="en-US" sz="12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Booking</a:t>
                      </a:r>
                      <a:endParaRPr lang="en-US" sz="12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8088</a:t>
                      </a:r>
                      <a:endParaRPr lang="en-US" sz="12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aerobook_booking_db</a:t>
                      </a:r>
                      <a:endParaRPr lang="en-US" sz="12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Reservations, PNR generation, events</a:t>
                      </a:r>
                      <a:endParaRPr lang="en-US" sz="12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Fare</a:t>
                      </a:r>
                      <a:endParaRPr lang="en-US" sz="12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8089</a:t>
                      </a:r>
                      <a:endParaRPr lang="en-US" sz="12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aerobook_fare_db</a:t>
                      </a:r>
                      <a:endParaRPr lang="en-US" sz="12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Cabin pricing, GST tax, coupons</a:t>
                      </a:r>
                      <a:endParaRPr lang="en-US" sz="12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Check-In</a:t>
                      </a:r>
                      <a:endParaRPr lang="en-US" sz="12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8090</a:t>
                      </a:r>
                      <a:endParaRPr lang="en-US" sz="12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aerobook_checkin_db</a:t>
                      </a:r>
                      <a:endParaRPr lang="en-US" sz="12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Seat selection, boarding passes, gate scan</a:t>
                      </a:r>
                      <a:endParaRPr lang="en-US" sz="12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Notification</a:t>
                      </a:r>
                      <a:endParaRPr lang="en-US" sz="12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8091</a:t>
                      </a:r>
                      <a:endParaRPr lang="en-US" sz="12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aerobook_notification_db</a:t>
                      </a:r>
                      <a:endParaRPr lang="en-US" sz="12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In-app alerts, SMTP email, PDF tickets</a:t>
                      </a:r>
                      <a:endParaRPr lang="en-US" sz="12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Payment</a:t>
                      </a:r>
                      <a:endParaRPr lang="en-US" sz="12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8092</a:t>
                      </a:r>
                      <a:endParaRPr lang="en-US" sz="12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aerobook_payment_db</a:t>
                      </a:r>
                      <a:endParaRPr lang="en-US" sz="12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Razorpay orders, HMAC-SHA256, refunds</a:t>
                      </a:r>
                      <a:endParaRPr lang="en-US" sz="12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Plus three database-free infrastructure services: Eureka (8761), Config Server (8080), API Gateway (8083).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Hybrid communication keeps bookings resilient</a:t>
            </a:r>
            <a:endParaRPr lang="en-US" sz="3000" dirty="0"/>
          </a:p>
        </p:txBody>
      </p:sp>
      <p:sp>
        <p:nvSpPr>
          <p:cNvPr id="3" name="Sync card"/>
          <p:cNvSpPr/>
          <p:nvPr/>
        </p:nvSpPr>
        <p:spPr>
          <a:xfrm>
            <a:off x="457200" y="1188720"/>
            <a:ext cx="4023360" cy="2331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ynchronous circle"/>
          <p:cNvSpPr/>
          <p:nvPr/>
        </p:nvSpPr>
        <p:spPr>
          <a:xfrm>
            <a:off x="640080" y="13258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Synchronous icon" descr="Synchronou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" y="145161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3258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Synchronous: OpenFeign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92024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Booking to Flight: verify schedule and seats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Booking to Fare: tiered price and coupon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Auth to User: create profile on register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Auth to Notification: send 6-digit OTP</a:t>
            </a:r>
            <a:endParaRPr lang="en-US" sz="1400" dirty="0"/>
          </a:p>
        </p:txBody>
      </p:sp>
      <p:sp>
        <p:nvSpPr>
          <p:cNvPr id="8" name="Async card"/>
          <p:cNvSpPr/>
          <p:nvPr/>
        </p:nvSpPr>
        <p:spPr>
          <a:xfrm>
            <a:off x="4663440" y="1188720"/>
            <a:ext cx="4023360" cy="23317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Asynchronous circle"/>
          <p:cNvSpPr/>
          <p:nvPr/>
        </p:nvSpPr>
        <p:spPr>
          <a:xfrm>
            <a:off x="4846320" y="13258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Asynchronous icon" descr="Asynchronou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2050" y="145161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0" y="13258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Asynchronous: RabbitMQ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846320" y="192024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Booking publishes BOOKING_CREATED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Direct exchange routes to the booking-created queue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Flight Service consumes and updates metrics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Falls back to REST if the broker is offline</a:t>
            </a:r>
            <a:endParaRPr lang="en-US" sz="1400" dirty="0"/>
          </a:p>
        </p:txBody>
      </p:sp>
      <p:sp>
        <p:nvSpPr>
          <p:cNvPr id="13" name="DB per service band"/>
          <p:cNvSpPr/>
          <p:nvPr/>
        </p:nvSpPr>
        <p:spPr>
          <a:xfrm>
            <a:off x="457200" y="3749040"/>
            <a:ext cx="8229600" cy="86868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4" name="Database per service circle"/>
          <p:cNvSpPr/>
          <p:nvPr/>
        </p:nvSpPr>
        <p:spPr>
          <a:xfrm>
            <a:off x="640080" y="393192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Database per service icon" descr="Database per servic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810" y="4057650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71600" y="3749040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Database-per-service: </a:t>
            </a:r>
            <a:r>
              <a:rPr lang="en-US" sz="1400" dirty="0">
                <a:solidFill>
                  <a:schemeClr val="accent4"/>
                </a:solidFill>
              </a:rPr>
              <a:t>no service queries another's schema. Cross-domain data moves only through APIs or events, trading SQL joins for full autonomy.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 booking journey, end to end</a:t>
            </a:r>
            <a:endParaRPr lang="en-US" sz="3000" dirty="0"/>
          </a:p>
        </p:txBody>
      </p:sp>
      <p:sp>
        <p:nvSpPr>
          <p:cNvPr id="3" name="Step card 1"/>
          <p:cNvSpPr/>
          <p:nvPr/>
        </p:nvSpPr>
        <p:spPr>
          <a:xfrm>
            <a:off x="457200" y="1188720"/>
            <a:ext cx="2651760" cy="1554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ep marker 1"/>
          <p:cNvSpPr/>
          <p:nvPr/>
        </p:nvSpPr>
        <p:spPr>
          <a:xfrm>
            <a:off x="640080" y="1353312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53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35331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745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Guests filter flights by route and date and see live seat counts.</a:t>
            </a:r>
            <a:endParaRPr lang="en-US" sz="1400" dirty="0"/>
          </a:p>
        </p:txBody>
      </p:sp>
      <p:sp>
        <p:nvSpPr>
          <p:cNvPr id="8" name="Step card 2"/>
          <p:cNvSpPr/>
          <p:nvPr/>
        </p:nvSpPr>
        <p:spPr>
          <a:xfrm>
            <a:off x="3246120" y="1188720"/>
            <a:ext cx="2651760" cy="1554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tep marker 2"/>
          <p:cNvSpPr/>
          <p:nvPr/>
        </p:nvSpPr>
        <p:spPr>
          <a:xfrm>
            <a:off x="3429000" y="1353312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353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977640" y="135331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8745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Fare Service returns Economy, Business or First fares with tax and coupon.</a:t>
            </a:r>
            <a:endParaRPr lang="en-US" sz="1400" dirty="0"/>
          </a:p>
        </p:txBody>
      </p:sp>
      <p:sp>
        <p:nvSpPr>
          <p:cNvPr id="13" name="Step card 3"/>
          <p:cNvSpPr/>
          <p:nvPr/>
        </p:nvSpPr>
        <p:spPr>
          <a:xfrm>
            <a:off x="6035040" y="1188720"/>
            <a:ext cx="2651760" cy="1554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tep marker 3"/>
          <p:cNvSpPr/>
          <p:nvPr/>
        </p:nvSpPr>
        <p:spPr>
          <a:xfrm>
            <a:off x="6217920" y="1353312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353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766560" y="135331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18745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Booking Service checks seats, then issues an 8-character PNR.</a:t>
            </a:r>
            <a:endParaRPr lang="en-US" sz="1400" dirty="0"/>
          </a:p>
        </p:txBody>
      </p:sp>
      <p:sp>
        <p:nvSpPr>
          <p:cNvPr id="18" name="Step card 4"/>
          <p:cNvSpPr/>
          <p:nvPr/>
        </p:nvSpPr>
        <p:spPr>
          <a:xfrm>
            <a:off x="457200" y="2880360"/>
            <a:ext cx="2651760" cy="1554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tep marker 4"/>
          <p:cNvSpPr/>
          <p:nvPr/>
        </p:nvSpPr>
        <p:spPr>
          <a:xfrm>
            <a:off x="640080" y="3044952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3044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304495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5661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Razorpay order is created; HMAC-SHA256 signature is verified server-side.</a:t>
            </a:r>
            <a:endParaRPr lang="en-US" sz="1400" dirty="0"/>
          </a:p>
        </p:txBody>
      </p:sp>
      <p:sp>
        <p:nvSpPr>
          <p:cNvPr id="23" name="Step card 5"/>
          <p:cNvSpPr/>
          <p:nvPr/>
        </p:nvSpPr>
        <p:spPr>
          <a:xfrm>
            <a:off x="3246120" y="2880360"/>
            <a:ext cx="2651760" cy="1554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tep marker 5"/>
          <p:cNvSpPr/>
          <p:nvPr/>
        </p:nvSpPr>
        <p:spPr>
          <a:xfrm>
            <a:off x="3429000" y="3044952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29000" y="3044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3977640" y="304495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in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3429000" y="35661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Passenger picks a seat on the cabin map and gets a barcode boarding pass.</a:t>
            </a:r>
            <a:endParaRPr lang="en-US" sz="1400" dirty="0"/>
          </a:p>
        </p:txBody>
      </p:sp>
      <p:sp>
        <p:nvSpPr>
          <p:cNvPr id="28" name="Step card 6"/>
          <p:cNvSpPr/>
          <p:nvPr/>
        </p:nvSpPr>
        <p:spPr>
          <a:xfrm>
            <a:off x="6035040" y="2880360"/>
            <a:ext cx="2651760" cy="1554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tep marker 6"/>
          <p:cNvSpPr/>
          <p:nvPr/>
        </p:nvSpPr>
        <p:spPr>
          <a:xfrm>
            <a:off x="6217920" y="3044952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17920" y="3044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766560" y="304495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Board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6217920" y="35661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Staff scan the pass at the gate; status moves CHECKED_IN to BOARDED.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Inside one booking request</a:t>
            </a:r>
            <a:endParaRPr lang="en-US" sz="3000" dirty="0"/>
          </a:p>
        </p:txBody>
      </p:sp>
      <p:sp>
        <p:nvSpPr>
          <p:cNvPr id="3" name="Lifeline Client"/>
          <p:cNvSpPr/>
          <p:nvPr/>
        </p:nvSpPr>
        <p:spPr>
          <a:xfrm>
            <a:off x="1188720" y="1737360"/>
            <a:ext cx="0" cy="292608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dash"/>
          </a:ln>
        </p:spPr>
      </p:sp>
      <p:sp>
        <p:nvSpPr>
          <p:cNvPr id="4" name="Participant Client"/>
          <p:cNvSpPr/>
          <p:nvPr/>
        </p:nvSpPr>
        <p:spPr>
          <a:xfrm>
            <a:off x="457200" y="1188720"/>
            <a:ext cx="1463040" cy="4572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1887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Client</a:t>
            </a:r>
            <a:endParaRPr lang="en-US" sz="1400" dirty="0"/>
          </a:p>
        </p:txBody>
      </p:sp>
      <p:sp>
        <p:nvSpPr>
          <p:cNvPr id="6" name="Lifeline Gateway"/>
          <p:cNvSpPr/>
          <p:nvPr/>
        </p:nvSpPr>
        <p:spPr>
          <a:xfrm>
            <a:off x="2880360" y="1737360"/>
            <a:ext cx="0" cy="292608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dash"/>
          </a:ln>
        </p:spPr>
      </p:sp>
      <p:sp>
        <p:nvSpPr>
          <p:cNvPr id="7" name="Participant Gateway"/>
          <p:cNvSpPr/>
          <p:nvPr/>
        </p:nvSpPr>
        <p:spPr>
          <a:xfrm>
            <a:off x="2148840" y="1188720"/>
            <a:ext cx="1463040" cy="4572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48840" y="11887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Gateway</a:t>
            </a:r>
            <a:endParaRPr lang="en-US" sz="1400" dirty="0"/>
          </a:p>
        </p:txBody>
      </p:sp>
      <p:sp>
        <p:nvSpPr>
          <p:cNvPr id="9" name="Lifeline Booking"/>
          <p:cNvSpPr/>
          <p:nvPr/>
        </p:nvSpPr>
        <p:spPr>
          <a:xfrm>
            <a:off x="4572000" y="1737360"/>
            <a:ext cx="0" cy="292608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dash"/>
          </a:ln>
        </p:spPr>
      </p:sp>
      <p:sp>
        <p:nvSpPr>
          <p:cNvPr id="10" name="Participant Booking"/>
          <p:cNvSpPr/>
          <p:nvPr/>
        </p:nvSpPr>
        <p:spPr>
          <a:xfrm>
            <a:off x="3840480" y="1188720"/>
            <a:ext cx="1463040" cy="4572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40480" y="11887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Booking</a:t>
            </a:r>
            <a:endParaRPr lang="en-US" sz="1400" dirty="0"/>
          </a:p>
        </p:txBody>
      </p:sp>
      <p:sp>
        <p:nvSpPr>
          <p:cNvPr id="12" name="Lifeline Flight + Fare"/>
          <p:cNvSpPr/>
          <p:nvPr/>
        </p:nvSpPr>
        <p:spPr>
          <a:xfrm>
            <a:off x="6263640" y="1737360"/>
            <a:ext cx="0" cy="292608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dash"/>
          </a:ln>
        </p:spPr>
      </p:sp>
      <p:sp>
        <p:nvSpPr>
          <p:cNvPr id="13" name="Participant Flight + Fare"/>
          <p:cNvSpPr/>
          <p:nvPr/>
        </p:nvSpPr>
        <p:spPr>
          <a:xfrm>
            <a:off x="5532120" y="1188720"/>
            <a:ext cx="1463040" cy="4572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32120" y="11887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Flight + Fare</a:t>
            </a:r>
            <a:endParaRPr lang="en-US" sz="1400" dirty="0"/>
          </a:p>
        </p:txBody>
      </p:sp>
      <p:sp>
        <p:nvSpPr>
          <p:cNvPr id="15" name="Lifeline RabbitMQ"/>
          <p:cNvSpPr/>
          <p:nvPr/>
        </p:nvSpPr>
        <p:spPr>
          <a:xfrm>
            <a:off x="7955280" y="1737360"/>
            <a:ext cx="0" cy="292608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dash"/>
          </a:ln>
        </p:spPr>
      </p:sp>
      <p:sp>
        <p:nvSpPr>
          <p:cNvPr id="16" name="Participant RabbitMQ"/>
          <p:cNvSpPr/>
          <p:nvPr/>
        </p:nvSpPr>
        <p:spPr>
          <a:xfrm>
            <a:off x="7223760" y="1188720"/>
            <a:ext cx="1463040" cy="4572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23760" y="11887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RabbitMQ</a:t>
            </a:r>
            <a:endParaRPr lang="en-US" sz="1400" dirty="0"/>
          </a:p>
        </p:txBody>
      </p:sp>
      <p:sp>
        <p:nvSpPr>
          <p:cNvPr id="18" name="Message 1"/>
          <p:cNvSpPr/>
          <p:nvPr/>
        </p:nvSpPr>
        <p:spPr>
          <a:xfrm>
            <a:off x="1188720" y="2331720"/>
            <a:ext cx="169164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1188720" y="2057400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1. POST /bookings + JWT</a:t>
            </a:r>
            <a:endParaRPr lang="en-US" sz="1200" dirty="0"/>
          </a:p>
        </p:txBody>
      </p:sp>
      <p:sp>
        <p:nvSpPr>
          <p:cNvPr id="20" name="Message 2"/>
          <p:cNvSpPr/>
          <p:nvPr/>
        </p:nvSpPr>
        <p:spPr>
          <a:xfrm>
            <a:off x="2880360" y="2788920"/>
            <a:ext cx="169164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2880360" y="2514600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2. Adds X-User headers</a:t>
            </a:r>
            <a:endParaRPr lang="en-US" sz="1200" dirty="0"/>
          </a:p>
        </p:txBody>
      </p:sp>
      <p:sp>
        <p:nvSpPr>
          <p:cNvPr id="22" name="Message 3"/>
          <p:cNvSpPr/>
          <p:nvPr/>
        </p:nvSpPr>
        <p:spPr>
          <a:xfrm>
            <a:off x="4572000" y="3246120"/>
            <a:ext cx="169164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4572000" y="2971800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3. Check seats, get fare</a:t>
            </a:r>
            <a:endParaRPr lang="en-US" sz="1200" dirty="0"/>
          </a:p>
        </p:txBody>
      </p:sp>
      <p:sp>
        <p:nvSpPr>
          <p:cNvPr id="24" name="Message 4"/>
          <p:cNvSpPr/>
          <p:nvPr/>
        </p:nvSpPr>
        <p:spPr>
          <a:xfrm>
            <a:off x="4572000" y="3703320"/>
            <a:ext cx="338328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4572000" y="3429000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4. Publish BOOKING_CREATED</a:t>
            </a:r>
            <a:endParaRPr lang="en-US" sz="1200" dirty="0"/>
          </a:p>
        </p:txBody>
      </p:sp>
      <p:sp>
        <p:nvSpPr>
          <p:cNvPr id="26" name="Message 5"/>
          <p:cNvSpPr/>
          <p:nvPr/>
        </p:nvSpPr>
        <p:spPr>
          <a:xfrm flipH="1">
            <a:off x="6263640" y="4160520"/>
            <a:ext cx="169164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6263640" y="3886200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5. Update seat metrics</a:t>
            </a:r>
            <a:endParaRPr lang="en-US" sz="1200" dirty="0"/>
          </a:p>
        </p:txBody>
      </p:sp>
      <p:sp>
        <p:nvSpPr>
          <p:cNvPr id="28" name="Message 6"/>
          <p:cNvSpPr/>
          <p:nvPr/>
        </p:nvSpPr>
        <p:spPr>
          <a:xfrm flipH="1">
            <a:off x="1188720" y="4617720"/>
            <a:ext cx="338328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dash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1188720" y="4343400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6. 201 Created + PNR</a:t>
            </a:r>
            <a:endParaRPr lang="en-US" sz="12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Data model: eight private schemas</a:t>
            </a:r>
            <a:endParaRPr lang="en-US" sz="3000" dirty="0"/>
          </a:p>
        </p:txBody>
      </p:sp>
      <p:sp>
        <p:nvSpPr>
          <p:cNvPr id="3" name="auth_db card"/>
          <p:cNvSpPr/>
          <p:nvPr/>
        </p:nvSpPr>
        <p:spPr>
          <a:xfrm>
            <a:off x="457200" y="1188720"/>
            <a:ext cx="1965960" cy="1280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auth_db header"/>
          <p:cNvSpPr/>
          <p:nvPr/>
        </p:nvSpPr>
        <p:spPr>
          <a:xfrm>
            <a:off x="457200" y="1188720"/>
            <a:ext cx="1965960" cy="36576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188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</a:rPr>
              <a:t>aerobook_auth_db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64592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credentials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refresh_tokens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email_verifications</a:t>
            </a:r>
            <a:endParaRPr lang="en-US" sz="1200" dirty="0"/>
          </a:p>
        </p:txBody>
      </p:sp>
      <p:sp>
        <p:nvSpPr>
          <p:cNvPr id="7" name="user_db card"/>
          <p:cNvSpPr/>
          <p:nvPr/>
        </p:nvSpPr>
        <p:spPr>
          <a:xfrm>
            <a:off x="2542032" y="1188720"/>
            <a:ext cx="1965960" cy="1280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user_db header"/>
          <p:cNvSpPr/>
          <p:nvPr/>
        </p:nvSpPr>
        <p:spPr>
          <a:xfrm>
            <a:off x="2542032" y="1188720"/>
            <a:ext cx="1965960" cy="36576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33472" y="1188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</a:rPr>
              <a:t>aerobook_user_db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164592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users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incident_reports</a:t>
            </a:r>
            <a:endParaRPr lang="en-US" sz="1200" dirty="0"/>
          </a:p>
        </p:txBody>
      </p:sp>
      <p:sp>
        <p:nvSpPr>
          <p:cNvPr id="11" name="flight_db card"/>
          <p:cNvSpPr/>
          <p:nvPr/>
        </p:nvSpPr>
        <p:spPr>
          <a:xfrm>
            <a:off x="4626864" y="1188720"/>
            <a:ext cx="1965960" cy="1280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flight_db header"/>
          <p:cNvSpPr/>
          <p:nvPr/>
        </p:nvSpPr>
        <p:spPr>
          <a:xfrm>
            <a:off x="4626864" y="1188720"/>
            <a:ext cx="1965960" cy="36576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18304" y="1188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</a:rPr>
              <a:t>aerobook_flight_db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736592" y="164592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aircrafts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flights</a:t>
            </a:r>
            <a:endParaRPr lang="en-US" sz="1200" dirty="0"/>
          </a:p>
        </p:txBody>
      </p:sp>
      <p:sp>
        <p:nvSpPr>
          <p:cNvPr id="15" name="fare_db card"/>
          <p:cNvSpPr/>
          <p:nvPr/>
        </p:nvSpPr>
        <p:spPr>
          <a:xfrm>
            <a:off x="6711696" y="1188720"/>
            <a:ext cx="1965960" cy="1280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fare_db header"/>
          <p:cNvSpPr/>
          <p:nvPr/>
        </p:nvSpPr>
        <p:spPr>
          <a:xfrm>
            <a:off x="6711696" y="1188720"/>
            <a:ext cx="1965960" cy="36576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03136" y="1188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</a:rPr>
              <a:t>aerobook_fare_db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821424" y="164592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fares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coupons</a:t>
            </a:r>
            <a:endParaRPr lang="en-US" sz="1200" dirty="0"/>
          </a:p>
        </p:txBody>
      </p:sp>
      <p:sp>
        <p:nvSpPr>
          <p:cNvPr id="19" name="booking_db card"/>
          <p:cNvSpPr/>
          <p:nvPr/>
        </p:nvSpPr>
        <p:spPr>
          <a:xfrm>
            <a:off x="457200" y="2606040"/>
            <a:ext cx="1965960" cy="1280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booking_db header"/>
          <p:cNvSpPr/>
          <p:nvPr/>
        </p:nvSpPr>
        <p:spPr>
          <a:xfrm>
            <a:off x="457200" y="2606040"/>
            <a:ext cx="1965960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26060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aerobook_booking_db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306324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bookings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passengers</a:t>
            </a:r>
            <a:endParaRPr lang="en-US" sz="1200" dirty="0"/>
          </a:p>
        </p:txBody>
      </p:sp>
      <p:sp>
        <p:nvSpPr>
          <p:cNvPr id="23" name="checkin_db card"/>
          <p:cNvSpPr/>
          <p:nvPr/>
        </p:nvSpPr>
        <p:spPr>
          <a:xfrm>
            <a:off x="2542032" y="2606040"/>
            <a:ext cx="1965960" cy="1280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checkin_db header"/>
          <p:cNvSpPr/>
          <p:nvPr/>
        </p:nvSpPr>
        <p:spPr>
          <a:xfrm>
            <a:off x="2542032" y="2606040"/>
            <a:ext cx="1965960" cy="36576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633472" y="26060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</a:rPr>
              <a:t>aerobook_checkin_db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2651760" y="306324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check_in</a:t>
            </a:r>
            <a:endParaRPr lang="en-US" sz="1200" dirty="0"/>
          </a:p>
        </p:txBody>
      </p:sp>
      <p:sp>
        <p:nvSpPr>
          <p:cNvPr id="27" name="payment_db card"/>
          <p:cNvSpPr/>
          <p:nvPr/>
        </p:nvSpPr>
        <p:spPr>
          <a:xfrm>
            <a:off x="4626864" y="2606040"/>
            <a:ext cx="1965960" cy="1280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payment_db header"/>
          <p:cNvSpPr/>
          <p:nvPr/>
        </p:nvSpPr>
        <p:spPr>
          <a:xfrm>
            <a:off x="4626864" y="2606040"/>
            <a:ext cx="1965960" cy="36576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718304" y="26060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</a:rPr>
              <a:t>aerobook_payment_db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736592" y="306324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payments</a:t>
            </a:r>
            <a:endParaRPr lang="en-US" sz="1200" dirty="0"/>
          </a:p>
        </p:txBody>
      </p:sp>
      <p:sp>
        <p:nvSpPr>
          <p:cNvPr id="31" name="notification_db card"/>
          <p:cNvSpPr/>
          <p:nvPr/>
        </p:nvSpPr>
        <p:spPr>
          <a:xfrm>
            <a:off x="6711696" y="2606040"/>
            <a:ext cx="1965960" cy="1280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notification_db header"/>
          <p:cNvSpPr/>
          <p:nvPr/>
        </p:nvSpPr>
        <p:spPr>
          <a:xfrm>
            <a:off x="6711696" y="2606040"/>
            <a:ext cx="1965960" cy="36576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03136" y="26060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</a:rPr>
              <a:t>aerobook_notification_db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821424" y="306324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notifications</a:t>
            </a:r>
            <a:endParaRPr lang="en-US" sz="1200" dirty="0"/>
          </a:p>
        </p:txBody>
      </p:sp>
      <p:sp>
        <p:nvSpPr>
          <p:cNvPr id="35" name="Logical links band"/>
          <p:cNvSpPr/>
          <p:nvPr/>
        </p:nvSpPr>
        <p:spPr>
          <a:xfrm>
            <a:off x="457200" y="4023360"/>
            <a:ext cx="8229600" cy="6858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0080" y="402336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 cross-database foreign keys. </a:t>
            </a:r>
            <a:r>
              <a:rPr lang="en-US" sz="1400" dirty="0">
                <a:solidFill>
                  <a:schemeClr val="accent4"/>
                </a:solidFill>
              </a:rPr>
              <a:t>Services link through IDs (user_id, flight_id, PNR) and resolve them by API call. A master seed script loads 20 users, 25 flights and 22 bookings.</a:t>
            </a:r>
            <a:endParaRPr lang="en-US" sz="14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Security enforced at the perimeter</a:t>
            </a:r>
            <a:endParaRPr lang="en-US" sz="3000" dirty="0"/>
          </a:p>
        </p:txBody>
      </p:sp>
      <p:sp>
        <p:nvSpPr>
          <p:cNvPr id="3" name="Flow step 1"/>
          <p:cNvSpPr/>
          <p:nvPr/>
        </p:nvSpPr>
        <p:spPr>
          <a:xfrm>
            <a:off x="457200" y="1188720"/>
            <a:ext cx="1828800" cy="1097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1887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accent2"/>
                </a:solidFill>
              </a:rPr>
              <a:t>Client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Authorization: Bearer JWT</a:t>
            </a:r>
            <a:endParaRPr lang="en-US" sz="1500" dirty="0"/>
          </a:p>
        </p:txBody>
      </p:sp>
      <p:sp>
        <p:nvSpPr>
          <p:cNvPr id="5" name="Flow arrow 1"/>
          <p:cNvSpPr/>
          <p:nvPr/>
        </p:nvSpPr>
        <p:spPr>
          <a:xfrm>
            <a:off x="2286000" y="1737360"/>
            <a:ext cx="256032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6" name="Flow step 2"/>
          <p:cNvSpPr/>
          <p:nvPr/>
        </p:nvSpPr>
        <p:spPr>
          <a:xfrm>
            <a:off x="2542032" y="1188720"/>
            <a:ext cx="1828800" cy="109728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33472" y="11887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accent1"/>
                </a:solidFill>
              </a:rPr>
              <a:t>Gateway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Verify HS256 signature and expiry</a:t>
            </a:r>
            <a:endParaRPr lang="en-US" sz="1500" dirty="0"/>
          </a:p>
        </p:txBody>
      </p:sp>
      <p:sp>
        <p:nvSpPr>
          <p:cNvPr id="8" name="Flow arrow 2"/>
          <p:cNvSpPr/>
          <p:nvPr/>
        </p:nvSpPr>
        <p:spPr>
          <a:xfrm>
            <a:off x="4370832" y="1737360"/>
            <a:ext cx="256032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9" name="Flow step 3"/>
          <p:cNvSpPr/>
          <p:nvPr/>
        </p:nvSpPr>
        <p:spPr>
          <a:xfrm>
            <a:off x="4626864" y="1188720"/>
            <a:ext cx="1828800" cy="1097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18304" y="11887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accent2"/>
                </a:solidFill>
              </a:rPr>
              <a:t>Header mutation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Injects X-User-* identity headers</a:t>
            </a:r>
            <a:endParaRPr lang="en-US" sz="1500" dirty="0"/>
          </a:p>
        </p:txBody>
      </p:sp>
      <p:sp>
        <p:nvSpPr>
          <p:cNvPr id="11" name="Flow arrow 3"/>
          <p:cNvSpPr/>
          <p:nvPr/>
        </p:nvSpPr>
        <p:spPr>
          <a:xfrm>
            <a:off x="6455664" y="1737360"/>
            <a:ext cx="256032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2" name="Flow step 4"/>
          <p:cNvSpPr/>
          <p:nvPr/>
        </p:nvSpPr>
        <p:spPr>
          <a:xfrm>
            <a:off x="6711696" y="1188720"/>
            <a:ext cx="1828800" cy="1097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03136" y="11887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accent2"/>
                </a:solidFill>
              </a:rPr>
              <a:t>Service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Check role, run domain logic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560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 and credential facts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92608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Access token: 24 hours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Refresh token: 7 days, rotated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Passwords hashed with BCrypt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Invalid token: 401; wrong role: 403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Internal ports must stay off public ingress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114800" y="2560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RBAC matrix (excerpt)</a:t>
            </a:r>
            <a:endParaRPr lang="en-US" sz="1600" dirty="0"/>
          </a:p>
        </p:txBody>
      </p:sp>
      <p:graphicFrame>
        <p:nvGraphicFramePr>
          <p:cNvPr id="17" name="RBAC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2926080"/>
          <a:ext cx="4572000" cy="1700784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Capability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Passenger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Staff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Admin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Flight search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Allowed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Allowed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Allowed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Create booking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Allowed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Allowed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Allowed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Gate verification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Denied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Allowed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Allowed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Manage fleet / flights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Denied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View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Full CRUD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Fares and coupons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View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View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Full CRUD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Six design decisions that shaped it</a:t>
            </a:r>
            <a:endParaRPr lang="en-US" sz="3000" dirty="0"/>
          </a:p>
        </p:txBody>
      </p:sp>
      <p:sp>
        <p:nvSpPr>
          <p:cNvPr id="3" name="ADR card 1"/>
          <p:cNvSpPr/>
          <p:nvPr/>
        </p:nvSpPr>
        <p:spPr>
          <a:xfrm>
            <a:off x="457200" y="1188720"/>
            <a:ext cx="2651760" cy="1554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ADR 01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Microservices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57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Scale and fail independently instead of one monolith.</a:t>
            </a:r>
            <a:endParaRPr lang="en-US" sz="1400" dirty="0"/>
          </a:p>
        </p:txBody>
      </p:sp>
      <p:sp>
        <p:nvSpPr>
          <p:cNvPr id="7" name="ADR card 2"/>
          <p:cNvSpPr/>
          <p:nvPr/>
        </p:nvSpPr>
        <p:spPr>
          <a:xfrm>
            <a:off x="3246120" y="1188720"/>
            <a:ext cx="2651760" cy="1554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29000" y="1325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ADR 02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645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per service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057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Schema freedom; no cross-service table locks.</a:t>
            </a:r>
            <a:endParaRPr lang="en-US" sz="1400" dirty="0"/>
          </a:p>
        </p:txBody>
      </p:sp>
      <p:sp>
        <p:nvSpPr>
          <p:cNvPr id="11" name="ADR card 3"/>
          <p:cNvSpPr/>
          <p:nvPr/>
        </p:nvSpPr>
        <p:spPr>
          <a:xfrm>
            <a:off x="6035040" y="1188720"/>
            <a:ext cx="2651760" cy="1554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217920" y="1325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ADR 03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1645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Reactive gateway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057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Netty non-blocking I/O survives traffic spikes.</a:t>
            </a:r>
            <a:endParaRPr lang="en-US" sz="1400" dirty="0"/>
          </a:p>
        </p:txBody>
      </p:sp>
      <p:sp>
        <p:nvSpPr>
          <p:cNvPr id="15" name="ADR card 4"/>
          <p:cNvSpPr/>
          <p:nvPr/>
        </p:nvSpPr>
        <p:spPr>
          <a:xfrm>
            <a:off x="457200" y="2880360"/>
            <a:ext cx="2651760" cy="1554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0080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ADR 04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337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Feign + RabbitMQ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749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Instant answers where needed, events for the rest.</a:t>
            </a:r>
            <a:endParaRPr lang="en-US" sz="1400" dirty="0"/>
          </a:p>
        </p:txBody>
      </p:sp>
      <p:sp>
        <p:nvSpPr>
          <p:cNvPr id="19" name="ADR card 5"/>
          <p:cNvSpPr/>
          <p:nvPr/>
        </p:nvSpPr>
        <p:spPr>
          <a:xfrm>
            <a:off x="3246120" y="2880360"/>
            <a:ext cx="2651760" cy="1554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3429000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ADR 05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429000" y="3337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JWT at the edge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3429000" y="3749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Verify once at the gateway, pass trusted headers.</a:t>
            </a:r>
            <a:endParaRPr lang="en-US" sz="1400" dirty="0"/>
          </a:p>
        </p:txBody>
      </p:sp>
      <p:sp>
        <p:nvSpPr>
          <p:cNvPr id="23" name="ADR card 6"/>
          <p:cNvSpPr/>
          <p:nvPr/>
        </p:nvSpPr>
        <p:spPr>
          <a:xfrm>
            <a:off x="6035040" y="2880360"/>
            <a:ext cx="2651760" cy="1554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217920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ADR 06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217920" y="3337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Angular Signals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3749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Lighter bundles and fine-grained UI updates.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Technology, quality and deployment</a:t>
            </a:r>
            <a:endParaRPr lang="en-US" sz="3000" dirty="0"/>
          </a:p>
        </p:txBody>
      </p:sp>
      <p:sp>
        <p:nvSpPr>
          <p:cNvPr id="3" name="Backend card"/>
          <p:cNvSpPr/>
          <p:nvPr/>
        </p:nvSpPr>
        <p:spPr>
          <a:xfrm>
            <a:off x="457200" y="1188720"/>
            <a:ext cx="4023360" cy="1645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ckend circle"/>
          <p:cNvSpPr/>
          <p:nvPr/>
        </p:nvSpPr>
        <p:spPr>
          <a:xfrm>
            <a:off x="640080" y="1353312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Backend icon" descr="Backe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1467612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35331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92024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Spring Boot, Cloud Gateway (WebFlux)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Eureka, OpenFeign, Spring Data JPA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MySQL 8, RabbitMQ, JJWT, OpenPDF</a:t>
            </a:r>
            <a:endParaRPr lang="en-US" sz="1400" dirty="0"/>
          </a:p>
        </p:txBody>
      </p:sp>
      <p:sp>
        <p:nvSpPr>
          <p:cNvPr id="8" name="Frontend card"/>
          <p:cNvSpPr/>
          <p:nvPr/>
        </p:nvSpPr>
        <p:spPr>
          <a:xfrm>
            <a:off x="4663440" y="1188720"/>
            <a:ext cx="4023360" cy="1645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Frontend circle"/>
          <p:cNvSpPr/>
          <p:nvPr/>
        </p:nvSpPr>
        <p:spPr>
          <a:xfrm>
            <a:off x="4846320" y="1353312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Frontend icon" descr="Fronten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0620" y="1467612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40680" y="135331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892040" y="192024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Angular 18 standalone, Signals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Tailwind CSS, light and dark themes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WCAG AA contrast compliance</a:t>
            </a:r>
            <a:endParaRPr lang="en-US" sz="1400" dirty="0"/>
          </a:p>
        </p:txBody>
      </p:sp>
      <p:sp>
        <p:nvSpPr>
          <p:cNvPr id="13" name="Quality card"/>
          <p:cNvSpPr/>
          <p:nvPr/>
        </p:nvSpPr>
        <p:spPr>
          <a:xfrm>
            <a:off x="457200" y="2971800"/>
            <a:ext cx="4023360" cy="1645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Quality circle"/>
          <p:cNvSpPr/>
          <p:nvPr/>
        </p:nvSpPr>
        <p:spPr>
          <a:xfrm>
            <a:off x="640080" y="3136392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5" name="Quality icon" descr="Qualit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" y="3250692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34440" y="31363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85800" y="370332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JUnit 5, Mockito, WebMvcTest slices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Karma and Jasmine for the SPA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JaCoCo and SonarQube quality gate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Challenges faced and how we solved them</a:t>
            </a:r>
            <a:endParaRPr lang="en-US" sz="3000" dirty="0"/>
          </a:p>
        </p:txBody>
      </p:sp>
      <p:sp>
        <p:nvSpPr>
          <p:cNvPr id="3" name="Challenge 1"/>
          <p:cNvSpPr/>
          <p:nvPr/>
        </p:nvSpPr>
        <p:spPr>
          <a:xfrm>
            <a:off x="457200" y="1143000"/>
            <a:ext cx="2651760" cy="62179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43000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Service start-up delay</a:t>
            </a:r>
            <a:endParaRPr lang="en-US" sz="1400" dirty="0"/>
          </a:p>
        </p:txBody>
      </p:sp>
      <p:sp>
        <p:nvSpPr>
          <p:cNvPr id="5" name="Arrow 1"/>
          <p:cNvSpPr/>
          <p:nvPr/>
        </p:nvSpPr>
        <p:spPr>
          <a:xfrm>
            <a:off x="3154680" y="1453896"/>
            <a:ext cx="27432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6" name="Solution 1"/>
          <p:cNvSpPr/>
          <p:nvPr/>
        </p:nvSpPr>
        <p:spPr>
          <a:xfrm>
            <a:off x="3474720" y="1143000"/>
            <a:ext cx="5212080" cy="62179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11880" y="1143000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Eureka needs about 30 s to register services, causing early 503 errors. Solved with health checks and a smoke-check script.</a:t>
            </a:r>
            <a:endParaRPr lang="en-US" sz="1200" dirty="0"/>
          </a:p>
        </p:txBody>
      </p:sp>
      <p:sp>
        <p:nvSpPr>
          <p:cNvPr id="8" name="Challenge 2"/>
          <p:cNvSpPr/>
          <p:nvPr/>
        </p:nvSpPr>
        <p:spPr>
          <a:xfrm>
            <a:off x="457200" y="1847088"/>
            <a:ext cx="2651760" cy="62179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847088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Data without SQL joins</a:t>
            </a:r>
            <a:endParaRPr lang="en-US" sz="1400" dirty="0"/>
          </a:p>
        </p:txBody>
      </p:sp>
      <p:sp>
        <p:nvSpPr>
          <p:cNvPr id="10" name="Arrow 2"/>
          <p:cNvSpPr/>
          <p:nvPr/>
        </p:nvSpPr>
        <p:spPr>
          <a:xfrm>
            <a:off x="3154680" y="2157984"/>
            <a:ext cx="27432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1" name="Solution 2"/>
          <p:cNvSpPr/>
          <p:nvPr/>
        </p:nvSpPr>
        <p:spPr>
          <a:xfrm>
            <a:off x="3474720" y="1847088"/>
            <a:ext cx="5212080" cy="62179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11880" y="1847088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Database-per-service blocks cross-table queries. Solved with OpenFeign calls and consolidated response DTOs.</a:t>
            </a:r>
            <a:endParaRPr lang="en-US" sz="1200" dirty="0"/>
          </a:p>
        </p:txBody>
      </p:sp>
      <p:sp>
        <p:nvSpPr>
          <p:cNvPr id="13" name="Challenge 3"/>
          <p:cNvSpPr/>
          <p:nvPr/>
        </p:nvSpPr>
        <p:spPr>
          <a:xfrm>
            <a:off x="457200" y="2551176"/>
            <a:ext cx="2651760" cy="62179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2551176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CORS and duplicate headers</a:t>
            </a:r>
            <a:endParaRPr lang="en-US" sz="1400" dirty="0"/>
          </a:p>
        </p:txBody>
      </p:sp>
      <p:sp>
        <p:nvSpPr>
          <p:cNvPr id="15" name="Arrow 3"/>
          <p:cNvSpPr/>
          <p:nvPr/>
        </p:nvSpPr>
        <p:spPr>
          <a:xfrm>
            <a:off x="3154680" y="2862072"/>
            <a:ext cx="27432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6" name="Solution 3"/>
          <p:cNvSpPr/>
          <p:nvPr/>
        </p:nvSpPr>
        <p:spPr>
          <a:xfrm>
            <a:off x="3474720" y="2551176"/>
            <a:ext cx="5212080" cy="62179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611880" y="2551176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Direct service calls and double CORS headers broke the browser. Solved with one gateway entry and a CORS de-dupe filter.</a:t>
            </a:r>
            <a:endParaRPr lang="en-US" sz="1200" dirty="0"/>
          </a:p>
        </p:txBody>
      </p:sp>
      <p:sp>
        <p:nvSpPr>
          <p:cNvPr id="18" name="Challenge 4"/>
          <p:cNvSpPr/>
          <p:nvPr/>
        </p:nvSpPr>
        <p:spPr>
          <a:xfrm>
            <a:off x="457200" y="3255264"/>
            <a:ext cx="2651760" cy="62179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3255264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Token revocation</a:t>
            </a:r>
            <a:endParaRPr lang="en-US" sz="1400" dirty="0"/>
          </a:p>
        </p:txBody>
      </p:sp>
      <p:sp>
        <p:nvSpPr>
          <p:cNvPr id="20" name="Arrow 4"/>
          <p:cNvSpPr/>
          <p:nvPr/>
        </p:nvSpPr>
        <p:spPr>
          <a:xfrm>
            <a:off x="3154680" y="3566160"/>
            <a:ext cx="27432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1" name="Solution 4"/>
          <p:cNvSpPr/>
          <p:nvPr/>
        </p:nvSpPr>
        <p:spPr>
          <a:xfrm>
            <a:off x="3474720" y="3255264"/>
            <a:ext cx="5212080" cy="62179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611880" y="3255264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Stateless JWTs cannot be cancelled instantly. Solved with short-lived access tokens and refresh-token rotation.</a:t>
            </a:r>
            <a:endParaRPr lang="en-US" sz="1200" dirty="0"/>
          </a:p>
        </p:txBody>
      </p:sp>
      <p:sp>
        <p:nvSpPr>
          <p:cNvPr id="23" name="Challenge 5"/>
          <p:cNvSpPr/>
          <p:nvPr/>
        </p:nvSpPr>
        <p:spPr>
          <a:xfrm>
            <a:off x="457200" y="3959352"/>
            <a:ext cx="2651760" cy="62179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4360" y="3959352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Local setup friction</a:t>
            </a:r>
            <a:endParaRPr lang="en-US" sz="1400" dirty="0"/>
          </a:p>
        </p:txBody>
      </p:sp>
      <p:sp>
        <p:nvSpPr>
          <p:cNvPr id="25" name="Arrow 5"/>
          <p:cNvSpPr/>
          <p:nvPr/>
        </p:nvSpPr>
        <p:spPr>
          <a:xfrm>
            <a:off x="3154680" y="4270248"/>
            <a:ext cx="27432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6" name="Solution 5"/>
          <p:cNvSpPr/>
          <p:nvPr/>
        </p:nvSpPr>
        <p:spPr>
          <a:xfrm>
            <a:off x="3474720" y="3959352"/>
            <a:ext cx="5212080" cy="62179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611880" y="3959352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Port clashes, missing schemas and optional RabbitMQ. Solved with start-up scripts, seed.sql and REST fallback.</a:t>
            </a:r>
            <a:endParaRPr lang="en-US" sz="12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Future scope: toward production grade</a:t>
            </a:r>
            <a:endParaRPr lang="en-US" sz="3000" dirty="0"/>
          </a:p>
        </p:txBody>
      </p:sp>
      <p:sp>
        <p:nvSpPr>
          <p:cNvPr id="3" name="Near term card"/>
          <p:cNvSpPr/>
          <p:nvPr/>
        </p:nvSpPr>
        <p:spPr>
          <a:xfrm>
            <a:off x="457200" y="1188720"/>
            <a:ext cx="2651760" cy="25146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Near term marker"/>
          <p:cNvSpPr/>
          <p:nvPr/>
        </p:nvSpPr>
        <p:spPr>
          <a:xfrm>
            <a:off x="640080" y="135331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8016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 term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Production readiness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011680"/>
            <a:ext cx="2331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Flyway schema migrations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Resilience4j circuit breakers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Redis cache for flight search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Gateway rate limiting</a:t>
            </a:r>
            <a:endParaRPr lang="en-US" sz="1400" dirty="0"/>
          </a:p>
        </p:txBody>
      </p:sp>
      <p:sp>
        <p:nvSpPr>
          <p:cNvPr id="8" name="Mid term card"/>
          <p:cNvSpPr/>
          <p:nvPr/>
        </p:nvSpPr>
        <p:spPr>
          <a:xfrm>
            <a:off x="3246120" y="1188720"/>
            <a:ext cx="2651760" cy="25146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Mid term marker"/>
          <p:cNvSpPr/>
          <p:nvPr/>
        </p:nvSpPr>
        <p:spPr>
          <a:xfrm>
            <a:off x="3429000" y="1353312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128016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 term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Operational maturity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011680"/>
            <a:ext cx="2331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OpenTelemetry tracing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RabbitMQ dead-letter queues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Vault or AWS Secrets Manager</a:t>
            </a:r>
            <a:endParaRPr lang="en-US" sz="1400" dirty="0"/>
          </a:p>
        </p:txBody>
      </p:sp>
      <p:sp>
        <p:nvSpPr>
          <p:cNvPr id="13" name="Long term card"/>
          <p:cNvSpPr/>
          <p:nvPr/>
        </p:nvSpPr>
        <p:spPr>
          <a:xfrm>
            <a:off x="6035040" y="1188720"/>
            <a:ext cx="2651760" cy="25146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Long term marker"/>
          <p:cNvSpPr/>
          <p:nvPr/>
        </p:nvSpPr>
        <p:spPr>
          <a:xfrm>
            <a:off x="6217920" y="1353312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720840" y="128016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 term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Scale and experience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011680"/>
            <a:ext cx="2331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CQRS read model for search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Server-Sent Events for live gate and delay updates</a:t>
            </a:r>
            <a:endParaRPr lang="en-US" sz="1400" dirty="0"/>
          </a:p>
        </p:txBody>
      </p:sp>
      <p:sp>
        <p:nvSpPr>
          <p:cNvPr id="18" name="Takeaway band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931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Takeaway: </a:t>
            </a:r>
            <a:r>
              <a:rPr lang="en-US" sz="1500" dirty="0">
                <a:solidFill>
                  <a:schemeClr val="tx1"/>
                </a:solidFill>
              </a:rPr>
              <a:t>AeroBook already delivers the full passenger, staff and admin journey. The roadmap hardens it for scale and resilience.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 circle large"/>
          <p:cNvSpPr/>
          <p:nvPr/>
        </p:nvSpPr>
        <p:spPr>
          <a:xfrm>
            <a:off x="6035040" y="-1097280"/>
            <a:ext cx="5029200" cy="5029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3" name="Plane icon" descr="Airpla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200000">
            <a:off x="7315200" y="109728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128016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2860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38328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Amir Sohel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Software Engineer, Capgemini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eroBook">
  <a:themeElements>
    <a:clrScheme name="AeroBook">
      <a:dk1>
        <a:srgbClr val="0B1F3A"/>
      </a:dk1>
      <a:lt1>
        <a:srgbClr val="FFFFFF"/>
      </a:lt1>
      <a:dk2>
        <a:srgbClr val="163B66"/>
      </a:dk2>
      <a:lt2>
        <a:srgbClr val="EEF2F7"/>
      </a:lt2>
      <a:accent1>
        <a:srgbClr val="F5A623"/>
      </a:accent1>
      <a:accent2>
        <a:srgbClr val="1F6FB2"/>
      </a:accent2>
      <a:accent3>
        <a:srgbClr val="1E9E86"/>
      </a:accent3>
      <a:accent4>
        <a:srgbClr val="5D6B80"/>
      </a:accent4>
      <a:accent5>
        <a:srgbClr val="D9534F"/>
      </a:accent5>
      <a:accent6>
        <a:srgbClr val="9CC3E6"/>
      </a:accent6>
      <a:hlink>
        <a:srgbClr val="1F6FB2"/>
      </a:hlink>
      <a:folHlink>
        <a:srgbClr val="5D6B80"/>
      </a:folHlink>
    </a:clrScheme>
    <a:fontScheme name="AeroBoo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1706</Words>
  <Application>Microsoft Office PowerPoint</Application>
  <PresentationFormat>On-screen Show (16:9)</PresentationFormat>
  <Paragraphs>344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AeroBook</vt:lpstr>
      <vt:lpstr>PowerPoint Presentation</vt:lpstr>
      <vt:lpstr>What we will cover</vt:lpstr>
      <vt:lpstr>AeroBook at a glance</vt:lpstr>
      <vt:lpstr>Six business domains, three personas</vt:lpstr>
      <vt:lpstr>Architecture: one gateway, many services</vt:lpstr>
      <vt:lpstr>Service directory: what each service owns</vt:lpstr>
      <vt:lpstr>Hybrid communication keeps bookings resilient</vt:lpstr>
      <vt:lpstr>A booking journey, end to end</vt:lpstr>
      <vt:lpstr>Inside one booking request</vt:lpstr>
      <vt:lpstr>Data model: eight private schemas</vt:lpstr>
      <vt:lpstr>Security enforced at the perimeter</vt:lpstr>
      <vt:lpstr>Six design decisions that shaped it</vt:lpstr>
      <vt:lpstr>Technology, quality and deployment</vt:lpstr>
      <vt:lpstr>Challenges faced and how we solved them</vt:lpstr>
      <vt:lpstr>Future scope: toward production grade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AeroBook Platform - Architecture Overview</dc:title>
  <dc:subject>PptxGenJS Presentation</dc:subject>
  <dc:creator>AeroBook Platform Engineering</dc:creator>
  <cp:lastModifiedBy>Amir Sohel</cp:lastModifiedBy>
  <cp:revision>3</cp:revision>
  <dcterms:created xsi:type="dcterms:W3CDTF">2026-10-21T05:02:55Z</dcterms:created>
  <dcterms:modified xsi:type="dcterms:W3CDTF">2026-10-21T06:16:48Z</dcterms:modified>
</cp:coreProperties>
</file>