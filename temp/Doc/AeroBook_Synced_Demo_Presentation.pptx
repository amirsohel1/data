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78240" y="-548640"/>
            <a:ext cx="4114800" cy="411480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45720"/>
            <a:ext cx="2834640" cy="2834640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858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F2F6FF"/>
                </a:solidFill>
                <a:latin typeface="Aptos"/>
              </a:defRPr>
            </a:pPr>
            <a:r>
              <a:t>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AD5DD"/>
                </a:solidFill>
                <a:latin typeface="Aptos"/>
              </a:defRPr>
            </a:pPr>
            <a:r>
              <a:t>CLOUD AIRLINE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4400" b="1">
                <a:solidFill>
                  <a:srgbClr val="F2F6FF"/>
                </a:solidFill>
                <a:latin typeface="Aptos"/>
              </a:defRPr>
            </a:pPr>
            <a:r>
              <a:t>AeroBook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A4B4CD"/>
                </a:solidFill>
                <a:latin typeface="Aptos"/>
              </a:defRPr>
            </a:pPr>
            <a:r>
              <a:t>Flight Booking • Check-In • Airport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337560"/>
            <a:ext cx="1234440" cy="64008"/>
          </a:xfrm>
          <a:prstGeom prst="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703320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47DBA4"/>
                </a:solidFill>
                <a:latin typeface="Aptos"/>
              </a:defRPr>
            </a:pPr>
            <a:r>
              <a:t>END-TO-END PROJECT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315968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Passenger journey → Ground staff → Airline administration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349240"/>
            <a:ext cx="1417320" cy="713232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5431536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3E87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5522976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A4B4CD"/>
                </a:solidFill>
                <a:latin typeface="Aptos"/>
              </a:defRPr>
            </a:pPr>
            <a:r>
              <a:t>MICROSERVICES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5349240"/>
            <a:ext cx="1417320" cy="713232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5431536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3AD5D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522976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A4B4CD"/>
                </a:solidFill>
                <a:latin typeface="Aptos"/>
              </a:defRPr>
            </a:pPr>
            <a:r>
              <a:t>MYSQL SCHEMAS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6512" y="5349240"/>
            <a:ext cx="1417320" cy="713232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5431536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AC84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5522976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A4B4CD"/>
                </a:solidFill>
                <a:latin typeface="Aptos"/>
              </a:defRPr>
            </a:pPr>
            <a:r>
              <a:t>USER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3093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4B4CD"/>
                </a:solidFill>
                <a:latin typeface="Aptos"/>
              </a:defRPr>
            </a:pPr>
            <a:r>
              <a:t>Presented by Amir Sohel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093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AD5DD"/>
                </a:solidFill>
                <a:latin typeface="Aptos"/>
              </a:defRPr>
            </a:pPr>
            <a:r>
              <a:t>10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01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One platform. Three connected journeys.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00:00–00:40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3520440" cy="18288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64008" cy="1828800"/>
          </a:xfrm>
          <a:prstGeom prst="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01952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E87FF"/>
                </a:solidFill>
                <a:latin typeface="Aptos"/>
              </a:defRPr>
            </a:pPr>
            <a:r>
              <a:t>01 / PASSENGER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Book &amp; travel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33472"/>
            <a:ext cx="315468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Search flights, compare fares, book tickets, check in, and access boarding documents.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520440" cy="18288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64008" cy="1828800"/>
          </a:xfrm>
          <a:prstGeom prst="rect">
            <a:avLst/>
          </a:prstGeom>
          <a:solidFill>
            <a:srgbClr val="3A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901952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AD5DD"/>
                </a:solidFill>
                <a:latin typeface="Aptos"/>
              </a:defRPr>
            </a:pPr>
            <a:r>
              <a:t>02 / GROUND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19456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Operate the airport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633472"/>
            <a:ext cx="315468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Find passenger records, review manifests, validate boarding, and update flight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737360"/>
            <a:ext cx="3520440" cy="18288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37360"/>
            <a:ext cx="64008" cy="1828800"/>
          </a:xfrm>
          <a:prstGeom prst="rect">
            <a:avLst/>
          </a:prstGeom>
          <a:solidFill>
            <a:srgbClr val="A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901952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AC84FF"/>
                </a:solidFill>
                <a:latin typeface="Aptos"/>
              </a:defRPr>
            </a:pPr>
            <a:r>
              <a:t>03 / ADMINISTRATOR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19456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Manage the airline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633472"/>
            <a:ext cx="315468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Manage aircraft, schedules, fares, promotions, and user accounts.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977639"/>
            <a:ext cx="11018520" cy="155448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245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FC15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10241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F2F6FF"/>
                </a:solidFill>
                <a:latin typeface="Aptos"/>
              </a:defRPr>
            </a:pPr>
            <a:r>
              <a:t>Booking, payment, check-in, and airport operations need to work together without becoming one tightly coupled 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4B4CD"/>
                </a:solidFill>
                <a:latin typeface="Aptos"/>
              </a:defRPr>
            </a:pPr>
            <a:r>
              <a:t>AeroBook brings these workflows together through a role-based application and modular backend services.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02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How AeroBook is organized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00:40–01:35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011680" cy="352044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AD5DD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2F6FF"/>
                </a:solidFill>
                <a:latin typeface="Aptos"/>
              </a:defRPr>
            </a:pPr>
            <a:r>
              <a:t>Angular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A4B4CD"/>
                </a:solidFill>
                <a:latin typeface="Aptos"/>
              </a:defRPr>
            </a:pPr>
            <a:r>
              <a:t>Passenger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A4B4CD"/>
                </a:solidFill>
                <a:latin typeface="Aptos"/>
              </a:defRPr>
            </a:pPr>
            <a:r>
              <a:t>Staff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A4B4CD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691640"/>
            <a:ext cx="2103120" cy="352044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920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ENTRY &amp;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2316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2F6FF"/>
                </a:solidFill>
                <a:latin typeface="Aptos"/>
              </a:defRPr>
            </a:pPr>
            <a: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154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2F6FF"/>
                </a:solidFill>
                <a:latin typeface="Aptos"/>
              </a:defRPr>
            </a:pPr>
            <a:r>
              <a:t>Eureka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8862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A4B4CD"/>
                </a:solidFill>
                <a:latin typeface="Aptos"/>
              </a:defRPr>
            </a:pPr>
            <a:r>
              <a:t>Config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691640"/>
            <a:ext cx="3337560" cy="352044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92024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47DBA4"/>
                </a:solidFill>
                <a:latin typeface="Aptos"/>
              </a:defRPr>
            </a:pPr>
            <a:r>
              <a:t>SPRING BOOT DOMAIN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514600"/>
            <a:ext cx="2788920" cy="50292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65176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2F6FF"/>
                </a:solidFill>
                <a:latin typeface="Aptos"/>
              </a:defRPr>
            </a:pPr>
            <a:r>
              <a:t>Auth • User • Flight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246120"/>
            <a:ext cx="2788920" cy="50292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338328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2F6FF"/>
                </a:solidFill>
                <a:latin typeface="Aptos"/>
              </a:defRPr>
            </a:pPr>
            <a:r>
              <a:t>Fare • Booking • Payment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3977639"/>
            <a:ext cx="2788920" cy="50292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114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2F6FF"/>
                </a:solidFill>
                <a:latin typeface="Aptos"/>
              </a:defRPr>
            </a:pPr>
            <a:r>
              <a:t>Check-In • Notification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1691640"/>
            <a:ext cx="2240280" cy="352044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9202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C15C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56032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2F6FF"/>
                </a:solidFill>
                <a:latin typeface="Aptos"/>
              </a:defRPr>
            </a:pPr>
            <a:r>
              <a:t>8 MySQL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F2F6FF"/>
                </a:solidFill>
                <a:latin typeface="Aptos"/>
              </a:defRPr>
            </a:pPr>
            <a:r>
              <a:t>schemas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657600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A4B4CD"/>
                </a:solidFill>
                <a:latin typeface="Aptos"/>
              </a:defRPr>
            </a:pPr>
            <a:r>
              <a:t>Separate data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A4B4CD"/>
                </a:solidFill>
                <a:latin typeface="Aptos"/>
              </a:defRPr>
            </a:pPr>
            <a:r>
              <a:t>by service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51760" y="3429000"/>
            <a:ext cx="411480" cy="0"/>
          </a:xfrm>
          <a:prstGeom prst="line">
            <a:avLst/>
          </a:prstGeom>
          <a:ln w="31750">
            <a:solidFill>
              <a:srgbClr val="3E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66360" y="3429000"/>
            <a:ext cx="411480" cy="0"/>
          </a:xfrm>
          <a:prstGeom prst="line">
            <a:avLst/>
          </a:prstGeom>
          <a:ln w="31750">
            <a:solidFill>
              <a:srgbClr val="3E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15400" y="3429000"/>
            <a:ext cx="365760" cy="0"/>
          </a:xfrm>
          <a:prstGeom prst="line">
            <a:avLst/>
          </a:prstGeom>
          <a:ln w="31750">
            <a:solidFill>
              <a:srgbClr val="3E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" y="5486400"/>
            <a:ext cx="10881360" cy="59436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41848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A4B4CD"/>
                </a:solidFill>
                <a:latin typeface="Aptos"/>
              </a:defRPr>
            </a:pPr>
            <a:r>
              <a:t>Supporting technologies: JWT / role-based access • OpenFeign / REST • RabbitMQ messaging • MySQL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03 •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Three decisions that protect the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01:35–02:35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520440" cy="32004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4008" cy="3200400"/>
          </a:xfrm>
          <a:prstGeom prst="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E87FF"/>
                </a:solidFill>
                <a:latin typeface="Aptos"/>
              </a:defRPr>
            </a:pPr>
            <a:r>
              <a:t>01 /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JWT +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33472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JWT authentication and role-based access separate passenger, staff, and administrator permissions.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520440" cy="32004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64008" cy="3200400"/>
          </a:xfrm>
          <a:prstGeom prst="rect">
            <a:avLst/>
          </a:prstGeom>
          <a:solidFill>
            <a:srgbClr val="47D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901952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47DBA4"/>
                </a:solidFill>
                <a:latin typeface="Aptos"/>
              </a:defRPr>
            </a:pPr>
            <a:r>
              <a:t>02 / SEAT 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19456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Row-level locking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633472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Database locking helps prevent two concurrent booking requests from claiming the same final seat.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520440" cy="32004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64008" cy="3200400"/>
          </a:xfrm>
          <a:prstGeom prst="rect">
            <a:avLst/>
          </a:prstGeom>
          <a:solidFill>
            <a:srgbClr val="A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901952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AC84FF"/>
                </a:solidFill>
                <a:latin typeface="Aptos"/>
              </a:defRPr>
            </a:pPr>
            <a:r>
              <a:t>03 / ASYNC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9456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RabbitMQ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633472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Message-based processing can decouple follow-up tasks, such as notifications, from the booking request.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927080" cy="658368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49824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2F6FF"/>
                </a:solidFill>
                <a:latin typeface="Aptos"/>
              </a:defRPr>
            </a:pPr>
            <a:r>
              <a:t>Design goal: modular services, controlled access, and reliable booking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04 •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Three roles. Three dedicated workspaces.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02:35–03:30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74720" cy="356616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474720" cy="109728"/>
          </a:xfrm>
          <a:prstGeom prst="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3E87FF"/>
                </a:solidFill>
                <a:latin typeface="Aptos"/>
              </a:defRPr>
            </a:pPr>
            <a:r>
              <a:t>PASSENGER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A4B4CD"/>
                </a:solidFill>
                <a:latin typeface="Aptos"/>
              </a:defRPr>
            </a:pPr>
            <a:r>
              <a:t>/customer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Flight search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Booking &amp; payment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Seat selection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E-ticket &amp; check-in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474720" cy="356616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83080"/>
            <a:ext cx="3474720" cy="109728"/>
          </a:xfrm>
          <a:prstGeom prst="rect">
            <a:avLst/>
          </a:prstGeom>
          <a:solidFill>
            <a:srgbClr val="3A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3AD5DD"/>
                </a:solidFill>
                <a:latin typeface="Aptos"/>
              </a:defRPr>
            </a:pPr>
            <a:r>
              <a:t>GROUND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7860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A4B4CD"/>
                </a:solidFill>
                <a:latin typeface="Aptos"/>
              </a:defRPr>
            </a:pPr>
            <a:r>
              <a:t>/staff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5468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Passenger manifest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Check-in support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Boarding validation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Flight status updates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83080"/>
            <a:ext cx="3474720" cy="356616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3474720" cy="109728"/>
          </a:xfrm>
          <a:prstGeom prst="rect">
            <a:avLst/>
          </a:prstGeom>
          <a:solidFill>
            <a:srgbClr val="A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AC84FF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57860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A4B4CD"/>
                </a:solidFill>
                <a:latin typeface="Aptos"/>
              </a:defRPr>
            </a:pPr>
            <a:r>
              <a:t>/admin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15468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Fleet management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Flight scheduling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Fare &amp; coupon controls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2F6FF"/>
                </a:solidFill>
                <a:latin typeface="Aptos"/>
              </a:defRPr>
            </a:pPr>
            <a:r>
              <a:t>User administration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77840"/>
            <a:ext cx="10881360" cy="45720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87568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3AD5DD"/>
                </a:solidFill>
                <a:latin typeface="Aptos"/>
              </a:defRPr>
            </a:pPr>
            <a:r>
              <a:t>Next: follow one booking through the passenger, airport, and administration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05 •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From architecture to a real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03:30–03:45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2F6FF"/>
                </a:solidFill>
                <a:latin typeface="Aptos"/>
              </a:defRPr>
            </a:pPr>
            <a:r>
              <a:t>Let's follow one passenger journey from search to boarding.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54680"/>
            <a:ext cx="1691640" cy="11430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E8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490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2F6FF"/>
                </a:solidFill>
                <a:latin typeface="Aptos"/>
              </a:defRPr>
            </a:pPr>
            <a:r>
              <a:t>SEARCH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3730752"/>
            <a:ext cx="548640" cy="0"/>
          </a:xfrm>
          <a:prstGeom prst="line">
            <a:avLst/>
          </a:prstGeom>
          <a:ln w="25400">
            <a:solidFill>
              <a:srgbClr val="3E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90672" y="3154680"/>
            <a:ext cx="1691640" cy="11430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333756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AD5D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7490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2F6FF"/>
                </a:solidFill>
                <a:latin typeface="Aptos"/>
              </a:defRPr>
            </a:pPr>
            <a:r>
              <a:t>BOOK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82312" y="3730752"/>
            <a:ext cx="548640" cy="0"/>
          </a:xfrm>
          <a:prstGeom prst="line">
            <a:avLst/>
          </a:prstGeom>
          <a:ln w="25400">
            <a:solidFill>
              <a:srgbClr val="3E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58384" y="3154680"/>
            <a:ext cx="1691640" cy="11430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95544" y="333756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47DB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37490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2F6FF"/>
                </a:solidFill>
                <a:latin typeface="Aptos"/>
              </a:defRPr>
            </a:pPr>
            <a:r>
              <a:t>PAY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0024" y="3730752"/>
            <a:ext cx="548640" cy="0"/>
          </a:xfrm>
          <a:prstGeom prst="line">
            <a:avLst/>
          </a:prstGeom>
          <a:ln w="25400">
            <a:solidFill>
              <a:srgbClr val="3E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26096" y="3154680"/>
            <a:ext cx="1691640" cy="11430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333756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AC84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3" y="37490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2F6FF"/>
                </a:solidFill>
                <a:latin typeface="Aptos"/>
              </a:defRPr>
            </a:pPr>
            <a:r>
              <a:t>CHECK 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17736" y="3730752"/>
            <a:ext cx="548640" cy="0"/>
          </a:xfrm>
          <a:prstGeom prst="line">
            <a:avLst/>
          </a:prstGeom>
          <a:ln w="25400">
            <a:solidFill>
              <a:srgbClr val="3E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93808" y="3154680"/>
            <a:ext cx="1691640" cy="11430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30968" y="333756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C15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3536" y="37490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2F6FF"/>
                </a:solidFill>
                <a:latin typeface="Aptos"/>
              </a:defRPr>
            </a:pPr>
            <a:r>
              <a:t>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983480"/>
            <a:ext cx="10332720" cy="68580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19379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A4B4CD"/>
                </a:solidFill>
                <a:latin typeface="Aptos"/>
              </a:defRPr>
            </a:pPr>
            <a:r>
              <a:t>Watch how each stage connects to the next—and how different roles use the same platform.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06 • PASSENGER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01. Search flights and calculate fares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03:45–05:00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846320" cy="43434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AD5DD"/>
                </a:solidFill>
                <a:latin typeface="Aptos"/>
              </a:defRPr>
            </a:pPr>
            <a:r>
              <a:t>FLIGHT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1460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BOM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4B4CD"/>
                </a:solidFill>
                <a:latin typeface="Aptos"/>
              </a:defRPr>
            </a:pPr>
            <a:r>
              <a:t>Delhi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063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4B4CD"/>
                </a:solidFill>
                <a:latin typeface="Aptos"/>
              </a:defRPr>
            </a:pPr>
            <a:r>
              <a:t>Mumbai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816352"/>
            <a:ext cx="594360" cy="0"/>
          </a:xfrm>
          <a:prstGeom prst="line">
            <a:avLst/>
          </a:prstGeom>
          <a:ln w="25400">
            <a:solidFill>
              <a:srgbClr val="3A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7033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SELECTED FLIGHT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2F6FF"/>
                </a:solidFill>
                <a:latin typeface="Aptos"/>
              </a:defRPr>
            </a:pPr>
            <a:r>
              <a:t>AB-101  •  Economy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4B4CD"/>
                </a:solidFill>
                <a:latin typeface="Aptos"/>
              </a:defRPr>
            </a:pPr>
            <a:r>
              <a:t>Passenger details → fare summary → coupon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1691640"/>
            <a:ext cx="5623560" cy="182880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920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47DBA4"/>
                </a:solidFill>
                <a:latin typeface="Aptos"/>
              </a:defRPr>
            </a:pPr>
            <a:r>
              <a:t>FARE CALCULATION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3317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F2F6FF"/>
                </a:solidFill>
                <a:latin typeface="Aptos"/>
              </a:defRPr>
            </a:pPr>
            <a:r>
              <a:t>Base fare + applicable fees and taxes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794760"/>
            <a:ext cx="5623560" cy="224028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069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FC15C"/>
                </a:solidFill>
                <a:latin typeface="Aptos"/>
              </a:defRPr>
            </a:pPr>
            <a:r>
              <a:t>PROMOTIONAL COUPON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526280"/>
            <a:ext cx="1965960" cy="502920"/>
          </a:xfrm>
          <a:prstGeom prst="roundRect">
            <a:avLst/>
          </a:prstGeom>
          <a:solidFill>
            <a:srgbClr val="15223B"/>
          </a:solidFill>
          <a:ln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466344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2F6FF"/>
                </a:solidFill>
                <a:latin typeface="Aptos"/>
              </a:defRPr>
            </a:pPr>
            <a:r>
              <a:t>WELCOME10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526280"/>
            <a:ext cx="1143000" cy="502920"/>
          </a:xfrm>
          <a:prstGeom prst="roundRect">
            <a:avLst/>
          </a:prstGeom>
          <a:solidFill>
            <a:srgbClr val="47D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466344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070C1B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303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4B4CD"/>
                </a:solidFill>
                <a:latin typeface="Aptos"/>
              </a:defRPr>
            </a:pPr>
            <a:r>
              <a:t>Eligible coupon → updated payable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07 • PASSENGER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02. Payment confirmation and e-ticket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05:00–06:10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429000" cy="233172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4008" cy="2331720"/>
          </a:xfrm>
          <a:prstGeom prst="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E87FF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Razorpay checkout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33472"/>
            <a:ext cx="30632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Use the configured test payment flow during this demonstration.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429000" cy="233172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37360"/>
            <a:ext cx="64008" cy="2331720"/>
          </a:xfrm>
          <a:prstGeom prst="rect">
            <a:avLst/>
          </a:prstGeom>
          <a:solidFill>
            <a:srgbClr val="47D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901952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47DBA4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19456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Booking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633472"/>
            <a:ext cx="30632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After successful verification, the system confirms the booking and generates a unique PNR.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737360"/>
            <a:ext cx="3429000" cy="233172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737360"/>
            <a:ext cx="64008" cy="2331720"/>
          </a:xfrm>
          <a:prstGeom prst="rect">
            <a:avLst/>
          </a:prstGeom>
          <a:solidFill>
            <a:srgbClr val="A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901952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AC84FF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19456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PDF e-ticket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633472"/>
            <a:ext cx="30632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Show the itinerary and fare details in the generated downloadable document.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0560"/>
            <a:ext cx="10927080" cy="109728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817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PAYMENT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474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2F6FF"/>
                </a:solidFill>
                <a:latin typeface="Aptos"/>
              </a:defRPr>
            </a:pPr>
            <a:r>
              <a:t>Checkout → server-side verification → booking confirmation → ticket and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C15C"/>
                </a:solidFill>
                <a:latin typeface="Aptos"/>
              </a:defRPr>
            </a:pPr>
            <a:r>
              <a:t>Use a real PNR generated by your run; do not rely on the example shown in any script.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08 • PASSENGER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03. Web check-in and boarding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06:10–07:00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4937760" cy="416052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AD5DD"/>
                </a:solidFill>
                <a:latin typeface="Aptos"/>
              </a:defRPr>
            </a:pPr>
            <a:r>
              <a:t>INTERACTIVE SEAT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560320"/>
            <a:ext cx="411480" cy="347472"/>
          </a:xfrm>
          <a:prstGeom prst="roundRect">
            <a:avLst/>
          </a:prstGeom>
          <a:solidFill>
            <a:srgbClr val="4B5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91639" y="2560320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31720" y="2560320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79" y="2560320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2560320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3154679"/>
            <a:ext cx="411480" cy="347472"/>
          </a:xfrm>
          <a:prstGeom prst="roundRect">
            <a:avLst/>
          </a:prstGeom>
          <a:solidFill>
            <a:srgbClr val="47D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39" y="3154679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31720" y="3154679"/>
            <a:ext cx="411480" cy="347472"/>
          </a:xfrm>
          <a:prstGeom prst="roundRect">
            <a:avLst/>
          </a:prstGeom>
          <a:solidFill>
            <a:srgbClr val="4B5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11879" y="3154679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51960" y="3154679"/>
            <a:ext cx="411480" cy="347472"/>
          </a:xfrm>
          <a:prstGeom prst="roundRect">
            <a:avLst/>
          </a:prstGeom>
          <a:solidFill>
            <a:srgbClr val="4B5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3749039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91639" y="3749039"/>
            <a:ext cx="411480" cy="347472"/>
          </a:xfrm>
          <a:prstGeom prst="roundRect">
            <a:avLst/>
          </a:prstGeom>
          <a:solidFill>
            <a:srgbClr val="4B5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31720" y="3749039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11879" y="3749039"/>
            <a:ext cx="411480" cy="347472"/>
          </a:xfrm>
          <a:prstGeom prst="roundRect">
            <a:avLst/>
          </a:prstGeom>
          <a:solidFill>
            <a:srgbClr val="4B5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3749039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" y="4343400"/>
            <a:ext cx="411480" cy="347472"/>
          </a:xfrm>
          <a:prstGeom prst="roundRect">
            <a:avLst/>
          </a:prstGeom>
          <a:solidFill>
            <a:srgbClr val="4B5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91639" y="4343400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31720" y="4343400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11879" y="4343400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51960" y="4343400"/>
            <a:ext cx="411480" cy="34747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Available seats can be selected; occupied seats remain unavailable.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1737360"/>
            <a:ext cx="5486400" cy="416052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965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AC84FF"/>
                </a:solidFill>
                <a:latin typeface="Aptos"/>
              </a:defRPr>
            </a:pPr>
            <a:r>
              <a:t>DIGITAL BOARDING PASS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2468880"/>
            <a:ext cx="4800600" cy="242316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6974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0C1930"/>
                </a:solidFill>
                <a:latin typeface="Aptos"/>
              </a:defRPr>
            </a:pPr>
            <a:r>
              <a:t>AEROBOOK  /  BOARDING 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154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C1930"/>
                </a:solidFill>
                <a:latin typeface="Aptos"/>
              </a:defRPr>
            </a:pPr>
            <a:r>
              <a:t>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154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C1930"/>
                </a:solidFill>
                <a:latin typeface="Aptos"/>
              </a:defRPr>
            </a:pPr>
            <a:r>
              <a:t>BOM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749039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24158"/>
                </a:solidFill>
                <a:latin typeface="Aptos"/>
              </a:defRPr>
            </a:pPr>
            <a:r>
              <a:t>PNR • SEAT • GATE • BOARDING GROUP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07124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30568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54012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77456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00900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24344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47788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71232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94676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18120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41564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65008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88452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11896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35340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58784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82228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05672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29116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52560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76004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99448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22892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46336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69780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793224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16668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40112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163556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287000" y="4160520"/>
            <a:ext cx="59436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410444" y="4160520"/>
            <a:ext cx="32004" cy="41148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5166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4B4CD"/>
                </a:solidFill>
                <a:latin typeface="Aptos"/>
              </a:defRPr>
            </a:pPr>
            <a:r>
              <a:t>Booking → seat assignment → CHECKED_IN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09 • AIRPORT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04. Ground staff: manifest and gate boarding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07:00–08:00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6492240" cy="420624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AD5DD"/>
                </a:solidFill>
                <a:latin typeface="Aptos"/>
              </a:defRPr>
            </a:pPr>
            <a:r>
              <a:t>PASSENGER MANIFEST  /  FLIGHT AB-101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14600"/>
            <a:ext cx="5852160" cy="45720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PASSENGER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5176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PNR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517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SEAT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6517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63240"/>
            <a:ext cx="5852160" cy="621792"/>
          </a:xfrm>
          <a:prstGeom prst="round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461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2F6FF"/>
                </a:solidFill>
                <a:latin typeface="Aptos"/>
              </a:defRPr>
            </a:pPr>
            <a:r>
              <a:t>Passenger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24612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F2F6FF"/>
                </a:solidFill>
                <a:latin typeface="Aptos"/>
              </a:defRPr>
            </a:pPr>
            <a:r>
              <a:t>Generated PNR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24612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2F6FF"/>
                </a:solidFill>
                <a:latin typeface="Aptos"/>
              </a:defRPr>
            </a:pPr>
            <a:r>
              <a:t>12A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2461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7DBA4"/>
                </a:solidFill>
                <a:latin typeface="Aptos"/>
              </a:defRPr>
            </a:pPr>
            <a:r>
              <a:t>CHECKED_IN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4B4CD"/>
                </a:solidFill>
                <a:latin typeface="Aptos"/>
              </a:defRPr>
            </a:pPr>
            <a:r>
              <a:t>Find the actual passenger record in your live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737360"/>
            <a:ext cx="3977639" cy="420624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0116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FC15C"/>
                </a:solidFill>
                <a:latin typeface="Aptos"/>
              </a:defRPr>
            </a:pPr>
            <a:r>
              <a:t>GATE 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651760"/>
            <a:ext cx="502920" cy="502920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36408" y="279806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70C1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7706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2F6FF"/>
                </a:solidFill>
                <a:latin typeface="Aptos"/>
              </a:defRPr>
            </a:pPr>
            <a:r>
              <a:t>Find booking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474720"/>
            <a:ext cx="502920" cy="502920"/>
          </a:xfrm>
          <a:prstGeom prst="roundRect">
            <a:avLst/>
          </a:prstGeom>
          <a:solidFill>
            <a:srgbClr val="3A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62102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70C1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593591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2F6FF"/>
                </a:solidFill>
                <a:latin typeface="Aptos"/>
              </a:defRPr>
            </a:pPr>
            <a:r>
              <a:t>Validate 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4297680"/>
            <a:ext cx="502920" cy="502920"/>
          </a:xfrm>
          <a:prstGeom prst="roundRect">
            <a:avLst/>
          </a:prstGeom>
          <a:solidFill>
            <a:srgbClr val="47D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36408" y="444398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70C1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41655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2F6FF"/>
                </a:solidFill>
                <a:latin typeface="Aptos"/>
              </a:defRPr>
            </a:pPr>
            <a:r>
              <a:t>Mark BOARDED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30352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Staff can also update flight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10 •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05. Manage the airline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08:00–09:00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606040" cy="347472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4008" cy="3474720"/>
          </a:xfrm>
          <a:prstGeom prst="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E87FF"/>
                </a:solidFill>
                <a:latin typeface="Aptos"/>
              </a:defRPr>
            </a:pPr>
            <a:r>
              <a:t>01 /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Aircraft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33472"/>
            <a:ext cx="2240280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Review aircraft records, models, seating capacity, and operational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737360"/>
            <a:ext cx="2606040" cy="347472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737360"/>
            <a:ext cx="64008" cy="3474720"/>
          </a:xfrm>
          <a:prstGeom prst="rect">
            <a:avLst/>
          </a:prstGeom>
          <a:solidFill>
            <a:srgbClr val="3A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1901952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AD5DD"/>
                </a:solidFill>
                <a:latin typeface="Aptos"/>
              </a:defRPr>
            </a:pPr>
            <a:r>
              <a:t>02 / SCHEDULES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19456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Routes &amp; flights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633472"/>
            <a:ext cx="2240280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Manage routes, departure and arrival details, aircraft assignment, and base fares.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737360"/>
            <a:ext cx="2606040" cy="347472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737360"/>
            <a:ext cx="64008" cy="3474720"/>
          </a:xfrm>
          <a:prstGeom prst="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901952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FFC15C"/>
                </a:solidFill>
                <a:latin typeface="Aptos"/>
              </a:defRPr>
            </a:pPr>
            <a:r>
              <a:t>03 / PROMOTIONS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19456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Coupons &amp; fares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633472"/>
            <a:ext cx="2240280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Configure promotional codes, usage limits, and fare-related settings.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737360"/>
            <a:ext cx="2560320" cy="347472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737360"/>
            <a:ext cx="64008" cy="3474720"/>
          </a:xfrm>
          <a:prstGeom prst="rect">
            <a:avLst/>
          </a:prstGeom>
          <a:solidFill>
            <a:srgbClr val="A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19019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AC84FF"/>
                </a:solidFill>
                <a:latin typeface="Aptos"/>
              </a:defRPr>
            </a:pPr>
            <a:r>
              <a:t>04 /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19456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Role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2633472"/>
            <a:ext cx="2194560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4B4CD"/>
                </a:solidFill>
                <a:latin typeface="Aptos"/>
              </a:defRPr>
            </a:pPr>
            <a:r>
              <a:t>Review user accounts and administer access according to platform roles.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86400"/>
            <a:ext cx="10927080" cy="530352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632704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2F6FF"/>
                </a:solidFill>
                <a:latin typeface="Aptos"/>
              </a:defRPr>
            </a:pPr>
            <a:r>
              <a:t>The admin workspace supports configuration and oversight across the airline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AD5DD"/>
                </a:solidFill>
                <a:latin typeface="Aptos"/>
              </a:defRPr>
            </a:pPr>
            <a:r>
              <a:t>11 •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2F6FF"/>
                </a:solidFill>
                <a:latin typeface="Aptos"/>
              </a:defRPr>
            </a:pPr>
            <a:r>
              <a:t>A connected airline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22860"/>
          </a:xfrm>
          <a:prstGeom prst="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1097280" cy="292608"/>
          </a:xfrm>
          <a:prstGeom prst="roundRect">
            <a:avLst/>
          </a:prstGeom>
          <a:solidFill>
            <a:srgbClr val="3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43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2F6FF"/>
                </a:solidFill>
                <a:latin typeface="Aptos"/>
              </a:defRPr>
            </a:pPr>
            <a:r>
              <a:t>09:00–10:00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4B4CD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From flight search to airport boarding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3337560" cy="16002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889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3E8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E87FF"/>
                </a:solidFill>
                <a:latin typeface="Aptos"/>
              </a:defRPr>
            </a:pPr>
            <a:r>
              <a:t>MICROSERVICES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37560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Modular Spring Boot services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with service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06040"/>
            <a:ext cx="3337560" cy="16002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7889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47DB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47DBA4"/>
                </a:solidFill>
                <a:latin typeface="Aptos"/>
              </a:defRPr>
            </a:pPr>
            <a:r>
              <a:t>SECURE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337560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JWT-based access and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booking consistency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06040"/>
            <a:ext cx="3337560" cy="1600200"/>
          </a:xfrm>
          <a:prstGeom prst="roundRect">
            <a:avLst/>
          </a:prstGeom>
          <a:solidFill>
            <a:srgbClr val="0F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7889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AC84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AC84FF"/>
                </a:solidFill>
                <a:latin typeface="Aptos"/>
              </a:defRPr>
            </a:pPr>
            <a:r>
              <a:t>CONNECTED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337560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Passenger, ground staff,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and administration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09160"/>
            <a:ext cx="10332720" cy="914400"/>
          </a:xfrm>
          <a:prstGeom prst="roundRect">
            <a:avLst/>
          </a:prstGeom>
          <a:solidFill>
            <a:srgbClr val="15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95604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A4B4CD"/>
                </a:solidFill>
                <a:latin typeface="Aptos"/>
              </a:defRPr>
            </a:pPr>
            <a:r>
              <a:t>Future scope: cloud deployment • Kubernetes • production monitoring • live payment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3AD5DD"/>
                </a:solidFill>
                <a:latin typeface="Aptos"/>
              </a:defRPr>
            </a:pPr>
            <a:r>
              <a:t>Thank you for watching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4B4CD"/>
                </a:solidFill>
                <a:latin typeface="Aptos"/>
              </a:defRPr>
            </a:pPr>
            <a:r>
              <a:t>AEROBOOK  •  CLOUD AIRLINE RESERVATION &amp;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  <a:defRPr sz="800" b="1">
                <a:solidFill>
                  <a:srgbClr val="3AD5DD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