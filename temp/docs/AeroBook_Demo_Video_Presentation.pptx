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AeroBook Demonstration Video Master Presentation.
This presentation deck is synchronized slide-by-slide with your 8-to-10 minute demonstration video.
Each slide contains on-screen visual guidance and full word-for-word voiceover script notes in the speaker notes drawer.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TIMING: 00:00 – 00:45]
TITLE: Introduction &amp; Real-World Aviation Problem
ON-SCREEN ACTION:
Show AeroBook Landing Page (http://localhost:4200). Smoothly hover over the hero search bar, date pickers, and top navigation bar.
============================================================
VOICEOVER SCRIPT (READ VERBATIM):
============================================================
Hello everyone, and welcome. Today, I am excited to demonstrate AeroBook — an enterprise-grade, cloud-native airline flight reservation, passenger services, airport ground operations, and fleet management platform.
In commercial aviation, legacy monolithic booking engines struggle with single points of failure, slow holiday booking spikes, and fragmented airport operations. If an email notification service slows down or a reporting query runs, it should never prevent a passenger from booking a flight or boarding an aircraft.
AeroBook was engineered from the ground up to solve these mission-critical challenges using a distributed, event-driven microservices architecture that guarantees fault isolation, high availability, sub-millisecond perimeter security, and real-time operational consistency.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TIMING: 00:45 – 01:45]
TITLE: Distributed Architecture &amp; 11 Microservices Suite
ON-SCREEN ACTION:
Switch to Netflix Eureka Dashboard (http://localhost:8761). Highlight registered instances: CONFIG-SERVER, AUTH-SERVICE, API-GATEWAY, USER-SERVICE, PAYMENT-SERVICE, CHECK-IN-SERVICE, FLIGHT-SERVICE, BOOKING-SERVICE, FARE-SERVICE, NOTIFICATION-SERVICE.
============================================================
VOICEOVER SCRIPT (READ VERBATIM):
============================================================
Under the hood, AeroBook is powered by 11 backend Java Spring Boot microservices and an Angular 18 Single Page Application.
As you can see right here on our Eureka Service Discovery dashboard:
- At the perimeter, we have our Spring Cloud API Gateway running on Netty at port 8083, which acts as the single reverse proxy and security barrier for all incoming client traffic.
- We have centralized configuration management using Spring Cloud Config Server at port 8080.
- The business tier is decomposed into independent domain services: auth-service for cryptographic JWT security, user-service for traveler profiles, flight-service for flight schedules and fleet management, fare-service for tiered pricing and coupons, booking-service for reservations, payment-service for transactions, check-in-service for airport boarding passes, and notification-service for email delivery.
- Crucially, we enforce the Database-per-Service pattern. AeroBook runs 8 isolated MySQL database schemas, guaranteeing zero cross-database locking between business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TIMING: 01:45 – 02:45]
TITLE: Core Technical Innovations: Concurrency, AMQP &amp; Security
ON-SCREEN ACTION:
Show RabbitMQ Management Console (http://localhost:15672) showing queues (flight.seat.deduct, booking.notification) or display architectural innovation diagrams.
============================================================
VOICEOVER SCRIPT (READ VERBATIM):
============================================================
Building a distributed platform like AeroBook involves resolving real distributed systems challenges. Here are three key innovations we engineered into the platform:
1. High-Concurrency Seat Locking &amp; Anti-Overselling: To prevent race conditions when multiple users book the last available seat simultaneously, our Flight Service implements pessimistic row-level locking using SELECT FOR UPDATE within an isolated transactional boundary. This completely eliminates seat overselling.
2. Hybrid Eventual Consistency with RabbitMQ: Instead of slow, fragile distributed two-phase commits, we leverage RabbitMQ AMQP messaging. When a payment succeeds, the booking service asynchronously publishes seat deduction and e-ticket generation events, keeping microservice response times under 50 milliseconds.
3. Perimeter Authentication with Zero Internal Overhead: The Netty API Gateway decrypts and verifies JWT tokens at the boundary, and mutates downstream request headers with trusted identity claims (X-User-Id and X-User-Role). Downstream microservices evaluate roles instantly without repeated asymmetric cryptographic decodes.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TIMING: 02:45 – 03:30]
TITLE: Multi-Persona Experience &amp; Angular 18 Architecture
ON-SCREEN ACTION:
Return to Angular 18 Frontend (http://localhost:4200). Smoothly scroll through the responsive homepage UI showcasing Tailwind styling and Lucide icons.
============================================================
VOICEOVER SCRIPT (READ VERBATIM):
============================================================
AeroBook delivers a complete multi-persona experience tailored to three distinct roles:
- The Passenger: Real-time flight search, tiered cabin selection, dynamic coupon application, Razorpay payment processing, interactive seat selection, digital PDF e-tickets, and web check-in.
- The Airport Ground Staff: Dedicated airport operations desk for passenger manifests, PNR lookups, real-time boarding pass barcode scanning, flight dispatching, and incident logging.
- The Airline Administrator: Fleet aircraft inventory, route and flight schedule creation, fare matrix controls, and user directory management.
On the frontend, AeroBook is built with Angular 18, utilizing standalone signals, Tailwind CSS, and automated SonarQube static code quality validation with JaCoCo and LCOV coverage across the entire codebase.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TIMING: 03:30 – 04:00]
TITLE: Transition to Live Demo &amp; Environment Topology
ON-SCREEN ACTION:
Hover over the Login button on the top navigation bar. Prepare the credentials table on screen for a smooth live walkthrough transition.
============================================================
VOICEOVER SCRIPT (READ VERBATIM):
============================================================
Now that we have covered the business domain and the distributed architecture, let's jump straight into the live demonstration.
We will walk through the entire lifecycle: from a passenger booking a flight, applying a discount, and checking in, to ground staff boarding the passenger at the departure gate, and finally the administrative control center.
All services are fully active in our local cluster, communicating seamlessly through the Spring Cloud Gateway.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TIMING: 04:00 – 05:30]
TITLE: Live Step 1: Passenger Flight Search &amp; Dynamic Fares
ON-SCREEN ACTION:
1. Log in as priya@gmail.com / Passenger@123.
2. Land on /customer dashboard.
3. Search: DEL to BOM, tomorrow's date, Economy class.
4. Show AB-101 and available seat count.
5. Select flight, enter passenger details, apply coupon WELCOME10, and highlight live fare discount.
============================================================
VOICEOVER SCRIPT (READ VERBATIM):
============================================================
We begin by logging in as our passenger, Priya. Notice how the API Gateway instantly authenticates our JWT and routes us directly to our dedicated Customer Dashboard.
Let's search for a flight from Delhi to Mumbai. The frontend queries our API Gateway, which load-balances the request through Eureka to the Flight Service.
Here are our live scheduled flights. Notice the real-time available seat counter. Let's select flight AB-101.
On the booking configuration screen, our Fare Service dynamically calculates the base fare, Passenger Service Fee (PSF), User Development Fee (UDF), and GST taxes.
Let's enter our passenger details, and now let's apply our promo code: WELCOME10. Instantly, the Fare Service verifies the coupon validity, applies the discount, and recalculates our final payable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TIMING: 05:30 – 06:45]
TITLE: Live Step 2: Razorpay Payment &amp; OpenPDF Ticket
ON-SCREEN ACTION:
1. Click Proceed to Payment.
2. Razorpay checkout modal opens.
3. Complete mock payment simulation and click Pay Now.
4. Show payment confirmation and 8-character PNR (ABK79421).
5. Click View E-Ticket and show OpenPDF official ticket modal and PDF download.
============================================================
VOICEOVER SCRIPT (READ VERBATIM):
============================================================
Now let's proceed to payment. AeroBook integrates seamlessly with Razorpay.
When I click 'Pay', our backend payment service executes cryptographic HMAC-SHA256 signature verification to guarantee transaction authenticity and prevent tampering.
And just like that, the payment is confirmed! Behind the scenes, the Booking Service created a unique 8-character PNR, published an asynchronous event to RabbitMQ, and the Flight Service decremented the seat count in MySQL under row-level lock.
Simultaneously, the Notification Service dispatched an email confirmation with an attached PDF e-ticket. When I click 'View E-Ticket', we get this beautiful, print-ready document generated using OpenPDF, complete with the flight itinerary, fare breakdown, and official airline 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TIMING: 06:45 – 07:45]
TITLE: Live Step 3: Web Check-In &amp; IATA Boarding Pass
ON-SCREEN ACTION:
1. Navigate to Web Check-In.
2. Enter PNR ABK79421.
3. Fuselage seat map renders dynamically.
4. Select window seat 12A and click Confirm Check-In.
5. Show digital Boarding Pass with IATA barcode (BP-X-YYZ), gate number, and seat 12A.
6. Click Download Boarding Pass.
============================================================
VOICEOVER SCRIPT (READ VERBATIM):
============================================================
Now let's complete Web Check-In. Passengers can check in directly from their phone or browser. When I enter our PNR, AeroBook loads an interactive seat map representing the actual aircraft fuselage.
You can see occupied seats disabled in real time. Let's select seat 12A by the window.
When I click 'Confirm Check-In', our check-in-service locks in the seat assignment, updates our status from BOOKED to CHECKED_IN, and generates our digital IATA-compliant Boarding Pass.
Notice the generated high-resolution barcode, terminal gate, boarding group, and sequence number. The passenger is now 100% ready for travel.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TIMING: 07:45 – 08:45]
TITLE: Live Step 4: Airport Ground Operations &amp; Gate Scanner
ON-SCREEN ACTION:
1. Log out and log in as staff@aerobook.com / Staff@123.
2. Land on Staff Dashboard (/staff).
3. In Passenger Manifest, search for flight AB-101. Locate Priya's record with seat 12A.
4. Click Simulate Gate Scan / Board Passenger. Show status updating to BOARDED.
5. In Flight Status Dispatcher, update flight status from SCHEDULED to BOARDING.
============================================================
VOICEOVER SCRIPT (READ VERBATIM):
============================================================
Now let's switch personas to the airport terminal. I'll log in as airport ground staff using staff@aerobook.com.
Notice that our role-based security immediately recognizes ROLE_STAFF and directs us to the airport ground operations dashboard. Here, airport agents have real-time visibility across all flights, passenger manifests, and baggage counters.
Let's look up our flight AB-101. Here is our passenger, Priya, checked into seat 12A.
At the departure gate, the agent scans the boarding pass barcode. With one click, the check-in service validates the ticket and marks the passenger as BOARDED.
The staff member can also update the operational flight status — let's switch flight AB-101 from SCHEDULED to BOARDING. This status immediately propagates across the entire platform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TIMING: 08:45 – 09:30]
TITLE: Live Step 5: Airline Administration &amp; Fleet Control
ON-SCREEN ACTION:
1. Log out and log in as admin@aerobook.com / Admin@123.
2. Land on Admin Dashboard (/admin).
3. Navigate through tabs: Fleet Management (Boeing 737, Airbus A320), Flight Schedules (view/create schedules), Coupons &amp; Campaigns (WELCOME10), and User Management directory.
============================================================
VOICEOVER SCRIPT (READ VERBATIM):
============================================================
Finally, let's log in as the System Administrator using admin@aerobook.com.
The Admin Control Center gives airline executives full command over the enterprise:
- Under Fleet Management, admins configure commercial aircraft, cabin seating layouts, and operational aircraft statuses.
- Under Flight Schedules, routes, departure/arrival timestamps, aircraft assignments, and base fares can be scheduled dynamically.
- Under Coupons &amp; Promotions, marketing campaigns and discount codes can be created with usage limits and expiry dates.
- And under User Management, administrators can audit credentials, verify accounts, and manage role permissions across the entire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TIMING: 09:30 – 10:00]
TITLE: Conclusion &amp; Technical Wrap-Up
ON-SCREEN ACTION:
Switch back to the AeroBook Home Screen or show the Eureka Dashboard with all 10 healthy microservices active. Deliver confident, professional closing statement.
============================================================
VOICEOVER SCRIPT (READ VERBATIM):
============================================================
To summarize: AeroBook demonstrates how modern cloud-native architectures solve real-world aviation challenges:
- 11 decoupled Spring Boot microservices communicating via Netflix Eureka and Netty API Gateway.
- Event-driven eventual consistency powered by RabbitMQ.
- Zero overselling through row-level pessimistic locking.
- Enterprise security with JWT perimeter validation and BCrypt hashing.
- And a responsive, accessible Angular 18 frontend catering to Passengers, Staff, and Administrators alike.
Thank you very much for watching, and I am now open to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D1E"/>
        </a:solidFill>
      </p:bgPr>
    </p:bg>
    <p:spTree>
      <p:nvGrpSpPr>
        <p:cNvPr id="1" name=""/>
        <p:cNvGrpSpPr/>
        <p:nvPr/>
      </p:nvGrpSpPr>
      <p:grpSpPr>
        <a:xfrm>
          <a:off x="0" y="0"/>
          <a:ext cx="0" cy="0"/>
          <a:chOff x="0" y="0"/>
          <a:chExt cx="0" cy="0"/>
        </a:xfrm>
      </p:grpSpPr>
      <p:sp>
        <p:nvSpPr>
          <p:cNvPr id="2" name="Text 0"/>
          <p:cNvSpPr/>
          <p:nvPr/>
        </p:nvSpPr>
        <p:spPr>
          <a:xfrm>
            <a:off x="731520" y="914400"/>
            <a:ext cx="1069848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AeroBook Demonstration Video Presentation</a:t>
            </a:r>
            <a:endParaRPr lang="en-US" sz="2800" dirty="0"/>
          </a:p>
        </p:txBody>
      </p:sp>
      <p:sp>
        <p:nvSpPr>
          <p:cNvPr id="3" name="Text 1"/>
          <p:cNvSpPr/>
          <p:nvPr/>
        </p:nvSpPr>
        <p:spPr>
          <a:xfrm>
            <a:off x="731520" y="1645920"/>
            <a:ext cx="10698480" cy="457200"/>
          </a:xfrm>
          <a:prstGeom prst="rect">
            <a:avLst/>
          </a:prstGeom>
          <a:noFill/>
          <a:ln/>
        </p:spPr>
        <p:txBody>
          <a:bodyPr wrap="square" rtlCol="0" anchor="ctr"/>
          <a:lstStyle/>
          <a:p>
            <a:pPr indent="0" marL="0">
              <a:buNone/>
            </a:pPr>
            <a:r>
              <a:rPr lang="en-US" sz="1600" b="1" dirty="0">
                <a:solidFill>
                  <a:srgbClr val="38BDF8"/>
                </a:solidFill>
                <a:latin typeface="Arial" pitchFamily="34" charset="0"/>
                <a:ea typeface="Arial" pitchFamily="34" charset="-122"/>
                <a:cs typeface="Arial" pitchFamily="34" charset="-120"/>
              </a:rPr>
              <a:t>Synchronized 8–10 Minute Presentation Deck &amp; Speaker Script</a:t>
            </a:r>
            <a:endParaRPr lang="en-US" sz="1600" dirty="0"/>
          </a:p>
        </p:txBody>
      </p:sp>
      <p:sp>
        <p:nvSpPr>
          <p:cNvPr id="4" name="Text 2"/>
          <p:cNvSpPr/>
          <p:nvPr/>
        </p:nvSpPr>
        <p:spPr>
          <a:xfrm>
            <a:off x="731520" y="2103120"/>
            <a:ext cx="10698480" cy="365760"/>
          </a:xfrm>
          <a:prstGeom prst="rect">
            <a:avLst/>
          </a:prstGeom>
          <a:noFill/>
          <a:ln/>
        </p:spPr>
        <p:txBody>
          <a:bodyPr wrap="square" rtlCol="0" anchor="ctr"/>
          <a:lstStyle/>
          <a:p>
            <a:pPr indent="0" marL="0">
              <a:buNone/>
            </a:pPr>
            <a:r>
              <a:rPr lang="en-US" sz="1200" dirty="0">
                <a:solidFill>
                  <a:srgbClr val="94A3B8"/>
                </a:solidFill>
                <a:latin typeface="Arial" pitchFamily="34" charset="0"/>
                <a:ea typeface="Arial" pitchFamily="34" charset="-122"/>
                <a:cs typeface="Arial" pitchFamily="34" charset="-120"/>
              </a:rPr>
              <a:t>Every slide is synchronized with on-screen visual actions and word-for-word voiceover script notes.</a:t>
            </a:r>
            <a:endParaRPr lang="en-US" sz="1200" dirty="0"/>
          </a:p>
        </p:txBody>
      </p:sp>
      <p:sp>
        <p:nvSpPr>
          <p:cNvPr id="5" name="Shape 3"/>
          <p:cNvSpPr/>
          <p:nvPr/>
        </p:nvSpPr>
        <p:spPr>
          <a:xfrm>
            <a:off x="731520" y="2926080"/>
            <a:ext cx="2560320" cy="1463040"/>
          </a:xfrm>
          <a:prstGeom prst="rect">
            <a:avLst/>
          </a:prstGeom>
          <a:solidFill>
            <a:srgbClr val="0F172A"/>
          </a:solidFill>
          <a:ln w="19050">
            <a:solidFill>
              <a:srgbClr val="38BDF8"/>
            </a:solidFill>
            <a:prstDash val="solid"/>
          </a:ln>
        </p:spPr>
      </p:sp>
      <p:sp>
        <p:nvSpPr>
          <p:cNvPr id="6" name="Text 4"/>
          <p:cNvSpPr/>
          <p:nvPr/>
        </p:nvSpPr>
        <p:spPr>
          <a:xfrm>
            <a:off x="868680" y="3108960"/>
            <a:ext cx="2286000" cy="274320"/>
          </a:xfrm>
          <a:prstGeom prst="rect">
            <a:avLst/>
          </a:prstGeom>
          <a:noFill/>
          <a:ln/>
        </p:spPr>
        <p:txBody>
          <a:bodyPr wrap="square" rtlCol="0" anchor="ctr"/>
          <a:lstStyle/>
          <a:p>
            <a:pPr indent="0" marL="0">
              <a:buNone/>
            </a:pPr>
            <a:r>
              <a:rPr lang="en-US" sz="900" b="1" dirty="0">
                <a:solidFill>
                  <a:srgbClr val="38BDF8"/>
                </a:solidFill>
                <a:latin typeface="Arial" pitchFamily="34" charset="0"/>
                <a:ea typeface="Arial" pitchFamily="34" charset="-122"/>
                <a:cs typeface="Arial" pitchFamily="34" charset="-120"/>
              </a:rPr>
              <a:t>TARGET VIDEO DURATION</a:t>
            </a:r>
            <a:endParaRPr lang="en-US" sz="900" dirty="0"/>
          </a:p>
        </p:txBody>
      </p:sp>
      <p:sp>
        <p:nvSpPr>
          <p:cNvPr id="7" name="Text 5"/>
          <p:cNvSpPr/>
          <p:nvPr/>
        </p:nvSpPr>
        <p:spPr>
          <a:xfrm>
            <a:off x="868680" y="3474720"/>
            <a:ext cx="2286000" cy="64008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8 – 10 Minutes</a:t>
            </a:r>
            <a:endParaRPr lang="en-US" sz="1400" dirty="0"/>
          </a:p>
        </p:txBody>
      </p:sp>
      <p:sp>
        <p:nvSpPr>
          <p:cNvPr id="8" name="Shape 6"/>
          <p:cNvSpPr/>
          <p:nvPr/>
        </p:nvSpPr>
        <p:spPr>
          <a:xfrm>
            <a:off x="3429000" y="2926080"/>
            <a:ext cx="2560320" cy="1463040"/>
          </a:xfrm>
          <a:prstGeom prst="rect">
            <a:avLst/>
          </a:prstGeom>
          <a:solidFill>
            <a:srgbClr val="0F172A"/>
          </a:solidFill>
          <a:ln w="19050">
            <a:solidFill>
              <a:srgbClr val="10B981"/>
            </a:solidFill>
            <a:prstDash val="solid"/>
          </a:ln>
        </p:spPr>
      </p:sp>
      <p:sp>
        <p:nvSpPr>
          <p:cNvPr id="9" name="Text 7"/>
          <p:cNvSpPr/>
          <p:nvPr/>
        </p:nvSpPr>
        <p:spPr>
          <a:xfrm>
            <a:off x="3566160" y="3108960"/>
            <a:ext cx="2286000" cy="274320"/>
          </a:xfrm>
          <a:prstGeom prst="rect">
            <a:avLst/>
          </a:prstGeom>
          <a:noFill/>
          <a:ln/>
        </p:spPr>
        <p:txBody>
          <a:bodyPr wrap="square" rtlCol="0" anchor="ctr"/>
          <a:lstStyle/>
          <a:p>
            <a:pPr indent="0" marL="0">
              <a:buNone/>
            </a:pPr>
            <a:r>
              <a:rPr lang="en-US" sz="900" b="1" dirty="0">
                <a:solidFill>
                  <a:srgbClr val="10B981"/>
                </a:solidFill>
                <a:latin typeface="Arial" pitchFamily="34" charset="0"/>
                <a:ea typeface="Arial" pitchFamily="34" charset="-122"/>
                <a:cs typeface="Arial" pitchFamily="34" charset="-120"/>
              </a:rPr>
              <a:t>BACKEND MICROSERVICES</a:t>
            </a:r>
            <a:endParaRPr lang="en-US" sz="900" dirty="0"/>
          </a:p>
        </p:txBody>
      </p:sp>
      <p:sp>
        <p:nvSpPr>
          <p:cNvPr id="10" name="Text 8"/>
          <p:cNvSpPr/>
          <p:nvPr/>
        </p:nvSpPr>
        <p:spPr>
          <a:xfrm>
            <a:off x="3566160" y="3474720"/>
            <a:ext cx="2286000" cy="64008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11 Spring Boot Services</a:t>
            </a:r>
            <a:endParaRPr lang="en-US" sz="1400" dirty="0"/>
          </a:p>
        </p:txBody>
      </p:sp>
      <p:sp>
        <p:nvSpPr>
          <p:cNvPr id="11" name="Shape 9"/>
          <p:cNvSpPr/>
          <p:nvPr/>
        </p:nvSpPr>
        <p:spPr>
          <a:xfrm>
            <a:off x="6126480" y="2926080"/>
            <a:ext cx="2560320" cy="1463040"/>
          </a:xfrm>
          <a:prstGeom prst="rect">
            <a:avLst/>
          </a:prstGeom>
          <a:solidFill>
            <a:srgbClr val="0F172A"/>
          </a:solidFill>
          <a:ln w="19050">
            <a:solidFill>
              <a:srgbClr val="F59E0B"/>
            </a:solidFill>
            <a:prstDash val="solid"/>
          </a:ln>
        </p:spPr>
      </p:sp>
      <p:sp>
        <p:nvSpPr>
          <p:cNvPr id="12" name="Text 10"/>
          <p:cNvSpPr/>
          <p:nvPr/>
        </p:nvSpPr>
        <p:spPr>
          <a:xfrm>
            <a:off x="6263640" y="3108960"/>
            <a:ext cx="2286000" cy="274320"/>
          </a:xfrm>
          <a:prstGeom prst="rect">
            <a:avLst/>
          </a:prstGeom>
          <a:noFill/>
          <a:ln/>
        </p:spPr>
        <p:txBody>
          <a:bodyPr wrap="square" rtlCol="0" anchor="ctr"/>
          <a:lstStyle/>
          <a:p>
            <a:pPr indent="0" marL="0">
              <a:buNone/>
            </a:pPr>
            <a:r>
              <a:rPr lang="en-US" sz="900" b="1" dirty="0">
                <a:solidFill>
                  <a:srgbClr val="F59E0B"/>
                </a:solidFill>
                <a:latin typeface="Arial" pitchFamily="34" charset="0"/>
                <a:ea typeface="Arial" pitchFamily="34" charset="-122"/>
                <a:cs typeface="Arial" pitchFamily="34" charset="-120"/>
              </a:rPr>
              <a:t>FRONTEND TECHNOLOGY</a:t>
            </a:r>
            <a:endParaRPr lang="en-US" sz="900" dirty="0"/>
          </a:p>
        </p:txBody>
      </p:sp>
      <p:sp>
        <p:nvSpPr>
          <p:cNvPr id="13" name="Text 11"/>
          <p:cNvSpPr/>
          <p:nvPr/>
        </p:nvSpPr>
        <p:spPr>
          <a:xfrm>
            <a:off x="6263640" y="3474720"/>
            <a:ext cx="2286000" cy="64008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Angular 18 SPA</a:t>
            </a:r>
            <a:endParaRPr lang="en-US" sz="1400" dirty="0"/>
          </a:p>
        </p:txBody>
      </p:sp>
      <p:sp>
        <p:nvSpPr>
          <p:cNvPr id="14" name="Shape 12"/>
          <p:cNvSpPr/>
          <p:nvPr/>
        </p:nvSpPr>
        <p:spPr>
          <a:xfrm>
            <a:off x="8823960" y="2926080"/>
            <a:ext cx="2560320" cy="1463040"/>
          </a:xfrm>
          <a:prstGeom prst="rect">
            <a:avLst/>
          </a:prstGeom>
          <a:solidFill>
            <a:srgbClr val="0F172A"/>
          </a:solidFill>
          <a:ln w="19050">
            <a:solidFill>
              <a:srgbClr val="8B5CF6"/>
            </a:solidFill>
            <a:prstDash val="solid"/>
          </a:ln>
        </p:spPr>
      </p:sp>
      <p:sp>
        <p:nvSpPr>
          <p:cNvPr id="15" name="Text 13"/>
          <p:cNvSpPr/>
          <p:nvPr/>
        </p:nvSpPr>
        <p:spPr>
          <a:xfrm>
            <a:off x="8961120" y="3108960"/>
            <a:ext cx="2286000" cy="274320"/>
          </a:xfrm>
          <a:prstGeom prst="rect">
            <a:avLst/>
          </a:prstGeom>
          <a:noFill/>
          <a:ln/>
        </p:spPr>
        <p:txBody>
          <a:bodyPr wrap="square" rtlCol="0" anchor="ctr"/>
          <a:lstStyle/>
          <a:p>
            <a:pPr indent="0" marL="0">
              <a:buNone/>
            </a:pPr>
            <a:r>
              <a:rPr lang="en-US" sz="900" b="1" dirty="0">
                <a:solidFill>
                  <a:srgbClr val="8B5CF6"/>
                </a:solidFill>
                <a:latin typeface="Arial" pitchFamily="34" charset="0"/>
                <a:ea typeface="Arial" pitchFamily="34" charset="-122"/>
                <a:cs typeface="Arial" pitchFamily="34" charset="-120"/>
              </a:rPr>
              <a:t>DATABASE ISOLATION</a:t>
            </a:r>
            <a:endParaRPr lang="en-US" sz="900" dirty="0"/>
          </a:p>
        </p:txBody>
      </p:sp>
      <p:sp>
        <p:nvSpPr>
          <p:cNvPr id="16" name="Text 14"/>
          <p:cNvSpPr/>
          <p:nvPr/>
        </p:nvSpPr>
        <p:spPr>
          <a:xfrm>
            <a:off x="8961120" y="3474720"/>
            <a:ext cx="2286000" cy="64008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8 Isolated MySQL DBs</a:t>
            </a:r>
            <a:endParaRPr lang="en-US" sz="1400" dirty="0"/>
          </a:p>
        </p:txBody>
      </p:sp>
      <p:sp>
        <p:nvSpPr>
          <p:cNvPr id="17" name="Text 15"/>
          <p:cNvSpPr/>
          <p:nvPr/>
        </p:nvSpPr>
        <p:spPr>
          <a:xfrm>
            <a:off x="731520" y="4754880"/>
            <a:ext cx="10698480" cy="274320"/>
          </a:xfrm>
          <a:prstGeom prst="rect">
            <a:avLst/>
          </a:prstGeom>
          <a:noFill/>
          <a:ln/>
        </p:spPr>
        <p:txBody>
          <a:bodyPr wrap="square" rtlCol="0" anchor="ctr"/>
          <a:lstStyle/>
          <a:p>
            <a:pPr indent="0" marL="0">
              <a:buNone/>
            </a:pPr>
            <a:r>
              <a:rPr lang="en-US" sz="1000" b="1" dirty="0">
                <a:solidFill>
                  <a:srgbClr val="64748B"/>
                </a:solidFill>
                <a:latin typeface="Arial" pitchFamily="34" charset="0"/>
                <a:ea typeface="Arial" pitchFamily="34" charset="-122"/>
                <a:cs typeface="Arial" pitchFamily="34" charset="-120"/>
              </a:rPr>
              <a:t>DEMONSTRATION COVERAGE ACROSS ALL 3 PLATFORM ROLES:</a:t>
            </a:r>
            <a:endParaRPr lang="en-US" sz="1000" dirty="0"/>
          </a:p>
        </p:txBody>
      </p:sp>
      <p:sp>
        <p:nvSpPr>
          <p:cNvPr id="18" name="Shape 16"/>
          <p:cNvSpPr/>
          <p:nvPr/>
        </p:nvSpPr>
        <p:spPr>
          <a:xfrm>
            <a:off x="731520" y="5120640"/>
            <a:ext cx="10698480" cy="402336"/>
          </a:xfrm>
          <a:prstGeom prst="rect">
            <a:avLst/>
          </a:prstGeom>
          <a:solidFill>
            <a:srgbClr val="1E293B"/>
          </a:solidFill>
          <a:ln w="12700">
            <a:solidFill>
              <a:srgbClr val="334155"/>
            </a:solidFill>
            <a:prstDash val="solid"/>
          </a:ln>
        </p:spPr>
      </p:sp>
      <p:sp>
        <p:nvSpPr>
          <p:cNvPr id="19" name="Text 17"/>
          <p:cNvSpPr/>
          <p:nvPr/>
        </p:nvSpPr>
        <p:spPr>
          <a:xfrm>
            <a:off x="914400" y="5166360"/>
            <a:ext cx="2286000" cy="32004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1. Passenger Persona</a:t>
            </a:r>
            <a:endParaRPr lang="en-US" sz="1000" dirty="0"/>
          </a:p>
        </p:txBody>
      </p:sp>
      <p:sp>
        <p:nvSpPr>
          <p:cNvPr id="20" name="Text 18"/>
          <p:cNvSpPr/>
          <p:nvPr/>
        </p:nvSpPr>
        <p:spPr>
          <a:xfrm>
            <a:off x="3291840" y="5166360"/>
            <a:ext cx="2011680" cy="320040"/>
          </a:xfrm>
          <a:prstGeom prst="rect">
            <a:avLst/>
          </a:prstGeom>
          <a:noFill/>
          <a:ln/>
        </p:spPr>
        <p:txBody>
          <a:bodyPr wrap="square" rtlCol="0" anchor="ctr"/>
          <a:lstStyle/>
          <a:p>
            <a:pPr indent="0" marL="0">
              <a:buNone/>
            </a:pPr>
            <a:r>
              <a:rPr lang="en-US" sz="900" dirty="0">
                <a:solidFill>
                  <a:srgbClr val="FDE68A"/>
                </a:solidFill>
                <a:latin typeface="Courier New" pitchFamily="34" charset="0"/>
                <a:ea typeface="Courier New" pitchFamily="34" charset="-122"/>
                <a:cs typeface="Courier New" pitchFamily="34" charset="-120"/>
              </a:rPr>
              <a:t>priya@gmail.com</a:t>
            </a:r>
            <a:endParaRPr lang="en-US" sz="900" dirty="0"/>
          </a:p>
        </p:txBody>
      </p:sp>
      <p:sp>
        <p:nvSpPr>
          <p:cNvPr id="21" name="Text 19"/>
          <p:cNvSpPr/>
          <p:nvPr/>
        </p:nvSpPr>
        <p:spPr>
          <a:xfrm>
            <a:off x="5394960" y="5166360"/>
            <a:ext cx="5852160" cy="3200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Search Flights -&gt; Fare Itemization -&gt; Razorpay Modal -&gt; PDF Ticket -&gt; Web Check-In</a:t>
            </a:r>
            <a:endParaRPr lang="en-US" sz="900" dirty="0"/>
          </a:p>
        </p:txBody>
      </p:sp>
      <p:sp>
        <p:nvSpPr>
          <p:cNvPr id="22" name="Shape 20"/>
          <p:cNvSpPr/>
          <p:nvPr/>
        </p:nvSpPr>
        <p:spPr>
          <a:xfrm>
            <a:off x="731520" y="5596128"/>
            <a:ext cx="10698480" cy="402336"/>
          </a:xfrm>
          <a:prstGeom prst="rect">
            <a:avLst/>
          </a:prstGeom>
          <a:solidFill>
            <a:srgbClr val="1E293B"/>
          </a:solidFill>
          <a:ln w="12700">
            <a:solidFill>
              <a:srgbClr val="334155"/>
            </a:solidFill>
            <a:prstDash val="solid"/>
          </a:ln>
        </p:spPr>
      </p:sp>
      <p:sp>
        <p:nvSpPr>
          <p:cNvPr id="23" name="Text 21"/>
          <p:cNvSpPr/>
          <p:nvPr/>
        </p:nvSpPr>
        <p:spPr>
          <a:xfrm>
            <a:off x="914400" y="5641848"/>
            <a:ext cx="2286000" cy="32004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2. Ground Staff Persona</a:t>
            </a:r>
            <a:endParaRPr lang="en-US" sz="1000" dirty="0"/>
          </a:p>
        </p:txBody>
      </p:sp>
      <p:sp>
        <p:nvSpPr>
          <p:cNvPr id="24" name="Text 22"/>
          <p:cNvSpPr/>
          <p:nvPr/>
        </p:nvSpPr>
        <p:spPr>
          <a:xfrm>
            <a:off x="3291840" y="5641848"/>
            <a:ext cx="2011680" cy="320040"/>
          </a:xfrm>
          <a:prstGeom prst="rect">
            <a:avLst/>
          </a:prstGeom>
          <a:noFill/>
          <a:ln/>
        </p:spPr>
        <p:txBody>
          <a:bodyPr wrap="square" rtlCol="0" anchor="ctr"/>
          <a:lstStyle/>
          <a:p>
            <a:pPr indent="0" marL="0">
              <a:buNone/>
            </a:pPr>
            <a:r>
              <a:rPr lang="en-US" sz="900" dirty="0">
                <a:solidFill>
                  <a:srgbClr val="FDE68A"/>
                </a:solidFill>
                <a:latin typeface="Courier New" pitchFamily="34" charset="0"/>
                <a:ea typeface="Courier New" pitchFamily="34" charset="-122"/>
                <a:cs typeface="Courier New" pitchFamily="34" charset="-120"/>
              </a:rPr>
              <a:t>staff@aerobook.com</a:t>
            </a:r>
            <a:endParaRPr lang="en-US" sz="900" dirty="0"/>
          </a:p>
        </p:txBody>
      </p:sp>
      <p:sp>
        <p:nvSpPr>
          <p:cNvPr id="25" name="Text 23"/>
          <p:cNvSpPr/>
          <p:nvPr/>
        </p:nvSpPr>
        <p:spPr>
          <a:xfrm>
            <a:off x="5394960" y="5641848"/>
            <a:ext cx="5852160" cy="3200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Passenger Manifest -&gt; PNR Lookup -&gt; Gate Barcode Scanner -&gt; Flight Dispatcher</a:t>
            </a:r>
            <a:endParaRPr lang="en-US" sz="900" dirty="0"/>
          </a:p>
        </p:txBody>
      </p:sp>
      <p:sp>
        <p:nvSpPr>
          <p:cNvPr id="26" name="Shape 24"/>
          <p:cNvSpPr/>
          <p:nvPr/>
        </p:nvSpPr>
        <p:spPr>
          <a:xfrm>
            <a:off x="731520" y="6071616"/>
            <a:ext cx="10698480" cy="402336"/>
          </a:xfrm>
          <a:prstGeom prst="rect">
            <a:avLst/>
          </a:prstGeom>
          <a:solidFill>
            <a:srgbClr val="1E293B"/>
          </a:solidFill>
          <a:ln w="12700">
            <a:solidFill>
              <a:srgbClr val="334155"/>
            </a:solidFill>
            <a:prstDash val="solid"/>
          </a:ln>
        </p:spPr>
      </p:sp>
      <p:sp>
        <p:nvSpPr>
          <p:cNvPr id="27" name="Text 25"/>
          <p:cNvSpPr/>
          <p:nvPr/>
        </p:nvSpPr>
        <p:spPr>
          <a:xfrm>
            <a:off x="914400" y="6117336"/>
            <a:ext cx="2286000" cy="32004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3. Airline Administrator</a:t>
            </a:r>
            <a:endParaRPr lang="en-US" sz="1000" dirty="0"/>
          </a:p>
        </p:txBody>
      </p:sp>
      <p:sp>
        <p:nvSpPr>
          <p:cNvPr id="28" name="Text 26"/>
          <p:cNvSpPr/>
          <p:nvPr/>
        </p:nvSpPr>
        <p:spPr>
          <a:xfrm>
            <a:off x="3291840" y="6117336"/>
            <a:ext cx="2011680" cy="320040"/>
          </a:xfrm>
          <a:prstGeom prst="rect">
            <a:avLst/>
          </a:prstGeom>
          <a:noFill/>
          <a:ln/>
        </p:spPr>
        <p:txBody>
          <a:bodyPr wrap="square" rtlCol="0" anchor="ctr"/>
          <a:lstStyle/>
          <a:p>
            <a:pPr indent="0" marL="0">
              <a:buNone/>
            </a:pPr>
            <a:r>
              <a:rPr lang="en-US" sz="900" dirty="0">
                <a:solidFill>
                  <a:srgbClr val="FDE68A"/>
                </a:solidFill>
                <a:latin typeface="Courier New" pitchFamily="34" charset="0"/>
                <a:ea typeface="Courier New" pitchFamily="34" charset="-122"/>
                <a:cs typeface="Courier New" pitchFamily="34" charset="-120"/>
              </a:rPr>
              <a:t>admin@aerobook.com</a:t>
            </a:r>
            <a:endParaRPr lang="en-US" sz="900" dirty="0"/>
          </a:p>
        </p:txBody>
      </p:sp>
      <p:sp>
        <p:nvSpPr>
          <p:cNvPr id="29" name="Text 27"/>
          <p:cNvSpPr/>
          <p:nvPr/>
        </p:nvSpPr>
        <p:spPr>
          <a:xfrm>
            <a:off x="5394960" y="6117336"/>
            <a:ext cx="5852160" cy="3200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Aircraft Fleet -&gt; Route Scheduler -&gt; Promotional Coupons -&gt; User RBAC Audit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D1E"/>
        </a:solidFill>
      </p:bgPr>
    </p:bg>
    <p:spTree>
      <p:nvGrpSpPr>
        <p:cNvPr id="1" name=""/>
        <p:cNvGrpSpPr/>
        <p:nvPr/>
      </p:nvGrpSpPr>
      <p:grpSpPr>
        <a:xfrm>
          <a:off x="0" y="0"/>
          <a:ext cx="0" cy="0"/>
          <a:chOff x="0" y="0"/>
          <a:chExt cx="0" cy="0"/>
        </a:xfrm>
      </p:grpSpPr>
      <p:sp>
        <p:nvSpPr>
          <p:cNvPr id="2" name="Shape 0"/>
          <p:cNvSpPr/>
          <p:nvPr/>
        </p:nvSpPr>
        <p:spPr>
          <a:xfrm>
            <a:off x="731520" y="365760"/>
            <a:ext cx="10698480" cy="822960"/>
          </a:xfrm>
          <a:prstGeom prst="rect">
            <a:avLst/>
          </a:prstGeom>
          <a:solidFill>
            <a:srgbClr val="0F172A"/>
          </a:solidFill>
          <a:ln w="15240">
            <a:solidFill>
              <a:srgbClr val="2563EB"/>
            </a:solidFill>
            <a:prstDash val="solid"/>
          </a:ln>
        </p:spPr>
      </p:sp>
      <p:sp>
        <p:nvSpPr>
          <p:cNvPr id="3" name="Text 1"/>
          <p:cNvSpPr/>
          <p:nvPr/>
        </p:nvSpPr>
        <p:spPr>
          <a:xfrm>
            <a:off x="914400" y="438912"/>
            <a:ext cx="5486400" cy="228600"/>
          </a:xfrm>
          <a:prstGeom prst="rect">
            <a:avLst/>
          </a:prstGeom>
          <a:noFill/>
          <a:ln/>
        </p:spPr>
        <p:txBody>
          <a:bodyPr wrap="square" rtlCol="0" anchor="ctr"/>
          <a:lstStyle/>
          <a:p>
            <a:pPr indent="0" marL="0">
              <a:buNone/>
            </a:pPr>
            <a:r>
              <a:rPr lang="en-US" sz="900" b="1" dirty="0">
                <a:solidFill>
                  <a:srgbClr val="38BDF8"/>
                </a:solidFill>
                <a:latin typeface="Arial" pitchFamily="34" charset="0"/>
                <a:ea typeface="Arial" pitchFamily="34" charset="-122"/>
                <a:cs typeface="Arial" pitchFamily="34" charset="-120"/>
              </a:rPr>
              <a:t>SLIDE 1 OF 11  |  00:00 – 00:45</a:t>
            </a:r>
            <a:endParaRPr lang="en-US" sz="900" dirty="0"/>
          </a:p>
        </p:txBody>
      </p:sp>
      <p:sp>
        <p:nvSpPr>
          <p:cNvPr id="4" name="Text 2"/>
          <p:cNvSpPr/>
          <p:nvPr/>
        </p:nvSpPr>
        <p:spPr>
          <a:xfrm>
            <a:off x="914400" y="658368"/>
            <a:ext cx="82296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Introduction &amp; Real-World Aviation Problem</a:t>
            </a:r>
            <a:endParaRPr lang="en-US" sz="1600" dirty="0"/>
          </a:p>
        </p:txBody>
      </p:sp>
      <p:sp>
        <p:nvSpPr>
          <p:cNvPr id="5" name="Text 3"/>
          <p:cNvSpPr/>
          <p:nvPr/>
        </p:nvSpPr>
        <p:spPr>
          <a:xfrm>
            <a:off x="8686800" y="502920"/>
            <a:ext cx="2560320" cy="274320"/>
          </a:xfrm>
          <a:prstGeom prst="rect">
            <a:avLst/>
          </a:prstGeom>
          <a:noFill/>
          <a:ln/>
        </p:spPr>
        <p:txBody>
          <a:bodyPr wrap="square"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PART 1: OVERVIEW &amp; ARCHITECTURE</a:t>
            </a:r>
            <a:endParaRPr lang="en-US" sz="800" dirty="0"/>
          </a:p>
        </p:txBody>
      </p:sp>
      <p:sp>
        <p:nvSpPr>
          <p:cNvPr id="6" name="Shape 4"/>
          <p:cNvSpPr/>
          <p:nvPr/>
        </p:nvSpPr>
        <p:spPr>
          <a:xfrm>
            <a:off x="731520" y="1325880"/>
            <a:ext cx="6583680" cy="3337560"/>
          </a:xfrm>
          <a:prstGeom prst="rect">
            <a:avLst/>
          </a:prstGeom>
          <a:solidFill>
            <a:srgbClr val="0F172A"/>
          </a:solidFill>
          <a:ln w="12700">
            <a:solidFill>
              <a:srgbClr val="334155"/>
            </a:solidFill>
            <a:prstDash val="solid"/>
          </a:ln>
        </p:spPr>
      </p:sp>
      <p:sp>
        <p:nvSpPr>
          <p:cNvPr id="7" name="Text 5"/>
          <p:cNvSpPr/>
          <p:nvPr/>
        </p:nvSpPr>
        <p:spPr>
          <a:xfrm>
            <a:off x="914400" y="1417320"/>
            <a:ext cx="6217920" cy="27432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KEY ARCHITECTURAL &amp; TECHNICAL HIGHLIGHTS</a:t>
            </a:r>
            <a:endParaRPr lang="en-US" sz="1000" dirty="0"/>
          </a:p>
        </p:txBody>
      </p:sp>
      <p:sp>
        <p:nvSpPr>
          <p:cNvPr id="8" name="Text 6"/>
          <p:cNvSpPr/>
          <p:nvPr/>
        </p:nvSpPr>
        <p:spPr>
          <a:xfrm>
            <a:off x="914400" y="17830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Industry Challenge:</a:t>
            </a:r>
            <a:endParaRPr lang="en-US" sz="1000" dirty="0"/>
          </a:p>
        </p:txBody>
      </p:sp>
      <p:sp>
        <p:nvSpPr>
          <p:cNvPr id="9" name="Text 7"/>
          <p:cNvSpPr/>
          <p:nvPr/>
        </p:nvSpPr>
        <p:spPr>
          <a:xfrm>
            <a:off x="1188720" y="20116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Legacy monoliths suffer from single-point-of-failure risks and fragile seasonal scaling.</a:t>
            </a:r>
            <a:endParaRPr lang="en-US" sz="950" dirty="0"/>
          </a:p>
        </p:txBody>
      </p:sp>
      <p:sp>
        <p:nvSpPr>
          <p:cNvPr id="10" name="Text 8"/>
          <p:cNvSpPr/>
          <p:nvPr/>
        </p:nvSpPr>
        <p:spPr>
          <a:xfrm>
            <a:off x="914400" y="24688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Fault Isolation Principle:</a:t>
            </a:r>
            <a:endParaRPr lang="en-US" sz="1000" dirty="0"/>
          </a:p>
        </p:txBody>
      </p:sp>
      <p:sp>
        <p:nvSpPr>
          <p:cNvPr id="11" name="Text 9"/>
          <p:cNvSpPr/>
          <p:nvPr/>
        </p:nvSpPr>
        <p:spPr>
          <a:xfrm>
            <a:off x="1188720" y="26974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Failures in ancillary reporting or notifications never block core reservations or flight boarding.</a:t>
            </a:r>
            <a:endParaRPr lang="en-US" sz="950" dirty="0"/>
          </a:p>
        </p:txBody>
      </p:sp>
      <p:sp>
        <p:nvSpPr>
          <p:cNvPr id="12" name="Text 10"/>
          <p:cNvSpPr/>
          <p:nvPr/>
        </p:nvSpPr>
        <p:spPr>
          <a:xfrm>
            <a:off x="914400" y="31546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Enterprise Objectives:</a:t>
            </a:r>
            <a:endParaRPr lang="en-US" sz="1000" dirty="0"/>
          </a:p>
        </p:txBody>
      </p:sp>
      <p:sp>
        <p:nvSpPr>
          <p:cNvPr id="13" name="Text 11"/>
          <p:cNvSpPr/>
          <p:nvPr/>
        </p:nvSpPr>
        <p:spPr>
          <a:xfrm>
            <a:off x="1188720" y="33832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High availability, sub-millisecond perimeter security, and zero-downtime flight operations.</a:t>
            </a:r>
            <a:endParaRPr lang="en-US" sz="950" dirty="0"/>
          </a:p>
        </p:txBody>
      </p:sp>
      <p:sp>
        <p:nvSpPr>
          <p:cNvPr id="14" name="Text 12"/>
          <p:cNvSpPr/>
          <p:nvPr/>
        </p:nvSpPr>
        <p:spPr>
          <a:xfrm>
            <a:off x="914400" y="38404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Platform Scope:</a:t>
            </a:r>
            <a:endParaRPr lang="en-US" sz="1000" dirty="0"/>
          </a:p>
        </p:txBody>
      </p:sp>
      <p:sp>
        <p:nvSpPr>
          <p:cNvPr id="15" name="Text 13"/>
          <p:cNvSpPr/>
          <p:nvPr/>
        </p:nvSpPr>
        <p:spPr>
          <a:xfrm>
            <a:off x="1188720" y="40690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End-to-end coverage: Passenger booking, ground staff gate desk, and executive fleet control.</a:t>
            </a:r>
            <a:endParaRPr lang="en-US" sz="950" dirty="0"/>
          </a:p>
        </p:txBody>
      </p:sp>
      <p:sp>
        <p:nvSpPr>
          <p:cNvPr id="16" name="Shape 14"/>
          <p:cNvSpPr/>
          <p:nvPr/>
        </p:nvSpPr>
        <p:spPr>
          <a:xfrm>
            <a:off x="7498080" y="1325880"/>
            <a:ext cx="3931920" cy="1051560"/>
          </a:xfrm>
          <a:prstGeom prst="rect">
            <a:avLst/>
          </a:prstGeom>
          <a:solidFill>
            <a:srgbClr val="1E293B"/>
          </a:solidFill>
          <a:ln w="19050">
            <a:solidFill>
              <a:srgbClr val="EF4444"/>
            </a:solidFill>
            <a:prstDash val="solid"/>
          </a:ln>
        </p:spPr>
      </p:sp>
      <p:sp>
        <p:nvSpPr>
          <p:cNvPr id="17" name="Text 15"/>
          <p:cNvSpPr/>
          <p:nvPr/>
        </p:nvSpPr>
        <p:spPr>
          <a:xfrm>
            <a:off x="7680960" y="1435608"/>
            <a:ext cx="3566160" cy="274320"/>
          </a:xfrm>
          <a:prstGeom prst="rect">
            <a:avLst/>
          </a:prstGeom>
          <a:noFill/>
          <a:ln/>
        </p:spPr>
        <p:txBody>
          <a:bodyPr wrap="square" rtlCol="0" anchor="ctr"/>
          <a:lstStyle/>
          <a:p>
            <a:pPr indent="0" marL="0">
              <a:buNone/>
            </a:pPr>
            <a:r>
              <a:rPr lang="en-US" sz="1100" b="1" dirty="0">
                <a:solidFill>
                  <a:srgbClr val="EF4444"/>
                </a:solidFill>
                <a:latin typeface="Arial" pitchFamily="34" charset="0"/>
                <a:ea typeface="Arial" pitchFamily="34" charset="-122"/>
                <a:cs typeface="Arial" pitchFamily="34" charset="-120"/>
              </a:rPr>
              <a:t>Legacy Monoliths</a:t>
            </a:r>
            <a:endParaRPr lang="en-US" sz="1100" dirty="0"/>
          </a:p>
        </p:txBody>
      </p:sp>
      <p:sp>
        <p:nvSpPr>
          <p:cNvPr id="18" name="Text 16"/>
          <p:cNvSpPr/>
          <p:nvPr/>
        </p:nvSpPr>
        <p:spPr>
          <a:xfrm>
            <a:off x="7680960" y="1737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Tightly coupled DBs, cascading outages during traffic surges</a:t>
            </a:r>
            <a:endParaRPr lang="en-US" sz="900" dirty="0"/>
          </a:p>
        </p:txBody>
      </p:sp>
      <p:sp>
        <p:nvSpPr>
          <p:cNvPr id="19" name="Shape 17"/>
          <p:cNvSpPr/>
          <p:nvPr/>
        </p:nvSpPr>
        <p:spPr>
          <a:xfrm>
            <a:off x="7498080" y="2468880"/>
            <a:ext cx="3931920" cy="1051560"/>
          </a:xfrm>
          <a:prstGeom prst="rect">
            <a:avLst/>
          </a:prstGeom>
          <a:solidFill>
            <a:srgbClr val="1E293B"/>
          </a:solidFill>
          <a:ln w="19050">
            <a:solidFill>
              <a:srgbClr val="10B981"/>
            </a:solidFill>
            <a:prstDash val="solid"/>
          </a:ln>
        </p:spPr>
      </p:sp>
      <p:sp>
        <p:nvSpPr>
          <p:cNvPr id="20" name="Text 18"/>
          <p:cNvSpPr/>
          <p:nvPr/>
        </p:nvSpPr>
        <p:spPr>
          <a:xfrm>
            <a:off x="7680960" y="2578608"/>
            <a:ext cx="3566160" cy="274320"/>
          </a:xfrm>
          <a:prstGeom prst="rect">
            <a:avLst/>
          </a:prstGeom>
          <a:noFill/>
          <a:ln/>
        </p:spPr>
        <p:txBody>
          <a:bodyPr wrap="square" rtlCol="0" anchor="ctr"/>
          <a:lstStyle/>
          <a:p>
            <a:pPr indent="0" marL="0">
              <a:buNone/>
            </a:pPr>
            <a:r>
              <a:rPr lang="en-US" sz="1100" b="1" dirty="0">
                <a:solidFill>
                  <a:srgbClr val="10B981"/>
                </a:solidFill>
                <a:latin typeface="Arial" pitchFamily="34" charset="0"/>
                <a:ea typeface="Arial" pitchFamily="34" charset="-122"/>
                <a:cs typeface="Arial" pitchFamily="34" charset="-120"/>
              </a:rPr>
              <a:t>AeroBook Solution</a:t>
            </a:r>
            <a:endParaRPr lang="en-US" sz="1100" dirty="0"/>
          </a:p>
        </p:txBody>
      </p:sp>
      <p:sp>
        <p:nvSpPr>
          <p:cNvPr id="21" name="Text 19"/>
          <p:cNvSpPr/>
          <p:nvPr/>
        </p:nvSpPr>
        <p:spPr>
          <a:xfrm>
            <a:off x="7680960" y="2880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11 isolated Spring Boot services, independent horizontal scale</a:t>
            </a:r>
            <a:endParaRPr lang="en-US" sz="900" dirty="0"/>
          </a:p>
        </p:txBody>
      </p:sp>
      <p:sp>
        <p:nvSpPr>
          <p:cNvPr id="22" name="Shape 20"/>
          <p:cNvSpPr/>
          <p:nvPr/>
        </p:nvSpPr>
        <p:spPr>
          <a:xfrm>
            <a:off x="7498080" y="3611880"/>
            <a:ext cx="3931920" cy="1051560"/>
          </a:xfrm>
          <a:prstGeom prst="rect">
            <a:avLst/>
          </a:prstGeom>
          <a:solidFill>
            <a:srgbClr val="1E293B"/>
          </a:solidFill>
          <a:ln w="19050">
            <a:solidFill>
              <a:srgbClr val="38BDF8"/>
            </a:solidFill>
            <a:prstDash val="solid"/>
          </a:ln>
        </p:spPr>
      </p:sp>
      <p:sp>
        <p:nvSpPr>
          <p:cNvPr id="23" name="Text 21"/>
          <p:cNvSpPr/>
          <p:nvPr/>
        </p:nvSpPr>
        <p:spPr>
          <a:xfrm>
            <a:off x="7680960" y="3721608"/>
            <a:ext cx="3566160" cy="274320"/>
          </a:xfrm>
          <a:prstGeom prst="rect">
            <a:avLst/>
          </a:prstGeom>
          <a:noFill/>
          <a:ln/>
        </p:spPr>
        <p:txBody>
          <a:bodyPr wrap="square" rtlCol="0" anchor="ctr"/>
          <a:lstStyle/>
          <a:p>
            <a:pPr indent="0" marL="0">
              <a:buNone/>
            </a:pPr>
            <a:r>
              <a:rPr lang="en-US" sz="1100" b="1" dirty="0">
                <a:solidFill>
                  <a:srgbClr val="38BDF8"/>
                </a:solidFill>
                <a:latin typeface="Arial" pitchFamily="34" charset="0"/>
                <a:ea typeface="Arial" pitchFamily="34" charset="-122"/>
                <a:cs typeface="Arial" pitchFamily="34" charset="-120"/>
              </a:rPr>
              <a:t>Target SLA</a:t>
            </a:r>
            <a:endParaRPr lang="en-US" sz="1100" dirty="0"/>
          </a:p>
        </p:txBody>
      </p:sp>
      <p:sp>
        <p:nvSpPr>
          <p:cNvPr id="24" name="Text 22"/>
          <p:cNvSpPr/>
          <p:nvPr/>
        </p:nvSpPr>
        <p:spPr>
          <a:xfrm>
            <a:off x="7680960" y="4023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99.99% uptime, &lt;50ms core booking latency, zero overselling</a:t>
            </a:r>
            <a:endParaRPr lang="en-US" sz="900" dirty="0"/>
          </a:p>
        </p:txBody>
      </p:sp>
      <p:sp>
        <p:nvSpPr>
          <p:cNvPr id="25" name="Shape 23"/>
          <p:cNvSpPr/>
          <p:nvPr/>
        </p:nvSpPr>
        <p:spPr>
          <a:xfrm>
            <a:off x="731520" y="4800600"/>
            <a:ext cx="10698480" cy="1463040"/>
          </a:xfrm>
          <a:prstGeom prst="rect">
            <a:avLst/>
          </a:prstGeom>
          <a:solidFill>
            <a:srgbClr val="172554"/>
          </a:solidFill>
          <a:ln w="15240">
            <a:solidFill>
              <a:srgbClr val="3B82F6"/>
            </a:solidFill>
            <a:prstDash val="solid"/>
          </a:ln>
        </p:spPr>
      </p:sp>
      <p:sp>
        <p:nvSpPr>
          <p:cNvPr id="26" name="Text 24"/>
          <p:cNvSpPr/>
          <p:nvPr/>
        </p:nvSpPr>
        <p:spPr>
          <a:xfrm>
            <a:off x="914400" y="4892040"/>
            <a:ext cx="10332720" cy="228600"/>
          </a:xfrm>
          <a:prstGeom prst="rect">
            <a:avLst/>
          </a:prstGeom>
          <a:noFill/>
          <a:ln/>
        </p:spPr>
        <p:txBody>
          <a:bodyPr wrap="square" rtlCol="0" anchor="ctr"/>
          <a:lstStyle/>
          <a:p>
            <a:pPr indent="0" marL="0">
              <a:buNone/>
            </a:pPr>
            <a:r>
              <a:rPr lang="en-US" sz="950" b="1" dirty="0">
                <a:solidFill>
                  <a:srgbClr val="60A5FA"/>
                </a:solidFill>
                <a:latin typeface="Arial" pitchFamily="34" charset="0"/>
                <a:ea typeface="Arial" pitchFamily="34" charset="-122"/>
                <a:cs typeface="Arial" pitchFamily="34" charset="-120"/>
              </a:rPr>
              <a:t>ON-SCREEN ACTION / LIVE DEMO CUE:</a:t>
            </a:r>
            <a:endParaRPr lang="en-US" sz="950" dirty="0"/>
          </a:p>
        </p:txBody>
      </p:sp>
      <p:sp>
        <p:nvSpPr>
          <p:cNvPr id="27" name="Text 25"/>
          <p:cNvSpPr/>
          <p:nvPr/>
        </p:nvSpPr>
        <p:spPr>
          <a:xfrm>
            <a:off x="914400" y="5166360"/>
            <a:ext cx="10332720" cy="1005840"/>
          </a:xfrm>
          <a:prstGeom prst="rect">
            <a:avLst/>
          </a:prstGeom>
          <a:noFill/>
          <a:ln/>
        </p:spPr>
        <p:txBody>
          <a:bodyPr wrap="square" rtlCol="0" anchor="ctr"/>
          <a:lstStyle/>
          <a:p>
            <a:pPr indent="0" marL="0">
              <a:buNone/>
            </a:pPr>
            <a:r>
              <a:rPr lang="en-US" sz="950" dirty="0">
                <a:solidFill>
                  <a:srgbClr val="EFF6FF"/>
                </a:solidFill>
                <a:latin typeface="Arial" pitchFamily="34" charset="0"/>
                <a:ea typeface="Arial" pitchFamily="34" charset="-122"/>
                <a:cs typeface="Arial" pitchFamily="34" charset="-120"/>
              </a:rPr>
              <a:t>Show AeroBook Landing Page (http://localhost:4200). Smoothly hover over the hero search bar, date pickers, and top navigation bar.</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D1E"/>
        </a:solidFill>
      </p:bgPr>
    </p:bg>
    <p:spTree>
      <p:nvGrpSpPr>
        <p:cNvPr id="1" name=""/>
        <p:cNvGrpSpPr/>
        <p:nvPr/>
      </p:nvGrpSpPr>
      <p:grpSpPr>
        <a:xfrm>
          <a:off x="0" y="0"/>
          <a:ext cx="0" cy="0"/>
          <a:chOff x="0" y="0"/>
          <a:chExt cx="0" cy="0"/>
        </a:xfrm>
      </p:grpSpPr>
      <p:sp>
        <p:nvSpPr>
          <p:cNvPr id="2" name="Shape 0"/>
          <p:cNvSpPr/>
          <p:nvPr/>
        </p:nvSpPr>
        <p:spPr>
          <a:xfrm>
            <a:off x="731520" y="365760"/>
            <a:ext cx="10698480" cy="822960"/>
          </a:xfrm>
          <a:prstGeom prst="rect">
            <a:avLst/>
          </a:prstGeom>
          <a:solidFill>
            <a:srgbClr val="0F172A"/>
          </a:solidFill>
          <a:ln w="15240">
            <a:solidFill>
              <a:srgbClr val="2563EB"/>
            </a:solidFill>
            <a:prstDash val="solid"/>
          </a:ln>
        </p:spPr>
      </p:sp>
      <p:sp>
        <p:nvSpPr>
          <p:cNvPr id="3" name="Text 1"/>
          <p:cNvSpPr/>
          <p:nvPr/>
        </p:nvSpPr>
        <p:spPr>
          <a:xfrm>
            <a:off x="914400" y="438912"/>
            <a:ext cx="5486400" cy="228600"/>
          </a:xfrm>
          <a:prstGeom prst="rect">
            <a:avLst/>
          </a:prstGeom>
          <a:noFill/>
          <a:ln/>
        </p:spPr>
        <p:txBody>
          <a:bodyPr wrap="square" rtlCol="0" anchor="ctr"/>
          <a:lstStyle/>
          <a:p>
            <a:pPr indent="0" marL="0">
              <a:buNone/>
            </a:pPr>
            <a:r>
              <a:rPr lang="en-US" sz="900" b="1" dirty="0">
                <a:solidFill>
                  <a:srgbClr val="38BDF8"/>
                </a:solidFill>
                <a:latin typeface="Arial" pitchFamily="34" charset="0"/>
                <a:ea typeface="Arial" pitchFamily="34" charset="-122"/>
                <a:cs typeface="Arial" pitchFamily="34" charset="-120"/>
              </a:rPr>
              <a:t>SLIDE 2 OF 11  |  00:45 – 01:45</a:t>
            </a:r>
            <a:endParaRPr lang="en-US" sz="900" dirty="0"/>
          </a:p>
        </p:txBody>
      </p:sp>
      <p:sp>
        <p:nvSpPr>
          <p:cNvPr id="4" name="Text 2"/>
          <p:cNvSpPr/>
          <p:nvPr/>
        </p:nvSpPr>
        <p:spPr>
          <a:xfrm>
            <a:off x="914400" y="658368"/>
            <a:ext cx="82296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Distributed Architecture &amp; 11 Microservices Suite</a:t>
            </a:r>
            <a:endParaRPr lang="en-US" sz="1600" dirty="0"/>
          </a:p>
        </p:txBody>
      </p:sp>
      <p:sp>
        <p:nvSpPr>
          <p:cNvPr id="5" name="Text 3"/>
          <p:cNvSpPr/>
          <p:nvPr/>
        </p:nvSpPr>
        <p:spPr>
          <a:xfrm>
            <a:off x="8686800" y="502920"/>
            <a:ext cx="2560320" cy="274320"/>
          </a:xfrm>
          <a:prstGeom prst="rect">
            <a:avLst/>
          </a:prstGeom>
          <a:noFill/>
          <a:ln/>
        </p:spPr>
        <p:txBody>
          <a:bodyPr wrap="square"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PART 1: OVERVIEW &amp; ARCHITECTURE</a:t>
            </a:r>
            <a:endParaRPr lang="en-US" sz="800" dirty="0"/>
          </a:p>
        </p:txBody>
      </p:sp>
      <p:sp>
        <p:nvSpPr>
          <p:cNvPr id="6" name="Shape 4"/>
          <p:cNvSpPr/>
          <p:nvPr/>
        </p:nvSpPr>
        <p:spPr>
          <a:xfrm>
            <a:off x="731520" y="1325880"/>
            <a:ext cx="6583680" cy="3337560"/>
          </a:xfrm>
          <a:prstGeom prst="rect">
            <a:avLst/>
          </a:prstGeom>
          <a:solidFill>
            <a:srgbClr val="0F172A"/>
          </a:solidFill>
          <a:ln w="12700">
            <a:solidFill>
              <a:srgbClr val="334155"/>
            </a:solidFill>
            <a:prstDash val="solid"/>
          </a:ln>
        </p:spPr>
      </p:sp>
      <p:sp>
        <p:nvSpPr>
          <p:cNvPr id="7" name="Text 5"/>
          <p:cNvSpPr/>
          <p:nvPr/>
        </p:nvSpPr>
        <p:spPr>
          <a:xfrm>
            <a:off x="914400" y="1417320"/>
            <a:ext cx="6217920" cy="27432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KEY ARCHITECTURAL &amp; TECHNICAL HIGHLIGHTS</a:t>
            </a:r>
            <a:endParaRPr lang="en-US" sz="1000" dirty="0"/>
          </a:p>
        </p:txBody>
      </p:sp>
      <p:sp>
        <p:nvSpPr>
          <p:cNvPr id="8" name="Text 6"/>
          <p:cNvSpPr/>
          <p:nvPr/>
        </p:nvSpPr>
        <p:spPr>
          <a:xfrm>
            <a:off x="914400" y="17830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Perimeter Ingress:</a:t>
            </a:r>
            <a:endParaRPr lang="en-US" sz="1000" dirty="0"/>
          </a:p>
        </p:txBody>
      </p:sp>
      <p:sp>
        <p:nvSpPr>
          <p:cNvPr id="9" name="Text 7"/>
          <p:cNvSpPr/>
          <p:nvPr/>
        </p:nvSpPr>
        <p:spPr>
          <a:xfrm>
            <a:off x="1188720" y="20116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Spring Cloud Netty API Gateway (Port 8083) handles reverse proxying &amp; CORS.</a:t>
            </a:r>
            <a:endParaRPr lang="en-US" sz="950" dirty="0"/>
          </a:p>
        </p:txBody>
      </p:sp>
      <p:sp>
        <p:nvSpPr>
          <p:cNvPr id="10" name="Text 8"/>
          <p:cNvSpPr/>
          <p:nvPr/>
        </p:nvSpPr>
        <p:spPr>
          <a:xfrm>
            <a:off x="914400" y="24688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Dynamic Discovery:</a:t>
            </a:r>
            <a:endParaRPr lang="en-US" sz="1000" dirty="0"/>
          </a:p>
        </p:txBody>
      </p:sp>
      <p:sp>
        <p:nvSpPr>
          <p:cNvPr id="11" name="Text 9"/>
          <p:cNvSpPr/>
          <p:nvPr/>
        </p:nvSpPr>
        <p:spPr>
          <a:xfrm>
            <a:off x="1188720" y="26974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Netflix Eureka Registry (Port 8761) provides client-side load balancing via OpenFeign.</a:t>
            </a:r>
            <a:endParaRPr lang="en-US" sz="950" dirty="0"/>
          </a:p>
        </p:txBody>
      </p:sp>
      <p:sp>
        <p:nvSpPr>
          <p:cNvPr id="12" name="Text 10"/>
          <p:cNvSpPr/>
          <p:nvPr/>
        </p:nvSpPr>
        <p:spPr>
          <a:xfrm>
            <a:off x="914400" y="31546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Centralized Config:</a:t>
            </a:r>
            <a:endParaRPr lang="en-US" sz="1000" dirty="0"/>
          </a:p>
        </p:txBody>
      </p:sp>
      <p:sp>
        <p:nvSpPr>
          <p:cNvPr id="13" name="Text 11"/>
          <p:cNvSpPr/>
          <p:nvPr/>
        </p:nvSpPr>
        <p:spPr>
          <a:xfrm>
            <a:off x="1188720" y="33832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Spring Cloud Config Server (Port 8080) delivers externalized environment properties.</a:t>
            </a:r>
            <a:endParaRPr lang="en-US" sz="950" dirty="0"/>
          </a:p>
        </p:txBody>
      </p:sp>
      <p:sp>
        <p:nvSpPr>
          <p:cNvPr id="14" name="Text 12"/>
          <p:cNvSpPr/>
          <p:nvPr/>
        </p:nvSpPr>
        <p:spPr>
          <a:xfrm>
            <a:off x="914400" y="38404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Database Isolation:</a:t>
            </a:r>
            <a:endParaRPr lang="en-US" sz="1000" dirty="0"/>
          </a:p>
        </p:txBody>
      </p:sp>
      <p:sp>
        <p:nvSpPr>
          <p:cNvPr id="15" name="Text 13"/>
          <p:cNvSpPr/>
          <p:nvPr/>
        </p:nvSpPr>
        <p:spPr>
          <a:xfrm>
            <a:off x="1188720" y="40690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8 dedicated MySQL schemas (Database-per-Service) eliminate cross-domain table locks.</a:t>
            </a:r>
            <a:endParaRPr lang="en-US" sz="950" dirty="0"/>
          </a:p>
        </p:txBody>
      </p:sp>
      <p:sp>
        <p:nvSpPr>
          <p:cNvPr id="16" name="Shape 14"/>
          <p:cNvSpPr/>
          <p:nvPr/>
        </p:nvSpPr>
        <p:spPr>
          <a:xfrm>
            <a:off x="7498080" y="1325880"/>
            <a:ext cx="3931920" cy="1051560"/>
          </a:xfrm>
          <a:prstGeom prst="rect">
            <a:avLst/>
          </a:prstGeom>
          <a:solidFill>
            <a:srgbClr val="1E293B"/>
          </a:solidFill>
          <a:ln w="19050">
            <a:solidFill>
              <a:srgbClr val="6366F1"/>
            </a:solidFill>
            <a:prstDash val="solid"/>
          </a:ln>
        </p:spPr>
      </p:sp>
      <p:sp>
        <p:nvSpPr>
          <p:cNvPr id="17" name="Text 15"/>
          <p:cNvSpPr/>
          <p:nvPr/>
        </p:nvSpPr>
        <p:spPr>
          <a:xfrm>
            <a:off x="7680960" y="1435608"/>
            <a:ext cx="3566160" cy="274320"/>
          </a:xfrm>
          <a:prstGeom prst="rect">
            <a:avLst/>
          </a:prstGeom>
          <a:noFill/>
          <a:ln/>
        </p:spPr>
        <p:txBody>
          <a:bodyPr wrap="square" rtlCol="0" anchor="ctr"/>
          <a:lstStyle/>
          <a:p>
            <a:pPr indent="0" marL="0">
              <a:buNone/>
            </a:pPr>
            <a:r>
              <a:rPr lang="en-US" sz="1100" b="1" dirty="0">
                <a:solidFill>
                  <a:srgbClr val="6366F1"/>
                </a:solidFill>
                <a:latin typeface="Arial" pitchFamily="34" charset="0"/>
                <a:ea typeface="Arial" pitchFamily="34" charset="-122"/>
                <a:cs typeface="Arial" pitchFamily="34" charset="-120"/>
              </a:rPr>
              <a:t>Gateway &amp; Config</a:t>
            </a:r>
            <a:endParaRPr lang="en-US" sz="1100" dirty="0"/>
          </a:p>
        </p:txBody>
      </p:sp>
      <p:sp>
        <p:nvSpPr>
          <p:cNvPr id="18" name="Text 16"/>
          <p:cNvSpPr/>
          <p:nvPr/>
        </p:nvSpPr>
        <p:spPr>
          <a:xfrm>
            <a:off x="7680960" y="1737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Ports 8083 &amp; 8080: Netty non-blocking ingress &amp; Git-backed config</a:t>
            </a:r>
            <a:endParaRPr lang="en-US" sz="900" dirty="0"/>
          </a:p>
        </p:txBody>
      </p:sp>
      <p:sp>
        <p:nvSpPr>
          <p:cNvPr id="19" name="Shape 17"/>
          <p:cNvSpPr/>
          <p:nvPr/>
        </p:nvSpPr>
        <p:spPr>
          <a:xfrm>
            <a:off x="7498080" y="2468880"/>
            <a:ext cx="3931920" cy="1051560"/>
          </a:xfrm>
          <a:prstGeom prst="rect">
            <a:avLst/>
          </a:prstGeom>
          <a:solidFill>
            <a:srgbClr val="1E293B"/>
          </a:solidFill>
          <a:ln w="19050">
            <a:solidFill>
              <a:srgbClr val="10B981"/>
            </a:solidFill>
            <a:prstDash val="solid"/>
          </a:ln>
        </p:spPr>
      </p:sp>
      <p:sp>
        <p:nvSpPr>
          <p:cNvPr id="20" name="Text 18"/>
          <p:cNvSpPr/>
          <p:nvPr/>
        </p:nvSpPr>
        <p:spPr>
          <a:xfrm>
            <a:off x="7680960" y="2578608"/>
            <a:ext cx="3566160" cy="274320"/>
          </a:xfrm>
          <a:prstGeom prst="rect">
            <a:avLst/>
          </a:prstGeom>
          <a:noFill/>
          <a:ln/>
        </p:spPr>
        <p:txBody>
          <a:bodyPr wrap="square" rtlCol="0" anchor="ctr"/>
          <a:lstStyle/>
          <a:p>
            <a:pPr indent="0" marL="0">
              <a:buNone/>
            </a:pPr>
            <a:r>
              <a:rPr lang="en-US" sz="1100" b="1" dirty="0">
                <a:solidFill>
                  <a:srgbClr val="10B981"/>
                </a:solidFill>
                <a:latin typeface="Arial" pitchFamily="34" charset="0"/>
                <a:ea typeface="Arial" pitchFamily="34" charset="-122"/>
                <a:cs typeface="Arial" pitchFamily="34" charset="-120"/>
              </a:rPr>
              <a:t>8 Business Domains</a:t>
            </a:r>
            <a:endParaRPr lang="en-US" sz="1100" dirty="0"/>
          </a:p>
        </p:txBody>
      </p:sp>
      <p:sp>
        <p:nvSpPr>
          <p:cNvPr id="21" name="Text 19"/>
          <p:cNvSpPr/>
          <p:nvPr/>
        </p:nvSpPr>
        <p:spPr>
          <a:xfrm>
            <a:off x="7680960" y="2880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Auth, User, Flight, Fare, Booking, Payment, Check-In, Notification</a:t>
            </a:r>
            <a:endParaRPr lang="en-US" sz="900" dirty="0"/>
          </a:p>
        </p:txBody>
      </p:sp>
      <p:sp>
        <p:nvSpPr>
          <p:cNvPr id="22" name="Shape 20"/>
          <p:cNvSpPr/>
          <p:nvPr/>
        </p:nvSpPr>
        <p:spPr>
          <a:xfrm>
            <a:off x="7498080" y="3611880"/>
            <a:ext cx="3931920" cy="1051560"/>
          </a:xfrm>
          <a:prstGeom prst="rect">
            <a:avLst/>
          </a:prstGeom>
          <a:solidFill>
            <a:srgbClr val="1E293B"/>
          </a:solidFill>
          <a:ln w="19050">
            <a:solidFill>
              <a:srgbClr val="F59E0B"/>
            </a:solidFill>
            <a:prstDash val="solid"/>
          </a:ln>
        </p:spPr>
      </p:sp>
      <p:sp>
        <p:nvSpPr>
          <p:cNvPr id="23" name="Text 21"/>
          <p:cNvSpPr/>
          <p:nvPr/>
        </p:nvSpPr>
        <p:spPr>
          <a:xfrm>
            <a:off x="7680960" y="3721608"/>
            <a:ext cx="3566160" cy="274320"/>
          </a:xfrm>
          <a:prstGeom prst="rect">
            <a:avLst/>
          </a:prstGeom>
          <a:noFill/>
          <a:ln/>
        </p:spPr>
        <p:txBody>
          <a:bodyPr wrap="square" rtlCol="0" anchor="ctr"/>
          <a:lstStyle/>
          <a:p>
            <a:pPr indent="0" marL="0">
              <a:buNone/>
            </a:pPr>
            <a:r>
              <a:rPr lang="en-US" sz="1100" b="1" dirty="0">
                <a:solidFill>
                  <a:srgbClr val="F59E0B"/>
                </a:solidFill>
                <a:latin typeface="Arial" pitchFamily="34" charset="0"/>
                <a:ea typeface="Arial" pitchFamily="34" charset="-122"/>
                <a:cs typeface="Arial" pitchFamily="34" charset="-120"/>
              </a:rPr>
              <a:t>8 MySQL Schemas</a:t>
            </a:r>
            <a:endParaRPr lang="en-US" sz="1100" dirty="0"/>
          </a:p>
        </p:txBody>
      </p:sp>
      <p:sp>
        <p:nvSpPr>
          <p:cNvPr id="24" name="Text 22"/>
          <p:cNvSpPr/>
          <p:nvPr/>
        </p:nvSpPr>
        <p:spPr>
          <a:xfrm>
            <a:off x="7680960" y="4023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Strict schema boundaries with zero distributed 2PC locking</a:t>
            </a:r>
            <a:endParaRPr lang="en-US" sz="900" dirty="0"/>
          </a:p>
        </p:txBody>
      </p:sp>
      <p:sp>
        <p:nvSpPr>
          <p:cNvPr id="25" name="Shape 23"/>
          <p:cNvSpPr/>
          <p:nvPr/>
        </p:nvSpPr>
        <p:spPr>
          <a:xfrm>
            <a:off x="731520" y="4800600"/>
            <a:ext cx="10698480" cy="1463040"/>
          </a:xfrm>
          <a:prstGeom prst="rect">
            <a:avLst/>
          </a:prstGeom>
          <a:solidFill>
            <a:srgbClr val="172554"/>
          </a:solidFill>
          <a:ln w="15240">
            <a:solidFill>
              <a:srgbClr val="3B82F6"/>
            </a:solidFill>
            <a:prstDash val="solid"/>
          </a:ln>
        </p:spPr>
      </p:sp>
      <p:sp>
        <p:nvSpPr>
          <p:cNvPr id="26" name="Text 24"/>
          <p:cNvSpPr/>
          <p:nvPr/>
        </p:nvSpPr>
        <p:spPr>
          <a:xfrm>
            <a:off x="914400" y="4892040"/>
            <a:ext cx="10332720" cy="228600"/>
          </a:xfrm>
          <a:prstGeom prst="rect">
            <a:avLst/>
          </a:prstGeom>
          <a:noFill/>
          <a:ln/>
        </p:spPr>
        <p:txBody>
          <a:bodyPr wrap="square" rtlCol="0" anchor="ctr"/>
          <a:lstStyle/>
          <a:p>
            <a:pPr indent="0" marL="0">
              <a:buNone/>
            </a:pPr>
            <a:r>
              <a:rPr lang="en-US" sz="950" b="1" dirty="0">
                <a:solidFill>
                  <a:srgbClr val="60A5FA"/>
                </a:solidFill>
                <a:latin typeface="Arial" pitchFamily="34" charset="0"/>
                <a:ea typeface="Arial" pitchFamily="34" charset="-122"/>
                <a:cs typeface="Arial" pitchFamily="34" charset="-120"/>
              </a:rPr>
              <a:t>ON-SCREEN ACTION / LIVE DEMO CUE:</a:t>
            </a:r>
            <a:endParaRPr lang="en-US" sz="950" dirty="0"/>
          </a:p>
        </p:txBody>
      </p:sp>
      <p:sp>
        <p:nvSpPr>
          <p:cNvPr id="27" name="Text 25"/>
          <p:cNvSpPr/>
          <p:nvPr/>
        </p:nvSpPr>
        <p:spPr>
          <a:xfrm>
            <a:off x="914400" y="5166360"/>
            <a:ext cx="10332720" cy="1005840"/>
          </a:xfrm>
          <a:prstGeom prst="rect">
            <a:avLst/>
          </a:prstGeom>
          <a:noFill/>
          <a:ln/>
        </p:spPr>
        <p:txBody>
          <a:bodyPr wrap="square" rtlCol="0" anchor="ctr"/>
          <a:lstStyle/>
          <a:p>
            <a:pPr indent="0" marL="0">
              <a:buNone/>
            </a:pPr>
            <a:r>
              <a:rPr lang="en-US" sz="950" dirty="0">
                <a:solidFill>
                  <a:srgbClr val="EFF6FF"/>
                </a:solidFill>
                <a:latin typeface="Arial" pitchFamily="34" charset="0"/>
                <a:ea typeface="Arial" pitchFamily="34" charset="-122"/>
                <a:cs typeface="Arial" pitchFamily="34" charset="-120"/>
              </a:rPr>
              <a:t>Switch to Netflix Eureka Dashboard (http://localhost:8761). Highlight registered instances: CONFIG-SERVER, AUTH-SERVICE, API-GATEWAY, USER-SERVICE, PAYMENT-SERVICE, CHECK-IN-SERVICE, FLIGHT-SERVICE, BOOKING-SERVICE, FARE-SERVICE, NOTIFICATION-SERVICE.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D1E"/>
        </a:solidFill>
      </p:bgPr>
    </p:bg>
    <p:spTree>
      <p:nvGrpSpPr>
        <p:cNvPr id="1" name=""/>
        <p:cNvGrpSpPr/>
        <p:nvPr/>
      </p:nvGrpSpPr>
      <p:grpSpPr>
        <a:xfrm>
          <a:off x="0" y="0"/>
          <a:ext cx="0" cy="0"/>
          <a:chOff x="0" y="0"/>
          <a:chExt cx="0" cy="0"/>
        </a:xfrm>
      </p:grpSpPr>
      <p:sp>
        <p:nvSpPr>
          <p:cNvPr id="2" name="Shape 0"/>
          <p:cNvSpPr/>
          <p:nvPr/>
        </p:nvSpPr>
        <p:spPr>
          <a:xfrm>
            <a:off x="731520" y="365760"/>
            <a:ext cx="10698480" cy="822960"/>
          </a:xfrm>
          <a:prstGeom prst="rect">
            <a:avLst/>
          </a:prstGeom>
          <a:solidFill>
            <a:srgbClr val="0F172A"/>
          </a:solidFill>
          <a:ln w="15240">
            <a:solidFill>
              <a:srgbClr val="2563EB"/>
            </a:solidFill>
            <a:prstDash val="solid"/>
          </a:ln>
        </p:spPr>
      </p:sp>
      <p:sp>
        <p:nvSpPr>
          <p:cNvPr id="3" name="Text 1"/>
          <p:cNvSpPr/>
          <p:nvPr/>
        </p:nvSpPr>
        <p:spPr>
          <a:xfrm>
            <a:off x="914400" y="438912"/>
            <a:ext cx="5486400" cy="228600"/>
          </a:xfrm>
          <a:prstGeom prst="rect">
            <a:avLst/>
          </a:prstGeom>
          <a:noFill/>
          <a:ln/>
        </p:spPr>
        <p:txBody>
          <a:bodyPr wrap="square" rtlCol="0" anchor="ctr"/>
          <a:lstStyle/>
          <a:p>
            <a:pPr indent="0" marL="0">
              <a:buNone/>
            </a:pPr>
            <a:r>
              <a:rPr lang="en-US" sz="900" b="1" dirty="0">
                <a:solidFill>
                  <a:srgbClr val="38BDF8"/>
                </a:solidFill>
                <a:latin typeface="Arial" pitchFamily="34" charset="0"/>
                <a:ea typeface="Arial" pitchFamily="34" charset="-122"/>
                <a:cs typeface="Arial" pitchFamily="34" charset="-120"/>
              </a:rPr>
              <a:t>SLIDE 3 OF 11  |  01:45 – 02:45</a:t>
            </a:r>
            <a:endParaRPr lang="en-US" sz="900" dirty="0"/>
          </a:p>
        </p:txBody>
      </p:sp>
      <p:sp>
        <p:nvSpPr>
          <p:cNvPr id="4" name="Text 2"/>
          <p:cNvSpPr/>
          <p:nvPr/>
        </p:nvSpPr>
        <p:spPr>
          <a:xfrm>
            <a:off x="914400" y="658368"/>
            <a:ext cx="82296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Core Technical Innovations: Concurrency, AMQP &amp; Security</a:t>
            </a:r>
            <a:endParaRPr lang="en-US" sz="1600" dirty="0"/>
          </a:p>
        </p:txBody>
      </p:sp>
      <p:sp>
        <p:nvSpPr>
          <p:cNvPr id="5" name="Text 3"/>
          <p:cNvSpPr/>
          <p:nvPr/>
        </p:nvSpPr>
        <p:spPr>
          <a:xfrm>
            <a:off x="8686800" y="502920"/>
            <a:ext cx="2560320" cy="274320"/>
          </a:xfrm>
          <a:prstGeom prst="rect">
            <a:avLst/>
          </a:prstGeom>
          <a:noFill/>
          <a:ln/>
        </p:spPr>
        <p:txBody>
          <a:bodyPr wrap="square"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PART 1: OVERVIEW &amp; ARCHITECTURE</a:t>
            </a:r>
            <a:endParaRPr lang="en-US" sz="800" dirty="0"/>
          </a:p>
        </p:txBody>
      </p:sp>
      <p:sp>
        <p:nvSpPr>
          <p:cNvPr id="6" name="Shape 4"/>
          <p:cNvSpPr/>
          <p:nvPr/>
        </p:nvSpPr>
        <p:spPr>
          <a:xfrm>
            <a:off x="731520" y="1325880"/>
            <a:ext cx="6583680" cy="3337560"/>
          </a:xfrm>
          <a:prstGeom prst="rect">
            <a:avLst/>
          </a:prstGeom>
          <a:solidFill>
            <a:srgbClr val="0F172A"/>
          </a:solidFill>
          <a:ln w="12700">
            <a:solidFill>
              <a:srgbClr val="334155"/>
            </a:solidFill>
            <a:prstDash val="solid"/>
          </a:ln>
        </p:spPr>
      </p:sp>
      <p:sp>
        <p:nvSpPr>
          <p:cNvPr id="7" name="Text 5"/>
          <p:cNvSpPr/>
          <p:nvPr/>
        </p:nvSpPr>
        <p:spPr>
          <a:xfrm>
            <a:off x="914400" y="1417320"/>
            <a:ext cx="6217920" cy="27432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KEY ARCHITECTURAL &amp; TECHNICAL HIGHLIGHTS</a:t>
            </a:r>
            <a:endParaRPr lang="en-US" sz="1000" dirty="0"/>
          </a:p>
        </p:txBody>
      </p:sp>
      <p:sp>
        <p:nvSpPr>
          <p:cNvPr id="8" name="Text 6"/>
          <p:cNvSpPr/>
          <p:nvPr/>
        </p:nvSpPr>
        <p:spPr>
          <a:xfrm>
            <a:off x="914400" y="17830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Pessimistic Row Locking:</a:t>
            </a:r>
            <a:endParaRPr lang="en-US" sz="1000" dirty="0"/>
          </a:p>
        </p:txBody>
      </p:sp>
      <p:sp>
        <p:nvSpPr>
          <p:cNvPr id="9" name="Text 7"/>
          <p:cNvSpPr/>
          <p:nvPr/>
        </p:nvSpPr>
        <p:spPr>
          <a:xfrm>
            <a:off x="1188720" y="20116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SELECT FOR UPDATE ensures atomic seat availability checks and zero overselling.</a:t>
            </a:r>
            <a:endParaRPr lang="en-US" sz="950" dirty="0"/>
          </a:p>
        </p:txBody>
      </p:sp>
      <p:sp>
        <p:nvSpPr>
          <p:cNvPr id="10" name="Text 8"/>
          <p:cNvSpPr/>
          <p:nvPr/>
        </p:nvSpPr>
        <p:spPr>
          <a:xfrm>
            <a:off x="914400" y="24688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Event-Driven Decoupling:</a:t>
            </a:r>
            <a:endParaRPr lang="en-US" sz="1000" dirty="0"/>
          </a:p>
        </p:txBody>
      </p:sp>
      <p:sp>
        <p:nvSpPr>
          <p:cNvPr id="11" name="Text 9"/>
          <p:cNvSpPr/>
          <p:nvPr/>
        </p:nvSpPr>
        <p:spPr>
          <a:xfrm>
            <a:off x="1188720" y="26974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RabbitMQ AMQP message broker guarantees eventual consistency with sub-50ms latency.</a:t>
            </a:r>
            <a:endParaRPr lang="en-US" sz="950" dirty="0"/>
          </a:p>
        </p:txBody>
      </p:sp>
      <p:sp>
        <p:nvSpPr>
          <p:cNvPr id="12" name="Text 10"/>
          <p:cNvSpPr/>
          <p:nvPr/>
        </p:nvSpPr>
        <p:spPr>
          <a:xfrm>
            <a:off x="914400" y="31546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Zero-Overhead RBAC:</a:t>
            </a:r>
            <a:endParaRPr lang="en-US" sz="1000" dirty="0"/>
          </a:p>
        </p:txBody>
      </p:sp>
      <p:sp>
        <p:nvSpPr>
          <p:cNvPr id="13" name="Text 11"/>
          <p:cNvSpPr/>
          <p:nvPr/>
        </p:nvSpPr>
        <p:spPr>
          <a:xfrm>
            <a:off x="1188720" y="33832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API Gateway mutates downstream headers (X-User-Id, X-User-Role) for instant auth.</a:t>
            </a:r>
            <a:endParaRPr lang="en-US" sz="950" dirty="0"/>
          </a:p>
        </p:txBody>
      </p:sp>
      <p:sp>
        <p:nvSpPr>
          <p:cNvPr id="14" name="Text 12"/>
          <p:cNvSpPr/>
          <p:nvPr/>
        </p:nvSpPr>
        <p:spPr>
          <a:xfrm>
            <a:off x="914400" y="38404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Idempotent Webhooks:</a:t>
            </a:r>
            <a:endParaRPr lang="en-US" sz="1000" dirty="0"/>
          </a:p>
        </p:txBody>
      </p:sp>
      <p:sp>
        <p:nvSpPr>
          <p:cNvPr id="15" name="Text 13"/>
          <p:cNvSpPr/>
          <p:nvPr/>
        </p:nvSpPr>
        <p:spPr>
          <a:xfrm>
            <a:off x="1188720" y="40690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Cryptographic HMAC-SHA256 verification and ledger checks prevent duplicate payments.</a:t>
            </a:r>
            <a:endParaRPr lang="en-US" sz="950" dirty="0"/>
          </a:p>
        </p:txBody>
      </p:sp>
      <p:sp>
        <p:nvSpPr>
          <p:cNvPr id="16" name="Shape 14"/>
          <p:cNvSpPr/>
          <p:nvPr/>
        </p:nvSpPr>
        <p:spPr>
          <a:xfrm>
            <a:off x="7498080" y="1325880"/>
            <a:ext cx="3931920" cy="1051560"/>
          </a:xfrm>
          <a:prstGeom prst="rect">
            <a:avLst/>
          </a:prstGeom>
          <a:solidFill>
            <a:srgbClr val="1E293B"/>
          </a:solidFill>
          <a:ln w="19050">
            <a:solidFill>
              <a:srgbClr val="EF4444"/>
            </a:solidFill>
            <a:prstDash val="solid"/>
          </a:ln>
        </p:spPr>
      </p:sp>
      <p:sp>
        <p:nvSpPr>
          <p:cNvPr id="17" name="Text 15"/>
          <p:cNvSpPr/>
          <p:nvPr/>
        </p:nvSpPr>
        <p:spPr>
          <a:xfrm>
            <a:off x="7680960" y="1435608"/>
            <a:ext cx="3566160" cy="274320"/>
          </a:xfrm>
          <a:prstGeom prst="rect">
            <a:avLst/>
          </a:prstGeom>
          <a:noFill/>
          <a:ln/>
        </p:spPr>
        <p:txBody>
          <a:bodyPr wrap="square" rtlCol="0" anchor="ctr"/>
          <a:lstStyle/>
          <a:p>
            <a:pPr indent="0" marL="0">
              <a:buNone/>
            </a:pPr>
            <a:r>
              <a:rPr lang="en-US" sz="1100" b="1" dirty="0">
                <a:solidFill>
                  <a:srgbClr val="EF4444"/>
                </a:solidFill>
                <a:latin typeface="Arial" pitchFamily="34" charset="0"/>
                <a:ea typeface="Arial" pitchFamily="34" charset="-122"/>
                <a:cs typeface="Arial" pitchFamily="34" charset="-120"/>
              </a:rPr>
              <a:t>Pessimistic Lock</a:t>
            </a:r>
            <a:endParaRPr lang="en-US" sz="1100" dirty="0"/>
          </a:p>
        </p:txBody>
      </p:sp>
      <p:sp>
        <p:nvSpPr>
          <p:cNvPr id="18" name="Text 16"/>
          <p:cNvSpPr/>
          <p:nvPr/>
        </p:nvSpPr>
        <p:spPr>
          <a:xfrm>
            <a:off x="7680960" y="1737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SELECT FOR UPDATE prevents simultaneous double-booking of final seats</a:t>
            </a:r>
            <a:endParaRPr lang="en-US" sz="900" dirty="0"/>
          </a:p>
        </p:txBody>
      </p:sp>
      <p:sp>
        <p:nvSpPr>
          <p:cNvPr id="19" name="Shape 17"/>
          <p:cNvSpPr/>
          <p:nvPr/>
        </p:nvSpPr>
        <p:spPr>
          <a:xfrm>
            <a:off x="7498080" y="2468880"/>
            <a:ext cx="3931920" cy="1051560"/>
          </a:xfrm>
          <a:prstGeom prst="rect">
            <a:avLst/>
          </a:prstGeom>
          <a:solidFill>
            <a:srgbClr val="1E293B"/>
          </a:solidFill>
          <a:ln w="19050">
            <a:solidFill>
              <a:srgbClr val="F59E0B"/>
            </a:solidFill>
            <a:prstDash val="solid"/>
          </a:ln>
        </p:spPr>
      </p:sp>
      <p:sp>
        <p:nvSpPr>
          <p:cNvPr id="20" name="Text 18"/>
          <p:cNvSpPr/>
          <p:nvPr/>
        </p:nvSpPr>
        <p:spPr>
          <a:xfrm>
            <a:off x="7680960" y="2578608"/>
            <a:ext cx="3566160" cy="274320"/>
          </a:xfrm>
          <a:prstGeom prst="rect">
            <a:avLst/>
          </a:prstGeom>
          <a:noFill/>
          <a:ln/>
        </p:spPr>
        <p:txBody>
          <a:bodyPr wrap="square" rtlCol="0" anchor="ctr"/>
          <a:lstStyle/>
          <a:p>
            <a:pPr indent="0" marL="0">
              <a:buNone/>
            </a:pPr>
            <a:r>
              <a:rPr lang="en-US" sz="1100" b="1" dirty="0">
                <a:solidFill>
                  <a:srgbClr val="F59E0B"/>
                </a:solidFill>
                <a:latin typeface="Arial" pitchFamily="34" charset="0"/>
                <a:ea typeface="Arial" pitchFamily="34" charset="-122"/>
                <a:cs typeface="Arial" pitchFamily="34" charset="-120"/>
              </a:rPr>
              <a:t>RabbitMQ AMQP</a:t>
            </a:r>
            <a:endParaRPr lang="en-US" sz="1100" dirty="0"/>
          </a:p>
        </p:txBody>
      </p:sp>
      <p:sp>
        <p:nvSpPr>
          <p:cNvPr id="21" name="Text 19"/>
          <p:cNvSpPr/>
          <p:nvPr/>
        </p:nvSpPr>
        <p:spPr>
          <a:xfrm>
            <a:off x="7680960" y="2880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flight.seat.deduct &amp; booking.notification queues decouple operations</a:t>
            </a:r>
            <a:endParaRPr lang="en-US" sz="900" dirty="0"/>
          </a:p>
        </p:txBody>
      </p:sp>
      <p:sp>
        <p:nvSpPr>
          <p:cNvPr id="22" name="Shape 20"/>
          <p:cNvSpPr/>
          <p:nvPr/>
        </p:nvSpPr>
        <p:spPr>
          <a:xfrm>
            <a:off x="7498080" y="3611880"/>
            <a:ext cx="3931920" cy="1051560"/>
          </a:xfrm>
          <a:prstGeom prst="rect">
            <a:avLst/>
          </a:prstGeom>
          <a:solidFill>
            <a:srgbClr val="1E293B"/>
          </a:solidFill>
          <a:ln w="19050">
            <a:solidFill>
              <a:srgbClr val="10B981"/>
            </a:solidFill>
            <a:prstDash val="solid"/>
          </a:ln>
        </p:spPr>
      </p:sp>
      <p:sp>
        <p:nvSpPr>
          <p:cNvPr id="23" name="Text 21"/>
          <p:cNvSpPr/>
          <p:nvPr/>
        </p:nvSpPr>
        <p:spPr>
          <a:xfrm>
            <a:off x="7680960" y="3721608"/>
            <a:ext cx="3566160" cy="274320"/>
          </a:xfrm>
          <a:prstGeom prst="rect">
            <a:avLst/>
          </a:prstGeom>
          <a:noFill/>
          <a:ln/>
        </p:spPr>
        <p:txBody>
          <a:bodyPr wrap="square" rtlCol="0" anchor="ctr"/>
          <a:lstStyle/>
          <a:p>
            <a:pPr indent="0" marL="0">
              <a:buNone/>
            </a:pPr>
            <a:r>
              <a:rPr lang="en-US" sz="1100" b="1" dirty="0">
                <a:solidFill>
                  <a:srgbClr val="10B981"/>
                </a:solidFill>
                <a:latin typeface="Arial" pitchFamily="34" charset="0"/>
                <a:ea typeface="Arial" pitchFamily="34" charset="-122"/>
                <a:cs typeface="Arial" pitchFamily="34" charset="-120"/>
              </a:rPr>
              <a:t>Gateway Header Mutation</a:t>
            </a:r>
            <a:endParaRPr lang="en-US" sz="1100" dirty="0"/>
          </a:p>
        </p:txBody>
      </p:sp>
      <p:sp>
        <p:nvSpPr>
          <p:cNvPr id="24" name="Text 22"/>
          <p:cNvSpPr/>
          <p:nvPr/>
        </p:nvSpPr>
        <p:spPr>
          <a:xfrm>
            <a:off x="7680960" y="4023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X-User-Id &amp; X-User-Role headers speed up internal microservice calls</a:t>
            </a:r>
            <a:endParaRPr lang="en-US" sz="900" dirty="0"/>
          </a:p>
        </p:txBody>
      </p:sp>
      <p:sp>
        <p:nvSpPr>
          <p:cNvPr id="25" name="Shape 23"/>
          <p:cNvSpPr/>
          <p:nvPr/>
        </p:nvSpPr>
        <p:spPr>
          <a:xfrm>
            <a:off x="731520" y="4800600"/>
            <a:ext cx="10698480" cy="1463040"/>
          </a:xfrm>
          <a:prstGeom prst="rect">
            <a:avLst/>
          </a:prstGeom>
          <a:solidFill>
            <a:srgbClr val="172554"/>
          </a:solidFill>
          <a:ln w="15240">
            <a:solidFill>
              <a:srgbClr val="3B82F6"/>
            </a:solidFill>
            <a:prstDash val="solid"/>
          </a:ln>
        </p:spPr>
      </p:sp>
      <p:sp>
        <p:nvSpPr>
          <p:cNvPr id="26" name="Text 24"/>
          <p:cNvSpPr/>
          <p:nvPr/>
        </p:nvSpPr>
        <p:spPr>
          <a:xfrm>
            <a:off x="914400" y="4892040"/>
            <a:ext cx="10332720" cy="228600"/>
          </a:xfrm>
          <a:prstGeom prst="rect">
            <a:avLst/>
          </a:prstGeom>
          <a:noFill/>
          <a:ln/>
        </p:spPr>
        <p:txBody>
          <a:bodyPr wrap="square" rtlCol="0" anchor="ctr"/>
          <a:lstStyle/>
          <a:p>
            <a:pPr indent="0" marL="0">
              <a:buNone/>
            </a:pPr>
            <a:r>
              <a:rPr lang="en-US" sz="950" b="1" dirty="0">
                <a:solidFill>
                  <a:srgbClr val="60A5FA"/>
                </a:solidFill>
                <a:latin typeface="Arial" pitchFamily="34" charset="0"/>
                <a:ea typeface="Arial" pitchFamily="34" charset="-122"/>
                <a:cs typeface="Arial" pitchFamily="34" charset="-120"/>
              </a:rPr>
              <a:t>ON-SCREEN ACTION / LIVE DEMO CUE:</a:t>
            </a:r>
            <a:endParaRPr lang="en-US" sz="950" dirty="0"/>
          </a:p>
        </p:txBody>
      </p:sp>
      <p:sp>
        <p:nvSpPr>
          <p:cNvPr id="27" name="Text 25"/>
          <p:cNvSpPr/>
          <p:nvPr/>
        </p:nvSpPr>
        <p:spPr>
          <a:xfrm>
            <a:off x="914400" y="5166360"/>
            <a:ext cx="10332720" cy="1005840"/>
          </a:xfrm>
          <a:prstGeom prst="rect">
            <a:avLst/>
          </a:prstGeom>
          <a:noFill/>
          <a:ln/>
        </p:spPr>
        <p:txBody>
          <a:bodyPr wrap="square" rtlCol="0" anchor="ctr"/>
          <a:lstStyle/>
          <a:p>
            <a:pPr indent="0" marL="0">
              <a:buNone/>
            </a:pPr>
            <a:r>
              <a:rPr lang="en-US" sz="950" dirty="0">
                <a:solidFill>
                  <a:srgbClr val="EFF6FF"/>
                </a:solidFill>
                <a:latin typeface="Arial" pitchFamily="34" charset="0"/>
                <a:ea typeface="Arial" pitchFamily="34" charset="-122"/>
                <a:cs typeface="Arial" pitchFamily="34" charset="-120"/>
              </a:rPr>
              <a:t>Show RabbitMQ Management Console (http://localhost:15672) showing queues (flight.seat.deduct, booking.notification) or display architectural innovation diagrams.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D1E"/>
        </a:solidFill>
      </p:bgPr>
    </p:bg>
    <p:spTree>
      <p:nvGrpSpPr>
        <p:cNvPr id="1" name=""/>
        <p:cNvGrpSpPr/>
        <p:nvPr/>
      </p:nvGrpSpPr>
      <p:grpSpPr>
        <a:xfrm>
          <a:off x="0" y="0"/>
          <a:ext cx="0" cy="0"/>
          <a:chOff x="0" y="0"/>
          <a:chExt cx="0" cy="0"/>
        </a:xfrm>
      </p:grpSpPr>
      <p:sp>
        <p:nvSpPr>
          <p:cNvPr id="2" name="Shape 0"/>
          <p:cNvSpPr/>
          <p:nvPr/>
        </p:nvSpPr>
        <p:spPr>
          <a:xfrm>
            <a:off x="731520" y="365760"/>
            <a:ext cx="10698480" cy="822960"/>
          </a:xfrm>
          <a:prstGeom prst="rect">
            <a:avLst/>
          </a:prstGeom>
          <a:solidFill>
            <a:srgbClr val="0F172A"/>
          </a:solidFill>
          <a:ln w="15240">
            <a:solidFill>
              <a:srgbClr val="2563EB"/>
            </a:solidFill>
            <a:prstDash val="solid"/>
          </a:ln>
        </p:spPr>
      </p:sp>
      <p:sp>
        <p:nvSpPr>
          <p:cNvPr id="3" name="Text 1"/>
          <p:cNvSpPr/>
          <p:nvPr/>
        </p:nvSpPr>
        <p:spPr>
          <a:xfrm>
            <a:off x="914400" y="438912"/>
            <a:ext cx="5486400" cy="228600"/>
          </a:xfrm>
          <a:prstGeom prst="rect">
            <a:avLst/>
          </a:prstGeom>
          <a:noFill/>
          <a:ln/>
        </p:spPr>
        <p:txBody>
          <a:bodyPr wrap="square" rtlCol="0" anchor="ctr"/>
          <a:lstStyle/>
          <a:p>
            <a:pPr indent="0" marL="0">
              <a:buNone/>
            </a:pPr>
            <a:r>
              <a:rPr lang="en-US" sz="900" b="1" dirty="0">
                <a:solidFill>
                  <a:srgbClr val="38BDF8"/>
                </a:solidFill>
                <a:latin typeface="Arial" pitchFamily="34" charset="0"/>
                <a:ea typeface="Arial" pitchFamily="34" charset="-122"/>
                <a:cs typeface="Arial" pitchFamily="34" charset="-120"/>
              </a:rPr>
              <a:t>SLIDE 4 OF 11  |  02:45 – 03:30</a:t>
            </a:r>
            <a:endParaRPr lang="en-US" sz="900" dirty="0"/>
          </a:p>
        </p:txBody>
      </p:sp>
      <p:sp>
        <p:nvSpPr>
          <p:cNvPr id="4" name="Text 2"/>
          <p:cNvSpPr/>
          <p:nvPr/>
        </p:nvSpPr>
        <p:spPr>
          <a:xfrm>
            <a:off x="914400" y="658368"/>
            <a:ext cx="82296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Multi-Persona Experience &amp; Angular 18 Architecture</a:t>
            </a:r>
            <a:endParaRPr lang="en-US" sz="1600" dirty="0"/>
          </a:p>
        </p:txBody>
      </p:sp>
      <p:sp>
        <p:nvSpPr>
          <p:cNvPr id="5" name="Text 3"/>
          <p:cNvSpPr/>
          <p:nvPr/>
        </p:nvSpPr>
        <p:spPr>
          <a:xfrm>
            <a:off x="8686800" y="502920"/>
            <a:ext cx="2560320" cy="274320"/>
          </a:xfrm>
          <a:prstGeom prst="rect">
            <a:avLst/>
          </a:prstGeom>
          <a:noFill/>
          <a:ln/>
        </p:spPr>
        <p:txBody>
          <a:bodyPr wrap="square"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PART 1: OVERVIEW &amp; ARCHITECTURE</a:t>
            </a:r>
            <a:endParaRPr lang="en-US" sz="800" dirty="0"/>
          </a:p>
        </p:txBody>
      </p:sp>
      <p:sp>
        <p:nvSpPr>
          <p:cNvPr id="6" name="Shape 4"/>
          <p:cNvSpPr/>
          <p:nvPr/>
        </p:nvSpPr>
        <p:spPr>
          <a:xfrm>
            <a:off x="731520" y="1325880"/>
            <a:ext cx="6583680" cy="3337560"/>
          </a:xfrm>
          <a:prstGeom prst="rect">
            <a:avLst/>
          </a:prstGeom>
          <a:solidFill>
            <a:srgbClr val="0F172A"/>
          </a:solidFill>
          <a:ln w="12700">
            <a:solidFill>
              <a:srgbClr val="334155"/>
            </a:solidFill>
            <a:prstDash val="solid"/>
          </a:ln>
        </p:spPr>
      </p:sp>
      <p:sp>
        <p:nvSpPr>
          <p:cNvPr id="7" name="Text 5"/>
          <p:cNvSpPr/>
          <p:nvPr/>
        </p:nvSpPr>
        <p:spPr>
          <a:xfrm>
            <a:off x="914400" y="1417320"/>
            <a:ext cx="6217920" cy="27432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KEY ARCHITECTURAL &amp; TECHNICAL HIGHLIGHTS</a:t>
            </a:r>
            <a:endParaRPr lang="en-US" sz="1000" dirty="0"/>
          </a:p>
        </p:txBody>
      </p:sp>
      <p:sp>
        <p:nvSpPr>
          <p:cNvPr id="8" name="Text 6"/>
          <p:cNvSpPr/>
          <p:nvPr/>
        </p:nvSpPr>
        <p:spPr>
          <a:xfrm>
            <a:off x="914400" y="17830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Passenger Persona (/customer):</a:t>
            </a:r>
            <a:endParaRPr lang="en-US" sz="1000" dirty="0"/>
          </a:p>
        </p:txBody>
      </p:sp>
      <p:sp>
        <p:nvSpPr>
          <p:cNvPr id="9" name="Text 7"/>
          <p:cNvSpPr/>
          <p:nvPr/>
        </p:nvSpPr>
        <p:spPr>
          <a:xfrm>
            <a:off x="1188720" y="20116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Flight discovery, dynamic coupon engine, seat map selection, and e-ticket downloads.</a:t>
            </a:r>
            <a:endParaRPr lang="en-US" sz="950" dirty="0"/>
          </a:p>
        </p:txBody>
      </p:sp>
      <p:sp>
        <p:nvSpPr>
          <p:cNvPr id="10" name="Text 8"/>
          <p:cNvSpPr/>
          <p:nvPr/>
        </p:nvSpPr>
        <p:spPr>
          <a:xfrm>
            <a:off x="914400" y="24688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Airport Staff Persona (/staff):</a:t>
            </a:r>
            <a:endParaRPr lang="en-US" sz="1000" dirty="0"/>
          </a:p>
        </p:txBody>
      </p:sp>
      <p:sp>
        <p:nvSpPr>
          <p:cNvPr id="11" name="Text 9"/>
          <p:cNvSpPr/>
          <p:nvPr/>
        </p:nvSpPr>
        <p:spPr>
          <a:xfrm>
            <a:off x="1188720" y="26974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Ground desk manifests, real-time boarding barcode scanner, and flight status dispatcher.</a:t>
            </a:r>
            <a:endParaRPr lang="en-US" sz="950" dirty="0"/>
          </a:p>
        </p:txBody>
      </p:sp>
      <p:sp>
        <p:nvSpPr>
          <p:cNvPr id="12" name="Text 10"/>
          <p:cNvSpPr/>
          <p:nvPr/>
        </p:nvSpPr>
        <p:spPr>
          <a:xfrm>
            <a:off x="914400" y="31546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Admin Persona (/admin):</a:t>
            </a:r>
            <a:endParaRPr lang="en-US" sz="1000" dirty="0"/>
          </a:p>
        </p:txBody>
      </p:sp>
      <p:sp>
        <p:nvSpPr>
          <p:cNvPr id="13" name="Text 11"/>
          <p:cNvSpPr/>
          <p:nvPr/>
        </p:nvSpPr>
        <p:spPr>
          <a:xfrm>
            <a:off x="1188720" y="33832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Commercial fleet registry, flight route scheduling, fare matrix, and credentials audit.</a:t>
            </a:r>
            <a:endParaRPr lang="en-US" sz="950" dirty="0"/>
          </a:p>
        </p:txBody>
      </p:sp>
      <p:sp>
        <p:nvSpPr>
          <p:cNvPr id="14" name="Text 12"/>
          <p:cNvSpPr/>
          <p:nvPr/>
        </p:nvSpPr>
        <p:spPr>
          <a:xfrm>
            <a:off x="914400" y="38404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Quality &amp; Testing:</a:t>
            </a:r>
            <a:endParaRPr lang="en-US" sz="1000" dirty="0"/>
          </a:p>
        </p:txBody>
      </p:sp>
      <p:sp>
        <p:nvSpPr>
          <p:cNvPr id="15" name="Text 13"/>
          <p:cNvSpPr/>
          <p:nvPr/>
        </p:nvSpPr>
        <p:spPr>
          <a:xfrm>
            <a:off x="1188720" y="40690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Angular 18 standalone signals, Tailwind CSS, and SonarQube static analysis pipeline.</a:t>
            </a:r>
            <a:endParaRPr lang="en-US" sz="950" dirty="0"/>
          </a:p>
        </p:txBody>
      </p:sp>
      <p:sp>
        <p:nvSpPr>
          <p:cNvPr id="16" name="Shape 14"/>
          <p:cNvSpPr/>
          <p:nvPr/>
        </p:nvSpPr>
        <p:spPr>
          <a:xfrm>
            <a:off x="7498080" y="1325880"/>
            <a:ext cx="3931920" cy="1051560"/>
          </a:xfrm>
          <a:prstGeom prst="rect">
            <a:avLst/>
          </a:prstGeom>
          <a:solidFill>
            <a:srgbClr val="1E293B"/>
          </a:solidFill>
          <a:ln w="19050">
            <a:solidFill>
              <a:srgbClr val="38BDF8"/>
            </a:solidFill>
            <a:prstDash val="solid"/>
          </a:ln>
        </p:spPr>
      </p:sp>
      <p:sp>
        <p:nvSpPr>
          <p:cNvPr id="17" name="Text 15"/>
          <p:cNvSpPr/>
          <p:nvPr/>
        </p:nvSpPr>
        <p:spPr>
          <a:xfrm>
            <a:off x="7680960" y="1435608"/>
            <a:ext cx="3566160" cy="274320"/>
          </a:xfrm>
          <a:prstGeom prst="rect">
            <a:avLst/>
          </a:prstGeom>
          <a:noFill/>
          <a:ln/>
        </p:spPr>
        <p:txBody>
          <a:bodyPr wrap="square" rtlCol="0" anchor="ctr"/>
          <a:lstStyle/>
          <a:p>
            <a:pPr indent="0" marL="0">
              <a:buNone/>
            </a:pPr>
            <a:r>
              <a:rPr lang="en-US" sz="1100" b="1" dirty="0">
                <a:solidFill>
                  <a:srgbClr val="38BDF8"/>
                </a:solidFill>
                <a:latin typeface="Arial" pitchFamily="34" charset="0"/>
                <a:ea typeface="Arial" pitchFamily="34" charset="-122"/>
                <a:cs typeface="Arial" pitchFamily="34" charset="-120"/>
              </a:rPr>
              <a:t>Passenger Portal</a:t>
            </a:r>
            <a:endParaRPr lang="en-US" sz="1100" dirty="0"/>
          </a:p>
        </p:txBody>
      </p:sp>
      <p:sp>
        <p:nvSpPr>
          <p:cNvPr id="18" name="Text 16"/>
          <p:cNvSpPr/>
          <p:nvPr/>
        </p:nvSpPr>
        <p:spPr>
          <a:xfrm>
            <a:off x="7680960" y="1737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Search, Seat Map, Razorpay, PDF E-Tickets, Web Check-In</a:t>
            </a:r>
            <a:endParaRPr lang="en-US" sz="900" dirty="0"/>
          </a:p>
        </p:txBody>
      </p:sp>
      <p:sp>
        <p:nvSpPr>
          <p:cNvPr id="19" name="Shape 17"/>
          <p:cNvSpPr/>
          <p:nvPr/>
        </p:nvSpPr>
        <p:spPr>
          <a:xfrm>
            <a:off x="7498080" y="2468880"/>
            <a:ext cx="3931920" cy="1051560"/>
          </a:xfrm>
          <a:prstGeom prst="rect">
            <a:avLst/>
          </a:prstGeom>
          <a:solidFill>
            <a:srgbClr val="1E293B"/>
          </a:solidFill>
          <a:ln w="19050">
            <a:solidFill>
              <a:srgbClr val="10B981"/>
            </a:solidFill>
            <a:prstDash val="solid"/>
          </a:ln>
        </p:spPr>
      </p:sp>
      <p:sp>
        <p:nvSpPr>
          <p:cNvPr id="20" name="Text 18"/>
          <p:cNvSpPr/>
          <p:nvPr/>
        </p:nvSpPr>
        <p:spPr>
          <a:xfrm>
            <a:off x="7680960" y="2578608"/>
            <a:ext cx="3566160" cy="274320"/>
          </a:xfrm>
          <a:prstGeom prst="rect">
            <a:avLst/>
          </a:prstGeom>
          <a:noFill/>
          <a:ln/>
        </p:spPr>
        <p:txBody>
          <a:bodyPr wrap="square" rtlCol="0" anchor="ctr"/>
          <a:lstStyle/>
          <a:p>
            <a:pPr indent="0" marL="0">
              <a:buNone/>
            </a:pPr>
            <a:r>
              <a:rPr lang="en-US" sz="1100" b="1" dirty="0">
                <a:solidFill>
                  <a:srgbClr val="10B981"/>
                </a:solidFill>
                <a:latin typeface="Arial" pitchFamily="34" charset="0"/>
                <a:ea typeface="Arial" pitchFamily="34" charset="-122"/>
                <a:cs typeface="Arial" pitchFamily="34" charset="-120"/>
              </a:rPr>
              <a:t>Ground Staff Operations</a:t>
            </a:r>
            <a:endParaRPr lang="en-US" sz="1100" dirty="0"/>
          </a:p>
        </p:txBody>
      </p:sp>
      <p:sp>
        <p:nvSpPr>
          <p:cNvPr id="21" name="Text 19"/>
          <p:cNvSpPr/>
          <p:nvPr/>
        </p:nvSpPr>
        <p:spPr>
          <a:xfrm>
            <a:off x="7680960" y="2880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Passenger Manifest, BCBP Barcode Scanner, Gate Dispatcher</a:t>
            </a:r>
            <a:endParaRPr lang="en-US" sz="900" dirty="0"/>
          </a:p>
        </p:txBody>
      </p:sp>
      <p:sp>
        <p:nvSpPr>
          <p:cNvPr id="22" name="Shape 20"/>
          <p:cNvSpPr/>
          <p:nvPr/>
        </p:nvSpPr>
        <p:spPr>
          <a:xfrm>
            <a:off x="7498080" y="3611880"/>
            <a:ext cx="3931920" cy="1051560"/>
          </a:xfrm>
          <a:prstGeom prst="rect">
            <a:avLst/>
          </a:prstGeom>
          <a:solidFill>
            <a:srgbClr val="1E293B"/>
          </a:solidFill>
          <a:ln w="19050">
            <a:solidFill>
              <a:srgbClr val="8B5CF6"/>
            </a:solidFill>
            <a:prstDash val="solid"/>
          </a:ln>
        </p:spPr>
      </p:sp>
      <p:sp>
        <p:nvSpPr>
          <p:cNvPr id="23" name="Text 21"/>
          <p:cNvSpPr/>
          <p:nvPr/>
        </p:nvSpPr>
        <p:spPr>
          <a:xfrm>
            <a:off x="7680960" y="3721608"/>
            <a:ext cx="3566160" cy="274320"/>
          </a:xfrm>
          <a:prstGeom prst="rect">
            <a:avLst/>
          </a:prstGeom>
          <a:noFill/>
          <a:ln/>
        </p:spPr>
        <p:txBody>
          <a:bodyPr wrap="square" rtlCol="0" anchor="ctr"/>
          <a:lstStyle/>
          <a:p>
            <a:pPr indent="0" marL="0">
              <a:buNone/>
            </a:pPr>
            <a:r>
              <a:rPr lang="en-US" sz="1100" b="1" dirty="0">
                <a:solidFill>
                  <a:srgbClr val="8B5CF6"/>
                </a:solidFill>
                <a:latin typeface="Arial" pitchFamily="34" charset="0"/>
                <a:ea typeface="Arial" pitchFamily="34" charset="-122"/>
                <a:cs typeface="Arial" pitchFamily="34" charset="-120"/>
              </a:rPr>
              <a:t>Executive Admin</a:t>
            </a:r>
            <a:endParaRPr lang="en-US" sz="1100" dirty="0"/>
          </a:p>
        </p:txBody>
      </p:sp>
      <p:sp>
        <p:nvSpPr>
          <p:cNvPr id="24" name="Text 22"/>
          <p:cNvSpPr/>
          <p:nvPr/>
        </p:nvSpPr>
        <p:spPr>
          <a:xfrm>
            <a:off x="7680960" y="4023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Aircraft Fleet, Route Pricing, Promo Campaigns, User Audit</a:t>
            </a:r>
            <a:endParaRPr lang="en-US" sz="900" dirty="0"/>
          </a:p>
        </p:txBody>
      </p:sp>
      <p:sp>
        <p:nvSpPr>
          <p:cNvPr id="25" name="Shape 23"/>
          <p:cNvSpPr/>
          <p:nvPr/>
        </p:nvSpPr>
        <p:spPr>
          <a:xfrm>
            <a:off x="731520" y="4800600"/>
            <a:ext cx="10698480" cy="1463040"/>
          </a:xfrm>
          <a:prstGeom prst="rect">
            <a:avLst/>
          </a:prstGeom>
          <a:solidFill>
            <a:srgbClr val="172554"/>
          </a:solidFill>
          <a:ln w="15240">
            <a:solidFill>
              <a:srgbClr val="3B82F6"/>
            </a:solidFill>
            <a:prstDash val="solid"/>
          </a:ln>
        </p:spPr>
      </p:sp>
      <p:sp>
        <p:nvSpPr>
          <p:cNvPr id="26" name="Text 24"/>
          <p:cNvSpPr/>
          <p:nvPr/>
        </p:nvSpPr>
        <p:spPr>
          <a:xfrm>
            <a:off x="914400" y="4892040"/>
            <a:ext cx="10332720" cy="228600"/>
          </a:xfrm>
          <a:prstGeom prst="rect">
            <a:avLst/>
          </a:prstGeom>
          <a:noFill/>
          <a:ln/>
        </p:spPr>
        <p:txBody>
          <a:bodyPr wrap="square" rtlCol="0" anchor="ctr"/>
          <a:lstStyle/>
          <a:p>
            <a:pPr indent="0" marL="0">
              <a:buNone/>
            </a:pPr>
            <a:r>
              <a:rPr lang="en-US" sz="950" b="1" dirty="0">
                <a:solidFill>
                  <a:srgbClr val="60A5FA"/>
                </a:solidFill>
                <a:latin typeface="Arial" pitchFamily="34" charset="0"/>
                <a:ea typeface="Arial" pitchFamily="34" charset="-122"/>
                <a:cs typeface="Arial" pitchFamily="34" charset="-120"/>
              </a:rPr>
              <a:t>ON-SCREEN ACTION / LIVE DEMO CUE:</a:t>
            </a:r>
            <a:endParaRPr lang="en-US" sz="950" dirty="0"/>
          </a:p>
        </p:txBody>
      </p:sp>
      <p:sp>
        <p:nvSpPr>
          <p:cNvPr id="27" name="Text 25"/>
          <p:cNvSpPr/>
          <p:nvPr/>
        </p:nvSpPr>
        <p:spPr>
          <a:xfrm>
            <a:off x="914400" y="5166360"/>
            <a:ext cx="10332720" cy="1005840"/>
          </a:xfrm>
          <a:prstGeom prst="rect">
            <a:avLst/>
          </a:prstGeom>
          <a:noFill/>
          <a:ln/>
        </p:spPr>
        <p:txBody>
          <a:bodyPr wrap="square" rtlCol="0" anchor="ctr"/>
          <a:lstStyle/>
          <a:p>
            <a:pPr indent="0" marL="0">
              <a:buNone/>
            </a:pPr>
            <a:r>
              <a:rPr lang="en-US" sz="950" dirty="0">
                <a:solidFill>
                  <a:srgbClr val="EFF6FF"/>
                </a:solidFill>
                <a:latin typeface="Arial" pitchFamily="34" charset="0"/>
                <a:ea typeface="Arial" pitchFamily="34" charset="-122"/>
                <a:cs typeface="Arial" pitchFamily="34" charset="-120"/>
              </a:rPr>
              <a:t>Return to Angular 18 Frontend (http://localhost:4200). Smoothly scroll through the responsive homepage UI showcasing Tailwind styling and Lucide icons.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D1E"/>
        </a:solidFill>
      </p:bgPr>
    </p:bg>
    <p:spTree>
      <p:nvGrpSpPr>
        <p:cNvPr id="1" name=""/>
        <p:cNvGrpSpPr/>
        <p:nvPr/>
      </p:nvGrpSpPr>
      <p:grpSpPr>
        <a:xfrm>
          <a:off x="0" y="0"/>
          <a:ext cx="0" cy="0"/>
          <a:chOff x="0" y="0"/>
          <a:chExt cx="0" cy="0"/>
        </a:xfrm>
      </p:grpSpPr>
      <p:sp>
        <p:nvSpPr>
          <p:cNvPr id="2" name="Shape 0"/>
          <p:cNvSpPr/>
          <p:nvPr/>
        </p:nvSpPr>
        <p:spPr>
          <a:xfrm>
            <a:off x="731520" y="365760"/>
            <a:ext cx="10698480" cy="822960"/>
          </a:xfrm>
          <a:prstGeom prst="rect">
            <a:avLst/>
          </a:prstGeom>
          <a:solidFill>
            <a:srgbClr val="0F172A"/>
          </a:solidFill>
          <a:ln w="15240">
            <a:solidFill>
              <a:srgbClr val="2563EB"/>
            </a:solidFill>
            <a:prstDash val="solid"/>
          </a:ln>
        </p:spPr>
      </p:sp>
      <p:sp>
        <p:nvSpPr>
          <p:cNvPr id="3" name="Text 1"/>
          <p:cNvSpPr/>
          <p:nvPr/>
        </p:nvSpPr>
        <p:spPr>
          <a:xfrm>
            <a:off x="914400" y="438912"/>
            <a:ext cx="5486400" cy="228600"/>
          </a:xfrm>
          <a:prstGeom prst="rect">
            <a:avLst/>
          </a:prstGeom>
          <a:noFill/>
          <a:ln/>
        </p:spPr>
        <p:txBody>
          <a:bodyPr wrap="square" rtlCol="0" anchor="ctr"/>
          <a:lstStyle/>
          <a:p>
            <a:pPr indent="0" marL="0">
              <a:buNone/>
            </a:pPr>
            <a:r>
              <a:rPr lang="en-US" sz="900" b="1" dirty="0">
                <a:solidFill>
                  <a:srgbClr val="38BDF8"/>
                </a:solidFill>
                <a:latin typeface="Arial" pitchFamily="34" charset="0"/>
                <a:ea typeface="Arial" pitchFamily="34" charset="-122"/>
                <a:cs typeface="Arial" pitchFamily="34" charset="-120"/>
              </a:rPr>
              <a:t>SLIDE 5 OF 11  |  03:30 – 04:00</a:t>
            </a:r>
            <a:endParaRPr lang="en-US" sz="900" dirty="0"/>
          </a:p>
        </p:txBody>
      </p:sp>
      <p:sp>
        <p:nvSpPr>
          <p:cNvPr id="4" name="Text 2"/>
          <p:cNvSpPr/>
          <p:nvPr/>
        </p:nvSpPr>
        <p:spPr>
          <a:xfrm>
            <a:off x="914400" y="658368"/>
            <a:ext cx="82296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Transition to Live Demo &amp; Environment Topology</a:t>
            </a:r>
            <a:endParaRPr lang="en-US" sz="1600" dirty="0"/>
          </a:p>
        </p:txBody>
      </p:sp>
      <p:sp>
        <p:nvSpPr>
          <p:cNvPr id="5" name="Text 3"/>
          <p:cNvSpPr/>
          <p:nvPr/>
        </p:nvSpPr>
        <p:spPr>
          <a:xfrm>
            <a:off x="8686800" y="502920"/>
            <a:ext cx="2560320" cy="274320"/>
          </a:xfrm>
          <a:prstGeom prst="rect">
            <a:avLst/>
          </a:prstGeom>
          <a:noFill/>
          <a:ln/>
        </p:spPr>
        <p:txBody>
          <a:bodyPr wrap="square"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PART 1: OVERVIEW &amp; ARCHITECTURE</a:t>
            </a:r>
            <a:endParaRPr lang="en-US" sz="800" dirty="0"/>
          </a:p>
        </p:txBody>
      </p:sp>
      <p:sp>
        <p:nvSpPr>
          <p:cNvPr id="6" name="Shape 4"/>
          <p:cNvSpPr/>
          <p:nvPr/>
        </p:nvSpPr>
        <p:spPr>
          <a:xfrm>
            <a:off x="731520" y="1325880"/>
            <a:ext cx="6583680" cy="3337560"/>
          </a:xfrm>
          <a:prstGeom prst="rect">
            <a:avLst/>
          </a:prstGeom>
          <a:solidFill>
            <a:srgbClr val="0F172A"/>
          </a:solidFill>
          <a:ln w="12700">
            <a:solidFill>
              <a:srgbClr val="334155"/>
            </a:solidFill>
            <a:prstDash val="solid"/>
          </a:ln>
        </p:spPr>
      </p:sp>
      <p:sp>
        <p:nvSpPr>
          <p:cNvPr id="7" name="Text 5"/>
          <p:cNvSpPr/>
          <p:nvPr/>
        </p:nvSpPr>
        <p:spPr>
          <a:xfrm>
            <a:off x="914400" y="1417320"/>
            <a:ext cx="6217920" cy="27432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KEY ARCHITECTURAL &amp; TECHNICAL HIGHLIGHTS</a:t>
            </a:r>
            <a:endParaRPr lang="en-US" sz="1000" dirty="0"/>
          </a:p>
        </p:txBody>
      </p:sp>
      <p:sp>
        <p:nvSpPr>
          <p:cNvPr id="8" name="Text 6"/>
          <p:cNvSpPr/>
          <p:nvPr/>
        </p:nvSpPr>
        <p:spPr>
          <a:xfrm>
            <a:off x="914400" y="17830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Passenger Test Account:</a:t>
            </a:r>
            <a:endParaRPr lang="en-US" sz="1000" dirty="0"/>
          </a:p>
        </p:txBody>
      </p:sp>
      <p:sp>
        <p:nvSpPr>
          <p:cNvPr id="9" name="Text 7"/>
          <p:cNvSpPr/>
          <p:nvPr/>
        </p:nvSpPr>
        <p:spPr>
          <a:xfrm>
            <a:off x="1188720" y="20116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priya@gmail.com / Passenger@123 (ROLE_USER -&gt; Routes to /customer)</a:t>
            </a:r>
            <a:endParaRPr lang="en-US" sz="950" dirty="0"/>
          </a:p>
        </p:txBody>
      </p:sp>
      <p:sp>
        <p:nvSpPr>
          <p:cNvPr id="10" name="Text 8"/>
          <p:cNvSpPr/>
          <p:nvPr/>
        </p:nvSpPr>
        <p:spPr>
          <a:xfrm>
            <a:off x="914400" y="24688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Ground Staff Test Account:</a:t>
            </a:r>
            <a:endParaRPr lang="en-US" sz="1000" dirty="0"/>
          </a:p>
        </p:txBody>
      </p:sp>
      <p:sp>
        <p:nvSpPr>
          <p:cNvPr id="11" name="Text 9"/>
          <p:cNvSpPr/>
          <p:nvPr/>
        </p:nvSpPr>
        <p:spPr>
          <a:xfrm>
            <a:off x="1188720" y="26974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staff@aerobook.com / Staff@123 (ROLE_STAFF -&gt; Routes to /staff)</a:t>
            </a:r>
            <a:endParaRPr lang="en-US" sz="950" dirty="0"/>
          </a:p>
        </p:txBody>
      </p:sp>
      <p:sp>
        <p:nvSpPr>
          <p:cNvPr id="12" name="Text 10"/>
          <p:cNvSpPr/>
          <p:nvPr/>
        </p:nvSpPr>
        <p:spPr>
          <a:xfrm>
            <a:off x="914400" y="31546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System Admin Test Account:</a:t>
            </a:r>
            <a:endParaRPr lang="en-US" sz="1000" dirty="0"/>
          </a:p>
        </p:txBody>
      </p:sp>
      <p:sp>
        <p:nvSpPr>
          <p:cNvPr id="13" name="Text 11"/>
          <p:cNvSpPr/>
          <p:nvPr/>
        </p:nvSpPr>
        <p:spPr>
          <a:xfrm>
            <a:off x="1188720" y="33832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admin@aerobook.com / Admin@123 (ROLE_ADMIN -&gt; Routes to /admin)</a:t>
            </a:r>
            <a:endParaRPr lang="en-US" sz="950" dirty="0"/>
          </a:p>
        </p:txBody>
      </p:sp>
      <p:sp>
        <p:nvSpPr>
          <p:cNvPr id="14" name="Text 12"/>
          <p:cNvSpPr/>
          <p:nvPr/>
        </p:nvSpPr>
        <p:spPr>
          <a:xfrm>
            <a:off x="914400" y="38404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Promotional Test Coupon:</a:t>
            </a:r>
            <a:endParaRPr lang="en-US" sz="1000" dirty="0"/>
          </a:p>
        </p:txBody>
      </p:sp>
      <p:sp>
        <p:nvSpPr>
          <p:cNvPr id="15" name="Text 13"/>
          <p:cNvSpPr/>
          <p:nvPr/>
        </p:nvSpPr>
        <p:spPr>
          <a:xfrm>
            <a:off x="1188720" y="40690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WELCOME10 or AERO2026 (10% Dynamic Discount Calculation)</a:t>
            </a:r>
            <a:endParaRPr lang="en-US" sz="950" dirty="0"/>
          </a:p>
        </p:txBody>
      </p:sp>
      <p:sp>
        <p:nvSpPr>
          <p:cNvPr id="16" name="Shape 14"/>
          <p:cNvSpPr/>
          <p:nvPr/>
        </p:nvSpPr>
        <p:spPr>
          <a:xfrm>
            <a:off x="7498080" y="1325880"/>
            <a:ext cx="3931920" cy="1051560"/>
          </a:xfrm>
          <a:prstGeom prst="rect">
            <a:avLst/>
          </a:prstGeom>
          <a:solidFill>
            <a:srgbClr val="1E293B"/>
          </a:solidFill>
          <a:ln w="19050">
            <a:solidFill>
              <a:srgbClr val="38BDF8"/>
            </a:solidFill>
            <a:prstDash val="solid"/>
          </a:ln>
        </p:spPr>
      </p:sp>
      <p:sp>
        <p:nvSpPr>
          <p:cNvPr id="17" name="Text 15"/>
          <p:cNvSpPr/>
          <p:nvPr/>
        </p:nvSpPr>
        <p:spPr>
          <a:xfrm>
            <a:off x="7680960" y="1435608"/>
            <a:ext cx="3566160" cy="274320"/>
          </a:xfrm>
          <a:prstGeom prst="rect">
            <a:avLst/>
          </a:prstGeom>
          <a:noFill/>
          <a:ln/>
        </p:spPr>
        <p:txBody>
          <a:bodyPr wrap="square" rtlCol="0" anchor="ctr"/>
          <a:lstStyle/>
          <a:p>
            <a:pPr indent="0" marL="0">
              <a:buNone/>
            </a:pPr>
            <a:r>
              <a:rPr lang="en-US" sz="1100" b="1" dirty="0">
                <a:solidFill>
                  <a:srgbClr val="38BDF8"/>
                </a:solidFill>
                <a:latin typeface="Arial" pitchFamily="34" charset="0"/>
                <a:ea typeface="Arial" pitchFamily="34" charset="-122"/>
                <a:cs typeface="Arial" pitchFamily="34" charset="-120"/>
              </a:rPr>
              <a:t>Frontend Host</a:t>
            </a:r>
            <a:endParaRPr lang="en-US" sz="1100" dirty="0"/>
          </a:p>
        </p:txBody>
      </p:sp>
      <p:sp>
        <p:nvSpPr>
          <p:cNvPr id="18" name="Text 16"/>
          <p:cNvSpPr/>
          <p:nvPr/>
        </p:nvSpPr>
        <p:spPr>
          <a:xfrm>
            <a:off x="7680960" y="1737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http://localhost:4200 (Angular 18 Standalone SPA)</a:t>
            </a:r>
            <a:endParaRPr lang="en-US" sz="900" dirty="0"/>
          </a:p>
        </p:txBody>
      </p:sp>
      <p:sp>
        <p:nvSpPr>
          <p:cNvPr id="19" name="Shape 17"/>
          <p:cNvSpPr/>
          <p:nvPr/>
        </p:nvSpPr>
        <p:spPr>
          <a:xfrm>
            <a:off x="7498080" y="2468880"/>
            <a:ext cx="3931920" cy="1051560"/>
          </a:xfrm>
          <a:prstGeom prst="rect">
            <a:avLst/>
          </a:prstGeom>
          <a:solidFill>
            <a:srgbClr val="1E293B"/>
          </a:solidFill>
          <a:ln w="19050">
            <a:solidFill>
              <a:srgbClr val="6366F1"/>
            </a:solidFill>
            <a:prstDash val="solid"/>
          </a:ln>
        </p:spPr>
      </p:sp>
      <p:sp>
        <p:nvSpPr>
          <p:cNvPr id="20" name="Text 18"/>
          <p:cNvSpPr/>
          <p:nvPr/>
        </p:nvSpPr>
        <p:spPr>
          <a:xfrm>
            <a:off x="7680960" y="2578608"/>
            <a:ext cx="3566160" cy="274320"/>
          </a:xfrm>
          <a:prstGeom prst="rect">
            <a:avLst/>
          </a:prstGeom>
          <a:noFill/>
          <a:ln/>
        </p:spPr>
        <p:txBody>
          <a:bodyPr wrap="square" rtlCol="0" anchor="ctr"/>
          <a:lstStyle/>
          <a:p>
            <a:pPr indent="0" marL="0">
              <a:buNone/>
            </a:pPr>
            <a:r>
              <a:rPr lang="en-US" sz="1100" b="1" dirty="0">
                <a:solidFill>
                  <a:srgbClr val="6366F1"/>
                </a:solidFill>
                <a:latin typeface="Arial" pitchFamily="34" charset="0"/>
                <a:ea typeface="Arial" pitchFamily="34" charset="-122"/>
                <a:cs typeface="Arial" pitchFamily="34" charset="-120"/>
              </a:rPr>
              <a:t>API Gateway</a:t>
            </a:r>
            <a:endParaRPr lang="en-US" sz="1100" dirty="0"/>
          </a:p>
        </p:txBody>
      </p:sp>
      <p:sp>
        <p:nvSpPr>
          <p:cNvPr id="21" name="Text 19"/>
          <p:cNvSpPr/>
          <p:nvPr/>
        </p:nvSpPr>
        <p:spPr>
          <a:xfrm>
            <a:off x="7680960" y="2880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http://localhost:8083 (Spring Cloud Netty Gateway)</a:t>
            </a:r>
            <a:endParaRPr lang="en-US" sz="900" dirty="0"/>
          </a:p>
        </p:txBody>
      </p:sp>
      <p:sp>
        <p:nvSpPr>
          <p:cNvPr id="22" name="Shape 20"/>
          <p:cNvSpPr/>
          <p:nvPr/>
        </p:nvSpPr>
        <p:spPr>
          <a:xfrm>
            <a:off x="7498080" y="3611880"/>
            <a:ext cx="3931920" cy="1051560"/>
          </a:xfrm>
          <a:prstGeom prst="rect">
            <a:avLst/>
          </a:prstGeom>
          <a:solidFill>
            <a:srgbClr val="1E293B"/>
          </a:solidFill>
          <a:ln w="19050">
            <a:solidFill>
              <a:srgbClr val="10B981"/>
            </a:solidFill>
            <a:prstDash val="solid"/>
          </a:ln>
        </p:spPr>
      </p:sp>
      <p:sp>
        <p:nvSpPr>
          <p:cNvPr id="23" name="Text 21"/>
          <p:cNvSpPr/>
          <p:nvPr/>
        </p:nvSpPr>
        <p:spPr>
          <a:xfrm>
            <a:off x="7680960" y="3721608"/>
            <a:ext cx="3566160" cy="274320"/>
          </a:xfrm>
          <a:prstGeom prst="rect">
            <a:avLst/>
          </a:prstGeom>
          <a:noFill/>
          <a:ln/>
        </p:spPr>
        <p:txBody>
          <a:bodyPr wrap="square" rtlCol="0" anchor="ctr"/>
          <a:lstStyle/>
          <a:p>
            <a:pPr indent="0" marL="0">
              <a:buNone/>
            </a:pPr>
            <a:r>
              <a:rPr lang="en-US" sz="1100" b="1" dirty="0">
                <a:solidFill>
                  <a:srgbClr val="10B981"/>
                </a:solidFill>
                <a:latin typeface="Arial" pitchFamily="34" charset="0"/>
                <a:ea typeface="Arial" pitchFamily="34" charset="-122"/>
                <a:cs typeface="Arial" pitchFamily="34" charset="-120"/>
              </a:rPr>
              <a:t>Eureka Registry</a:t>
            </a:r>
            <a:endParaRPr lang="en-US" sz="1100" dirty="0"/>
          </a:p>
        </p:txBody>
      </p:sp>
      <p:sp>
        <p:nvSpPr>
          <p:cNvPr id="24" name="Text 22"/>
          <p:cNvSpPr/>
          <p:nvPr/>
        </p:nvSpPr>
        <p:spPr>
          <a:xfrm>
            <a:off x="7680960" y="4023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http://localhost:8761 (10 Active Registered Microservices)</a:t>
            </a:r>
            <a:endParaRPr lang="en-US" sz="900" dirty="0"/>
          </a:p>
        </p:txBody>
      </p:sp>
      <p:sp>
        <p:nvSpPr>
          <p:cNvPr id="25" name="Shape 23"/>
          <p:cNvSpPr/>
          <p:nvPr/>
        </p:nvSpPr>
        <p:spPr>
          <a:xfrm>
            <a:off x="731520" y="4800600"/>
            <a:ext cx="10698480" cy="1463040"/>
          </a:xfrm>
          <a:prstGeom prst="rect">
            <a:avLst/>
          </a:prstGeom>
          <a:solidFill>
            <a:srgbClr val="172554"/>
          </a:solidFill>
          <a:ln w="15240">
            <a:solidFill>
              <a:srgbClr val="3B82F6"/>
            </a:solidFill>
            <a:prstDash val="solid"/>
          </a:ln>
        </p:spPr>
      </p:sp>
      <p:sp>
        <p:nvSpPr>
          <p:cNvPr id="26" name="Text 24"/>
          <p:cNvSpPr/>
          <p:nvPr/>
        </p:nvSpPr>
        <p:spPr>
          <a:xfrm>
            <a:off x="914400" y="4892040"/>
            <a:ext cx="10332720" cy="228600"/>
          </a:xfrm>
          <a:prstGeom prst="rect">
            <a:avLst/>
          </a:prstGeom>
          <a:noFill/>
          <a:ln/>
        </p:spPr>
        <p:txBody>
          <a:bodyPr wrap="square" rtlCol="0" anchor="ctr"/>
          <a:lstStyle/>
          <a:p>
            <a:pPr indent="0" marL="0">
              <a:buNone/>
            </a:pPr>
            <a:r>
              <a:rPr lang="en-US" sz="950" b="1" dirty="0">
                <a:solidFill>
                  <a:srgbClr val="60A5FA"/>
                </a:solidFill>
                <a:latin typeface="Arial" pitchFamily="34" charset="0"/>
                <a:ea typeface="Arial" pitchFamily="34" charset="-122"/>
                <a:cs typeface="Arial" pitchFamily="34" charset="-120"/>
              </a:rPr>
              <a:t>ON-SCREEN ACTION / LIVE DEMO CUE:</a:t>
            </a:r>
            <a:endParaRPr lang="en-US" sz="950" dirty="0"/>
          </a:p>
        </p:txBody>
      </p:sp>
      <p:sp>
        <p:nvSpPr>
          <p:cNvPr id="27" name="Text 25"/>
          <p:cNvSpPr/>
          <p:nvPr/>
        </p:nvSpPr>
        <p:spPr>
          <a:xfrm>
            <a:off x="914400" y="5166360"/>
            <a:ext cx="10332720" cy="1005840"/>
          </a:xfrm>
          <a:prstGeom prst="rect">
            <a:avLst/>
          </a:prstGeom>
          <a:noFill/>
          <a:ln/>
        </p:spPr>
        <p:txBody>
          <a:bodyPr wrap="square" rtlCol="0" anchor="ctr"/>
          <a:lstStyle/>
          <a:p>
            <a:pPr indent="0" marL="0">
              <a:buNone/>
            </a:pPr>
            <a:r>
              <a:rPr lang="en-US" sz="950" dirty="0">
                <a:solidFill>
                  <a:srgbClr val="EFF6FF"/>
                </a:solidFill>
                <a:latin typeface="Arial" pitchFamily="34" charset="0"/>
                <a:ea typeface="Arial" pitchFamily="34" charset="-122"/>
                <a:cs typeface="Arial" pitchFamily="34" charset="-120"/>
              </a:rPr>
              <a:t>Hover over the Login button on the top navigation bar. Prepare the credentials table on screen for a smooth live walkthrough transition.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D1E"/>
        </a:solidFill>
      </p:bgPr>
    </p:bg>
    <p:spTree>
      <p:nvGrpSpPr>
        <p:cNvPr id="1" name=""/>
        <p:cNvGrpSpPr/>
        <p:nvPr/>
      </p:nvGrpSpPr>
      <p:grpSpPr>
        <a:xfrm>
          <a:off x="0" y="0"/>
          <a:ext cx="0" cy="0"/>
          <a:chOff x="0" y="0"/>
          <a:chExt cx="0" cy="0"/>
        </a:xfrm>
      </p:grpSpPr>
      <p:sp>
        <p:nvSpPr>
          <p:cNvPr id="2" name="Shape 0"/>
          <p:cNvSpPr/>
          <p:nvPr/>
        </p:nvSpPr>
        <p:spPr>
          <a:xfrm>
            <a:off x="731520" y="365760"/>
            <a:ext cx="10698480" cy="822960"/>
          </a:xfrm>
          <a:prstGeom prst="rect">
            <a:avLst/>
          </a:prstGeom>
          <a:solidFill>
            <a:srgbClr val="0F172A"/>
          </a:solidFill>
          <a:ln w="15240">
            <a:solidFill>
              <a:srgbClr val="2563EB"/>
            </a:solidFill>
            <a:prstDash val="solid"/>
          </a:ln>
        </p:spPr>
      </p:sp>
      <p:sp>
        <p:nvSpPr>
          <p:cNvPr id="3" name="Text 1"/>
          <p:cNvSpPr/>
          <p:nvPr/>
        </p:nvSpPr>
        <p:spPr>
          <a:xfrm>
            <a:off x="914400" y="438912"/>
            <a:ext cx="5486400" cy="228600"/>
          </a:xfrm>
          <a:prstGeom prst="rect">
            <a:avLst/>
          </a:prstGeom>
          <a:noFill/>
          <a:ln/>
        </p:spPr>
        <p:txBody>
          <a:bodyPr wrap="square" rtlCol="0" anchor="ctr"/>
          <a:lstStyle/>
          <a:p>
            <a:pPr indent="0" marL="0">
              <a:buNone/>
            </a:pPr>
            <a:r>
              <a:rPr lang="en-US" sz="900" b="1" dirty="0">
                <a:solidFill>
                  <a:srgbClr val="38BDF8"/>
                </a:solidFill>
                <a:latin typeface="Arial" pitchFamily="34" charset="0"/>
                <a:ea typeface="Arial" pitchFamily="34" charset="-122"/>
                <a:cs typeface="Arial" pitchFamily="34" charset="-120"/>
              </a:rPr>
              <a:t>SLIDE 6 OF 11  |  04:00 – 05:30</a:t>
            </a:r>
            <a:endParaRPr lang="en-US" sz="900" dirty="0"/>
          </a:p>
        </p:txBody>
      </p:sp>
      <p:sp>
        <p:nvSpPr>
          <p:cNvPr id="4" name="Text 2"/>
          <p:cNvSpPr/>
          <p:nvPr/>
        </p:nvSpPr>
        <p:spPr>
          <a:xfrm>
            <a:off x="914400" y="658368"/>
            <a:ext cx="82296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Live Step 1: Passenger Flight Search &amp; Dynamic Fares</a:t>
            </a:r>
            <a:endParaRPr lang="en-US" sz="1600" dirty="0"/>
          </a:p>
        </p:txBody>
      </p:sp>
      <p:sp>
        <p:nvSpPr>
          <p:cNvPr id="5" name="Text 3"/>
          <p:cNvSpPr/>
          <p:nvPr/>
        </p:nvSpPr>
        <p:spPr>
          <a:xfrm>
            <a:off x="8686800" y="502920"/>
            <a:ext cx="2560320" cy="274320"/>
          </a:xfrm>
          <a:prstGeom prst="rect">
            <a:avLst/>
          </a:prstGeom>
          <a:noFill/>
          <a:ln/>
        </p:spPr>
        <p:txBody>
          <a:bodyPr wrap="square"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PART 2: LIVE SYSTEM DEMONSTRATION</a:t>
            </a:r>
            <a:endParaRPr lang="en-US" sz="800" dirty="0"/>
          </a:p>
        </p:txBody>
      </p:sp>
      <p:sp>
        <p:nvSpPr>
          <p:cNvPr id="6" name="Shape 4"/>
          <p:cNvSpPr/>
          <p:nvPr/>
        </p:nvSpPr>
        <p:spPr>
          <a:xfrm>
            <a:off x="731520" y="1325880"/>
            <a:ext cx="6583680" cy="3337560"/>
          </a:xfrm>
          <a:prstGeom prst="rect">
            <a:avLst/>
          </a:prstGeom>
          <a:solidFill>
            <a:srgbClr val="0F172A"/>
          </a:solidFill>
          <a:ln w="12700">
            <a:solidFill>
              <a:srgbClr val="334155"/>
            </a:solidFill>
            <a:prstDash val="solid"/>
          </a:ln>
        </p:spPr>
      </p:sp>
      <p:sp>
        <p:nvSpPr>
          <p:cNvPr id="7" name="Text 5"/>
          <p:cNvSpPr/>
          <p:nvPr/>
        </p:nvSpPr>
        <p:spPr>
          <a:xfrm>
            <a:off x="914400" y="1417320"/>
            <a:ext cx="6217920" cy="27432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KEY ARCHITECTURAL &amp; TECHNICAL HIGHLIGHTS</a:t>
            </a:r>
            <a:endParaRPr lang="en-US" sz="1000" dirty="0"/>
          </a:p>
        </p:txBody>
      </p:sp>
      <p:sp>
        <p:nvSpPr>
          <p:cNvPr id="8" name="Text 6"/>
          <p:cNvSpPr/>
          <p:nvPr/>
        </p:nvSpPr>
        <p:spPr>
          <a:xfrm>
            <a:off x="914400" y="17830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JWT Authentication:</a:t>
            </a:r>
            <a:endParaRPr lang="en-US" sz="1000" dirty="0"/>
          </a:p>
        </p:txBody>
      </p:sp>
      <p:sp>
        <p:nvSpPr>
          <p:cNvPr id="9" name="Text 7"/>
          <p:cNvSpPr/>
          <p:nvPr/>
        </p:nvSpPr>
        <p:spPr>
          <a:xfrm>
            <a:off x="1188720" y="20116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Auth Service issues 24-hr token; Gateway automatically routes role to /customer.</a:t>
            </a:r>
            <a:endParaRPr lang="en-US" sz="950" dirty="0"/>
          </a:p>
        </p:txBody>
      </p:sp>
      <p:sp>
        <p:nvSpPr>
          <p:cNvPr id="10" name="Text 8"/>
          <p:cNvSpPr/>
          <p:nvPr/>
        </p:nvSpPr>
        <p:spPr>
          <a:xfrm>
            <a:off x="914400" y="24688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Route Discovery:</a:t>
            </a:r>
            <a:endParaRPr lang="en-US" sz="1000" dirty="0"/>
          </a:p>
        </p:txBody>
      </p:sp>
      <p:sp>
        <p:nvSpPr>
          <p:cNvPr id="11" name="Text 9"/>
          <p:cNvSpPr/>
          <p:nvPr/>
        </p:nvSpPr>
        <p:spPr>
          <a:xfrm>
            <a:off x="1188720" y="26974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Gateway queries Flight Service via Eureka load balancing for active scheduled routes.</a:t>
            </a:r>
            <a:endParaRPr lang="en-US" sz="950" dirty="0"/>
          </a:p>
        </p:txBody>
      </p:sp>
      <p:sp>
        <p:nvSpPr>
          <p:cNvPr id="12" name="Text 10"/>
          <p:cNvSpPr/>
          <p:nvPr/>
        </p:nvSpPr>
        <p:spPr>
          <a:xfrm>
            <a:off x="914400" y="31546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Dynamic Pricing:</a:t>
            </a:r>
            <a:endParaRPr lang="en-US" sz="1000" dirty="0"/>
          </a:p>
        </p:txBody>
      </p:sp>
      <p:sp>
        <p:nvSpPr>
          <p:cNvPr id="13" name="Text 11"/>
          <p:cNvSpPr/>
          <p:nvPr/>
        </p:nvSpPr>
        <p:spPr>
          <a:xfrm>
            <a:off x="1188720" y="33832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Fare Service applies cabin multiplier and itemizes PSF, UDF, and GST taxes.</a:t>
            </a:r>
            <a:endParaRPr lang="en-US" sz="950" dirty="0"/>
          </a:p>
        </p:txBody>
      </p:sp>
      <p:sp>
        <p:nvSpPr>
          <p:cNvPr id="14" name="Text 12"/>
          <p:cNvSpPr/>
          <p:nvPr/>
        </p:nvSpPr>
        <p:spPr>
          <a:xfrm>
            <a:off x="914400" y="38404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Coupon Engine:</a:t>
            </a:r>
            <a:endParaRPr lang="en-US" sz="1000" dirty="0"/>
          </a:p>
        </p:txBody>
      </p:sp>
      <p:sp>
        <p:nvSpPr>
          <p:cNvPr id="15" name="Text 13"/>
          <p:cNvSpPr/>
          <p:nvPr/>
        </p:nvSpPr>
        <p:spPr>
          <a:xfrm>
            <a:off x="1188720" y="40690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Validates code WELCOME10 against database quotas and applies instant discount.</a:t>
            </a:r>
            <a:endParaRPr lang="en-US" sz="950" dirty="0"/>
          </a:p>
        </p:txBody>
      </p:sp>
      <p:sp>
        <p:nvSpPr>
          <p:cNvPr id="16" name="Shape 14"/>
          <p:cNvSpPr/>
          <p:nvPr/>
        </p:nvSpPr>
        <p:spPr>
          <a:xfrm>
            <a:off x="7498080" y="1325880"/>
            <a:ext cx="3931920" cy="1051560"/>
          </a:xfrm>
          <a:prstGeom prst="rect">
            <a:avLst/>
          </a:prstGeom>
          <a:solidFill>
            <a:srgbClr val="1E293B"/>
          </a:solidFill>
          <a:ln w="19050">
            <a:solidFill>
              <a:srgbClr val="38BDF8"/>
            </a:solidFill>
            <a:prstDash val="solid"/>
          </a:ln>
        </p:spPr>
      </p:sp>
      <p:sp>
        <p:nvSpPr>
          <p:cNvPr id="17" name="Text 15"/>
          <p:cNvSpPr/>
          <p:nvPr/>
        </p:nvSpPr>
        <p:spPr>
          <a:xfrm>
            <a:off x="7680960" y="1435608"/>
            <a:ext cx="3566160" cy="274320"/>
          </a:xfrm>
          <a:prstGeom prst="rect">
            <a:avLst/>
          </a:prstGeom>
          <a:noFill/>
          <a:ln/>
        </p:spPr>
        <p:txBody>
          <a:bodyPr wrap="square" rtlCol="0" anchor="ctr"/>
          <a:lstStyle/>
          <a:p>
            <a:pPr indent="0" marL="0">
              <a:buNone/>
            </a:pPr>
            <a:r>
              <a:rPr lang="en-US" sz="1100" b="1" dirty="0">
                <a:solidFill>
                  <a:srgbClr val="38BDF8"/>
                </a:solidFill>
                <a:latin typeface="Arial" pitchFamily="34" charset="0"/>
                <a:ea typeface="Arial" pitchFamily="34" charset="-122"/>
                <a:cs typeface="Arial" pitchFamily="34" charset="-120"/>
              </a:rPr>
              <a:t>Flight AB-101</a:t>
            </a:r>
            <a:endParaRPr lang="en-US" sz="1100" dirty="0"/>
          </a:p>
        </p:txBody>
      </p:sp>
      <p:sp>
        <p:nvSpPr>
          <p:cNvPr id="18" name="Text 16"/>
          <p:cNvSpPr/>
          <p:nvPr/>
        </p:nvSpPr>
        <p:spPr>
          <a:xfrm>
            <a:off x="7680960" y="1737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DEL -&gt; BOM | Non-Stop Boeing 737 | Live Seats: 142 Available</a:t>
            </a:r>
            <a:endParaRPr lang="en-US" sz="900" dirty="0"/>
          </a:p>
        </p:txBody>
      </p:sp>
      <p:sp>
        <p:nvSpPr>
          <p:cNvPr id="19" name="Shape 17"/>
          <p:cNvSpPr/>
          <p:nvPr/>
        </p:nvSpPr>
        <p:spPr>
          <a:xfrm>
            <a:off x="7498080" y="2468880"/>
            <a:ext cx="3931920" cy="1051560"/>
          </a:xfrm>
          <a:prstGeom prst="rect">
            <a:avLst/>
          </a:prstGeom>
          <a:solidFill>
            <a:srgbClr val="1E293B"/>
          </a:solidFill>
          <a:ln w="19050">
            <a:solidFill>
              <a:srgbClr val="F59E0B"/>
            </a:solidFill>
            <a:prstDash val="solid"/>
          </a:ln>
        </p:spPr>
      </p:sp>
      <p:sp>
        <p:nvSpPr>
          <p:cNvPr id="20" name="Text 18"/>
          <p:cNvSpPr/>
          <p:nvPr/>
        </p:nvSpPr>
        <p:spPr>
          <a:xfrm>
            <a:off x="7680960" y="2578608"/>
            <a:ext cx="3566160" cy="274320"/>
          </a:xfrm>
          <a:prstGeom prst="rect">
            <a:avLst/>
          </a:prstGeom>
          <a:noFill/>
          <a:ln/>
        </p:spPr>
        <p:txBody>
          <a:bodyPr wrap="square" rtlCol="0" anchor="ctr"/>
          <a:lstStyle/>
          <a:p>
            <a:pPr indent="0" marL="0">
              <a:buNone/>
            </a:pPr>
            <a:r>
              <a:rPr lang="en-US" sz="1100" b="1" dirty="0">
                <a:solidFill>
                  <a:srgbClr val="F59E0B"/>
                </a:solidFill>
                <a:latin typeface="Arial" pitchFamily="34" charset="0"/>
                <a:ea typeface="Arial" pitchFamily="34" charset="-122"/>
                <a:cs typeface="Arial" pitchFamily="34" charset="-120"/>
              </a:rPr>
              <a:t>Fare Itemization</a:t>
            </a:r>
            <a:endParaRPr lang="en-US" sz="1100" dirty="0"/>
          </a:p>
        </p:txBody>
      </p:sp>
      <p:sp>
        <p:nvSpPr>
          <p:cNvPr id="21" name="Text 19"/>
          <p:cNvSpPr/>
          <p:nvPr/>
        </p:nvSpPr>
        <p:spPr>
          <a:xfrm>
            <a:off x="7680960" y="2880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Base: ₹4,500 + PSF: ₹250 + GST: ₹225 = ₹4,975 Gross</a:t>
            </a:r>
            <a:endParaRPr lang="en-US" sz="900" dirty="0"/>
          </a:p>
        </p:txBody>
      </p:sp>
      <p:sp>
        <p:nvSpPr>
          <p:cNvPr id="22" name="Shape 20"/>
          <p:cNvSpPr/>
          <p:nvPr/>
        </p:nvSpPr>
        <p:spPr>
          <a:xfrm>
            <a:off x="7498080" y="3611880"/>
            <a:ext cx="3931920" cy="1051560"/>
          </a:xfrm>
          <a:prstGeom prst="rect">
            <a:avLst/>
          </a:prstGeom>
          <a:solidFill>
            <a:srgbClr val="1E293B"/>
          </a:solidFill>
          <a:ln w="19050">
            <a:solidFill>
              <a:srgbClr val="10B981"/>
            </a:solidFill>
            <a:prstDash val="solid"/>
          </a:ln>
        </p:spPr>
      </p:sp>
      <p:sp>
        <p:nvSpPr>
          <p:cNvPr id="23" name="Text 21"/>
          <p:cNvSpPr/>
          <p:nvPr/>
        </p:nvSpPr>
        <p:spPr>
          <a:xfrm>
            <a:off x="7680960" y="3721608"/>
            <a:ext cx="3566160" cy="274320"/>
          </a:xfrm>
          <a:prstGeom prst="rect">
            <a:avLst/>
          </a:prstGeom>
          <a:noFill/>
          <a:ln/>
        </p:spPr>
        <p:txBody>
          <a:bodyPr wrap="square" rtlCol="0" anchor="ctr"/>
          <a:lstStyle/>
          <a:p>
            <a:pPr indent="0" marL="0">
              <a:buNone/>
            </a:pPr>
            <a:r>
              <a:rPr lang="en-US" sz="1100" b="1" dirty="0">
                <a:solidFill>
                  <a:srgbClr val="10B981"/>
                </a:solidFill>
                <a:latin typeface="Arial" pitchFamily="34" charset="0"/>
                <a:ea typeface="Arial" pitchFamily="34" charset="-122"/>
                <a:cs typeface="Arial" pitchFamily="34" charset="-120"/>
              </a:rPr>
              <a:t>Discount Applied</a:t>
            </a:r>
            <a:endParaRPr lang="en-US" sz="1100" dirty="0"/>
          </a:p>
        </p:txBody>
      </p:sp>
      <p:sp>
        <p:nvSpPr>
          <p:cNvPr id="24" name="Text 22"/>
          <p:cNvSpPr/>
          <p:nvPr/>
        </p:nvSpPr>
        <p:spPr>
          <a:xfrm>
            <a:off x="7680960" y="4023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Coupon WELCOME10 (-10%): Net Payable = ₹4,477.50</a:t>
            </a:r>
            <a:endParaRPr lang="en-US" sz="900" dirty="0"/>
          </a:p>
        </p:txBody>
      </p:sp>
      <p:sp>
        <p:nvSpPr>
          <p:cNvPr id="25" name="Shape 23"/>
          <p:cNvSpPr/>
          <p:nvPr/>
        </p:nvSpPr>
        <p:spPr>
          <a:xfrm>
            <a:off x="731520" y="4800600"/>
            <a:ext cx="10698480" cy="1463040"/>
          </a:xfrm>
          <a:prstGeom prst="rect">
            <a:avLst/>
          </a:prstGeom>
          <a:solidFill>
            <a:srgbClr val="172554"/>
          </a:solidFill>
          <a:ln w="15240">
            <a:solidFill>
              <a:srgbClr val="3B82F6"/>
            </a:solidFill>
            <a:prstDash val="solid"/>
          </a:ln>
        </p:spPr>
      </p:sp>
      <p:sp>
        <p:nvSpPr>
          <p:cNvPr id="26" name="Text 24"/>
          <p:cNvSpPr/>
          <p:nvPr/>
        </p:nvSpPr>
        <p:spPr>
          <a:xfrm>
            <a:off x="914400" y="4892040"/>
            <a:ext cx="10332720" cy="228600"/>
          </a:xfrm>
          <a:prstGeom prst="rect">
            <a:avLst/>
          </a:prstGeom>
          <a:noFill/>
          <a:ln/>
        </p:spPr>
        <p:txBody>
          <a:bodyPr wrap="square" rtlCol="0" anchor="ctr"/>
          <a:lstStyle/>
          <a:p>
            <a:pPr indent="0" marL="0">
              <a:buNone/>
            </a:pPr>
            <a:r>
              <a:rPr lang="en-US" sz="950" b="1" dirty="0">
                <a:solidFill>
                  <a:srgbClr val="60A5FA"/>
                </a:solidFill>
                <a:latin typeface="Arial" pitchFamily="34" charset="0"/>
                <a:ea typeface="Arial" pitchFamily="34" charset="-122"/>
                <a:cs typeface="Arial" pitchFamily="34" charset="-120"/>
              </a:rPr>
              <a:t>ON-SCREEN ACTION / LIVE DEMO CUE:</a:t>
            </a:r>
            <a:endParaRPr lang="en-US" sz="950" dirty="0"/>
          </a:p>
        </p:txBody>
      </p:sp>
      <p:sp>
        <p:nvSpPr>
          <p:cNvPr id="27" name="Text 25"/>
          <p:cNvSpPr/>
          <p:nvPr/>
        </p:nvSpPr>
        <p:spPr>
          <a:xfrm>
            <a:off x="914400" y="5166360"/>
            <a:ext cx="10332720" cy="1005840"/>
          </a:xfrm>
          <a:prstGeom prst="rect">
            <a:avLst/>
          </a:prstGeom>
          <a:noFill/>
          <a:ln/>
        </p:spPr>
        <p:txBody>
          <a:bodyPr wrap="square" rtlCol="0" anchor="ctr"/>
          <a:lstStyle/>
          <a:p>
            <a:pPr indent="0" marL="0">
              <a:buNone/>
            </a:pPr>
            <a:r>
              <a:rPr lang="en-US" sz="950" dirty="0">
                <a:solidFill>
                  <a:srgbClr val="EFF6FF"/>
                </a:solidFill>
                <a:latin typeface="Arial" pitchFamily="34" charset="0"/>
                <a:ea typeface="Arial" pitchFamily="34" charset="-122"/>
                <a:cs typeface="Arial" pitchFamily="34" charset="-120"/>
              </a:rPr>
              <a:t>1. Log in as priya@gmail.com / Passenger@123.</a:t>
            </a:r>
            <a:endParaRPr lang="en-US" sz="950" dirty="0"/>
          </a:p>
          <a:p>
            <a:pPr indent="0" marL="0">
              <a:buNone/>
            </a:pPr>
            <a:r>
              <a:rPr lang="en-US" sz="950" dirty="0">
                <a:solidFill>
                  <a:srgbClr val="EFF6FF"/>
                </a:solidFill>
                <a:latin typeface="Arial" pitchFamily="34" charset="0"/>
                <a:ea typeface="Arial" pitchFamily="34" charset="-122"/>
                <a:cs typeface="Arial" pitchFamily="34" charset="-120"/>
              </a:rPr>
              <a:t>2. Land on /customer dashboard.</a:t>
            </a:r>
            <a:endParaRPr lang="en-US" sz="950" dirty="0"/>
          </a:p>
          <a:p>
            <a:pPr indent="0" marL="0">
              <a:buNone/>
            </a:pPr>
            <a:r>
              <a:rPr lang="en-US" sz="950" dirty="0">
                <a:solidFill>
                  <a:srgbClr val="EFF6FF"/>
                </a:solidFill>
                <a:latin typeface="Arial" pitchFamily="34" charset="0"/>
                <a:ea typeface="Arial" pitchFamily="34" charset="-122"/>
                <a:cs typeface="Arial" pitchFamily="34" charset="-120"/>
              </a:rPr>
              <a:t>3. Search: DEL to BOM, tomorrow's date, Economy class.</a:t>
            </a:r>
            <a:endParaRPr lang="en-US" sz="950" dirty="0"/>
          </a:p>
          <a:p>
            <a:pPr indent="0" marL="0">
              <a:buNone/>
            </a:pPr>
            <a:r>
              <a:rPr lang="en-US" sz="950" dirty="0">
                <a:solidFill>
                  <a:srgbClr val="EFF6FF"/>
                </a:solidFill>
                <a:latin typeface="Arial" pitchFamily="34" charset="0"/>
                <a:ea typeface="Arial" pitchFamily="34" charset="-122"/>
                <a:cs typeface="Arial" pitchFamily="34" charset="-120"/>
              </a:rPr>
              <a:t>4. Show AB-101 and available seat count.</a:t>
            </a:r>
            <a:endParaRPr lang="en-US" sz="950" dirty="0"/>
          </a:p>
          <a:p>
            <a:pPr indent="0" marL="0">
              <a:buNone/>
            </a:pPr>
            <a:r>
              <a:rPr lang="en-US" sz="950" dirty="0">
                <a:solidFill>
                  <a:srgbClr val="EFF6FF"/>
                </a:solidFill>
                <a:latin typeface="Arial" pitchFamily="34" charset="0"/>
                <a:ea typeface="Arial" pitchFamily="34" charset="-122"/>
                <a:cs typeface="Arial" pitchFamily="34" charset="-120"/>
              </a:rPr>
              <a:t>5. Select flight, enter passenger details, apply coupon WELCOME10, and highlight live fare discount.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D1E"/>
        </a:solidFill>
      </p:bgPr>
    </p:bg>
    <p:spTree>
      <p:nvGrpSpPr>
        <p:cNvPr id="1" name=""/>
        <p:cNvGrpSpPr/>
        <p:nvPr/>
      </p:nvGrpSpPr>
      <p:grpSpPr>
        <a:xfrm>
          <a:off x="0" y="0"/>
          <a:ext cx="0" cy="0"/>
          <a:chOff x="0" y="0"/>
          <a:chExt cx="0" cy="0"/>
        </a:xfrm>
      </p:grpSpPr>
      <p:sp>
        <p:nvSpPr>
          <p:cNvPr id="2" name="Shape 0"/>
          <p:cNvSpPr/>
          <p:nvPr/>
        </p:nvSpPr>
        <p:spPr>
          <a:xfrm>
            <a:off x="731520" y="365760"/>
            <a:ext cx="10698480" cy="822960"/>
          </a:xfrm>
          <a:prstGeom prst="rect">
            <a:avLst/>
          </a:prstGeom>
          <a:solidFill>
            <a:srgbClr val="0F172A"/>
          </a:solidFill>
          <a:ln w="15240">
            <a:solidFill>
              <a:srgbClr val="2563EB"/>
            </a:solidFill>
            <a:prstDash val="solid"/>
          </a:ln>
        </p:spPr>
      </p:sp>
      <p:sp>
        <p:nvSpPr>
          <p:cNvPr id="3" name="Text 1"/>
          <p:cNvSpPr/>
          <p:nvPr/>
        </p:nvSpPr>
        <p:spPr>
          <a:xfrm>
            <a:off x="914400" y="438912"/>
            <a:ext cx="5486400" cy="228600"/>
          </a:xfrm>
          <a:prstGeom prst="rect">
            <a:avLst/>
          </a:prstGeom>
          <a:noFill/>
          <a:ln/>
        </p:spPr>
        <p:txBody>
          <a:bodyPr wrap="square" rtlCol="0" anchor="ctr"/>
          <a:lstStyle/>
          <a:p>
            <a:pPr indent="0" marL="0">
              <a:buNone/>
            </a:pPr>
            <a:r>
              <a:rPr lang="en-US" sz="900" b="1" dirty="0">
                <a:solidFill>
                  <a:srgbClr val="38BDF8"/>
                </a:solidFill>
                <a:latin typeface="Arial" pitchFamily="34" charset="0"/>
                <a:ea typeface="Arial" pitchFamily="34" charset="-122"/>
                <a:cs typeface="Arial" pitchFamily="34" charset="-120"/>
              </a:rPr>
              <a:t>SLIDE 7 OF 11  |  05:30 – 06:45</a:t>
            </a:r>
            <a:endParaRPr lang="en-US" sz="900" dirty="0"/>
          </a:p>
        </p:txBody>
      </p:sp>
      <p:sp>
        <p:nvSpPr>
          <p:cNvPr id="4" name="Text 2"/>
          <p:cNvSpPr/>
          <p:nvPr/>
        </p:nvSpPr>
        <p:spPr>
          <a:xfrm>
            <a:off x="914400" y="658368"/>
            <a:ext cx="82296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Live Step 2: Razorpay Payment &amp; OpenPDF Ticket</a:t>
            </a:r>
            <a:endParaRPr lang="en-US" sz="1600" dirty="0"/>
          </a:p>
        </p:txBody>
      </p:sp>
      <p:sp>
        <p:nvSpPr>
          <p:cNvPr id="5" name="Text 3"/>
          <p:cNvSpPr/>
          <p:nvPr/>
        </p:nvSpPr>
        <p:spPr>
          <a:xfrm>
            <a:off x="8686800" y="502920"/>
            <a:ext cx="2560320" cy="274320"/>
          </a:xfrm>
          <a:prstGeom prst="rect">
            <a:avLst/>
          </a:prstGeom>
          <a:noFill/>
          <a:ln/>
        </p:spPr>
        <p:txBody>
          <a:bodyPr wrap="square"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PART 2: LIVE SYSTEM DEMONSTRATION</a:t>
            </a:r>
            <a:endParaRPr lang="en-US" sz="800" dirty="0"/>
          </a:p>
        </p:txBody>
      </p:sp>
      <p:sp>
        <p:nvSpPr>
          <p:cNvPr id="6" name="Shape 4"/>
          <p:cNvSpPr/>
          <p:nvPr/>
        </p:nvSpPr>
        <p:spPr>
          <a:xfrm>
            <a:off x="731520" y="1325880"/>
            <a:ext cx="6583680" cy="3337560"/>
          </a:xfrm>
          <a:prstGeom prst="rect">
            <a:avLst/>
          </a:prstGeom>
          <a:solidFill>
            <a:srgbClr val="0F172A"/>
          </a:solidFill>
          <a:ln w="12700">
            <a:solidFill>
              <a:srgbClr val="334155"/>
            </a:solidFill>
            <a:prstDash val="solid"/>
          </a:ln>
        </p:spPr>
      </p:sp>
      <p:sp>
        <p:nvSpPr>
          <p:cNvPr id="7" name="Text 5"/>
          <p:cNvSpPr/>
          <p:nvPr/>
        </p:nvSpPr>
        <p:spPr>
          <a:xfrm>
            <a:off x="914400" y="1417320"/>
            <a:ext cx="6217920" cy="27432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KEY ARCHITECTURAL &amp; TECHNICAL HIGHLIGHTS</a:t>
            </a:r>
            <a:endParaRPr lang="en-US" sz="1000" dirty="0"/>
          </a:p>
        </p:txBody>
      </p:sp>
      <p:sp>
        <p:nvSpPr>
          <p:cNvPr id="8" name="Text 6"/>
          <p:cNvSpPr/>
          <p:nvPr/>
        </p:nvSpPr>
        <p:spPr>
          <a:xfrm>
            <a:off x="914400" y="17830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Razorpay Checkout:</a:t>
            </a:r>
            <a:endParaRPr lang="en-US" sz="1000" dirty="0"/>
          </a:p>
        </p:txBody>
      </p:sp>
      <p:sp>
        <p:nvSpPr>
          <p:cNvPr id="9" name="Text 7"/>
          <p:cNvSpPr/>
          <p:nvPr/>
        </p:nvSpPr>
        <p:spPr>
          <a:xfrm>
            <a:off x="1188720" y="20116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Modal checkout with client-side integration and server-side order generation.</a:t>
            </a:r>
            <a:endParaRPr lang="en-US" sz="950" dirty="0"/>
          </a:p>
        </p:txBody>
      </p:sp>
      <p:sp>
        <p:nvSpPr>
          <p:cNvPr id="10" name="Text 8"/>
          <p:cNvSpPr/>
          <p:nvPr/>
        </p:nvSpPr>
        <p:spPr>
          <a:xfrm>
            <a:off x="914400" y="24688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HMAC Verification:</a:t>
            </a:r>
            <a:endParaRPr lang="en-US" sz="1000" dirty="0"/>
          </a:p>
        </p:txBody>
      </p:sp>
      <p:sp>
        <p:nvSpPr>
          <p:cNvPr id="11" name="Text 9"/>
          <p:cNvSpPr/>
          <p:nvPr/>
        </p:nvSpPr>
        <p:spPr>
          <a:xfrm>
            <a:off x="1188720" y="26974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Payment Service cryptographically checks razorpay_signature before state commit.</a:t>
            </a:r>
            <a:endParaRPr lang="en-US" sz="950" dirty="0"/>
          </a:p>
        </p:txBody>
      </p:sp>
      <p:sp>
        <p:nvSpPr>
          <p:cNvPr id="12" name="Text 10"/>
          <p:cNvSpPr/>
          <p:nvPr/>
        </p:nvSpPr>
        <p:spPr>
          <a:xfrm>
            <a:off x="914400" y="31546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Asynchronous RabbitMQ:</a:t>
            </a:r>
            <a:endParaRPr lang="en-US" sz="1000" dirty="0"/>
          </a:p>
        </p:txBody>
      </p:sp>
      <p:sp>
        <p:nvSpPr>
          <p:cNvPr id="13" name="Text 11"/>
          <p:cNvSpPr/>
          <p:nvPr/>
        </p:nvSpPr>
        <p:spPr>
          <a:xfrm>
            <a:off x="1188720" y="33832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AMQP message triggers atomic seat decrement in flight_db and email dispatch.</a:t>
            </a:r>
            <a:endParaRPr lang="en-US" sz="950" dirty="0"/>
          </a:p>
        </p:txBody>
      </p:sp>
      <p:sp>
        <p:nvSpPr>
          <p:cNvPr id="14" name="Text 12"/>
          <p:cNvSpPr/>
          <p:nvPr/>
        </p:nvSpPr>
        <p:spPr>
          <a:xfrm>
            <a:off x="914400" y="38404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OpenPDF E-Ticket:</a:t>
            </a:r>
            <a:endParaRPr lang="en-US" sz="1000" dirty="0"/>
          </a:p>
        </p:txBody>
      </p:sp>
      <p:sp>
        <p:nvSpPr>
          <p:cNvPr id="15" name="Text 13"/>
          <p:cNvSpPr/>
          <p:nvPr/>
        </p:nvSpPr>
        <p:spPr>
          <a:xfrm>
            <a:off x="1188720" y="40690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High-fidelity dual-view ticket with 8-character PNR, tax details, and barcode.</a:t>
            </a:r>
            <a:endParaRPr lang="en-US" sz="950" dirty="0"/>
          </a:p>
        </p:txBody>
      </p:sp>
      <p:sp>
        <p:nvSpPr>
          <p:cNvPr id="16" name="Shape 14"/>
          <p:cNvSpPr/>
          <p:nvPr/>
        </p:nvSpPr>
        <p:spPr>
          <a:xfrm>
            <a:off x="7498080" y="1325880"/>
            <a:ext cx="3931920" cy="1051560"/>
          </a:xfrm>
          <a:prstGeom prst="rect">
            <a:avLst/>
          </a:prstGeom>
          <a:solidFill>
            <a:srgbClr val="1E293B"/>
          </a:solidFill>
          <a:ln w="19050">
            <a:solidFill>
              <a:srgbClr val="10B981"/>
            </a:solidFill>
            <a:prstDash val="solid"/>
          </a:ln>
        </p:spPr>
      </p:sp>
      <p:sp>
        <p:nvSpPr>
          <p:cNvPr id="17" name="Text 15"/>
          <p:cNvSpPr/>
          <p:nvPr/>
        </p:nvSpPr>
        <p:spPr>
          <a:xfrm>
            <a:off x="7680960" y="1435608"/>
            <a:ext cx="3566160" cy="274320"/>
          </a:xfrm>
          <a:prstGeom prst="rect">
            <a:avLst/>
          </a:prstGeom>
          <a:noFill/>
          <a:ln/>
        </p:spPr>
        <p:txBody>
          <a:bodyPr wrap="square" rtlCol="0" anchor="ctr"/>
          <a:lstStyle/>
          <a:p>
            <a:pPr indent="0" marL="0">
              <a:buNone/>
            </a:pPr>
            <a:r>
              <a:rPr lang="en-US" sz="1100" b="1" dirty="0">
                <a:solidFill>
                  <a:srgbClr val="10B981"/>
                </a:solidFill>
                <a:latin typeface="Arial" pitchFamily="34" charset="0"/>
                <a:ea typeface="Arial" pitchFamily="34" charset="-122"/>
                <a:cs typeface="Arial" pitchFamily="34" charset="-120"/>
              </a:rPr>
              <a:t>HMAC-SHA256 Security</a:t>
            </a:r>
            <a:endParaRPr lang="en-US" sz="1100" dirty="0"/>
          </a:p>
        </p:txBody>
      </p:sp>
      <p:sp>
        <p:nvSpPr>
          <p:cNvPr id="18" name="Text 16"/>
          <p:cNvSpPr/>
          <p:nvPr/>
        </p:nvSpPr>
        <p:spPr>
          <a:xfrm>
            <a:off x="7680960" y="1737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Server-side signature check prevents client payload manipulation</a:t>
            </a:r>
            <a:endParaRPr lang="en-US" sz="900" dirty="0"/>
          </a:p>
        </p:txBody>
      </p:sp>
      <p:sp>
        <p:nvSpPr>
          <p:cNvPr id="19" name="Shape 17"/>
          <p:cNvSpPr/>
          <p:nvPr/>
        </p:nvSpPr>
        <p:spPr>
          <a:xfrm>
            <a:off x="7498080" y="2468880"/>
            <a:ext cx="3931920" cy="1051560"/>
          </a:xfrm>
          <a:prstGeom prst="rect">
            <a:avLst/>
          </a:prstGeom>
          <a:solidFill>
            <a:srgbClr val="1E293B"/>
          </a:solidFill>
          <a:ln w="19050">
            <a:solidFill>
              <a:srgbClr val="6366F1"/>
            </a:solidFill>
            <a:prstDash val="solid"/>
          </a:ln>
        </p:spPr>
      </p:sp>
      <p:sp>
        <p:nvSpPr>
          <p:cNvPr id="20" name="Text 18"/>
          <p:cNvSpPr/>
          <p:nvPr/>
        </p:nvSpPr>
        <p:spPr>
          <a:xfrm>
            <a:off x="7680960" y="2578608"/>
            <a:ext cx="3566160" cy="274320"/>
          </a:xfrm>
          <a:prstGeom prst="rect">
            <a:avLst/>
          </a:prstGeom>
          <a:noFill/>
          <a:ln/>
        </p:spPr>
        <p:txBody>
          <a:bodyPr wrap="square" rtlCol="0" anchor="ctr"/>
          <a:lstStyle/>
          <a:p>
            <a:pPr indent="0" marL="0">
              <a:buNone/>
            </a:pPr>
            <a:r>
              <a:rPr lang="en-US" sz="1100" b="1" dirty="0">
                <a:solidFill>
                  <a:srgbClr val="6366F1"/>
                </a:solidFill>
                <a:latin typeface="Arial" pitchFamily="34" charset="0"/>
                <a:ea typeface="Arial" pitchFamily="34" charset="-122"/>
                <a:cs typeface="Arial" pitchFamily="34" charset="-120"/>
              </a:rPr>
              <a:t>Unique PNR Generated</a:t>
            </a:r>
            <a:endParaRPr lang="en-US" sz="1100" dirty="0"/>
          </a:p>
        </p:txBody>
      </p:sp>
      <p:sp>
        <p:nvSpPr>
          <p:cNvPr id="21" name="Text 19"/>
          <p:cNvSpPr/>
          <p:nvPr/>
        </p:nvSpPr>
        <p:spPr>
          <a:xfrm>
            <a:off x="7680960" y="2880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8-character alphanumeric record (e.g., ABK79421) committed to booking_db</a:t>
            </a:r>
            <a:endParaRPr lang="en-US" sz="900" dirty="0"/>
          </a:p>
        </p:txBody>
      </p:sp>
      <p:sp>
        <p:nvSpPr>
          <p:cNvPr id="22" name="Shape 20"/>
          <p:cNvSpPr/>
          <p:nvPr/>
        </p:nvSpPr>
        <p:spPr>
          <a:xfrm>
            <a:off x="7498080" y="3611880"/>
            <a:ext cx="3931920" cy="1051560"/>
          </a:xfrm>
          <a:prstGeom prst="rect">
            <a:avLst/>
          </a:prstGeom>
          <a:solidFill>
            <a:srgbClr val="1E293B"/>
          </a:solidFill>
          <a:ln w="19050">
            <a:solidFill>
              <a:srgbClr val="38BDF8"/>
            </a:solidFill>
            <a:prstDash val="solid"/>
          </a:ln>
        </p:spPr>
      </p:sp>
      <p:sp>
        <p:nvSpPr>
          <p:cNvPr id="23" name="Text 21"/>
          <p:cNvSpPr/>
          <p:nvPr/>
        </p:nvSpPr>
        <p:spPr>
          <a:xfrm>
            <a:off x="7680960" y="3721608"/>
            <a:ext cx="3566160" cy="274320"/>
          </a:xfrm>
          <a:prstGeom prst="rect">
            <a:avLst/>
          </a:prstGeom>
          <a:noFill/>
          <a:ln/>
        </p:spPr>
        <p:txBody>
          <a:bodyPr wrap="square" rtlCol="0" anchor="ctr"/>
          <a:lstStyle/>
          <a:p>
            <a:pPr indent="0" marL="0">
              <a:buNone/>
            </a:pPr>
            <a:r>
              <a:rPr lang="en-US" sz="1100" b="1" dirty="0">
                <a:solidFill>
                  <a:srgbClr val="38BDF8"/>
                </a:solidFill>
                <a:latin typeface="Arial" pitchFamily="34" charset="0"/>
                <a:ea typeface="Arial" pitchFamily="34" charset="-122"/>
                <a:cs typeface="Arial" pitchFamily="34" charset="-120"/>
              </a:rPr>
              <a:t>OpenPDF Generator</a:t>
            </a:r>
            <a:endParaRPr lang="en-US" sz="1100" dirty="0"/>
          </a:p>
        </p:txBody>
      </p:sp>
      <p:sp>
        <p:nvSpPr>
          <p:cNvPr id="24" name="Text 22"/>
          <p:cNvSpPr/>
          <p:nvPr/>
        </p:nvSpPr>
        <p:spPr>
          <a:xfrm>
            <a:off x="7680960" y="4023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Instant vector PDF e-ticket and invoice ready for passenger download</a:t>
            </a:r>
            <a:endParaRPr lang="en-US" sz="900" dirty="0"/>
          </a:p>
        </p:txBody>
      </p:sp>
      <p:sp>
        <p:nvSpPr>
          <p:cNvPr id="25" name="Shape 23"/>
          <p:cNvSpPr/>
          <p:nvPr/>
        </p:nvSpPr>
        <p:spPr>
          <a:xfrm>
            <a:off x="731520" y="4800600"/>
            <a:ext cx="10698480" cy="1463040"/>
          </a:xfrm>
          <a:prstGeom prst="rect">
            <a:avLst/>
          </a:prstGeom>
          <a:solidFill>
            <a:srgbClr val="172554"/>
          </a:solidFill>
          <a:ln w="15240">
            <a:solidFill>
              <a:srgbClr val="3B82F6"/>
            </a:solidFill>
            <a:prstDash val="solid"/>
          </a:ln>
        </p:spPr>
      </p:sp>
      <p:sp>
        <p:nvSpPr>
          <p:cNvPr id="26" name="Text 24"/>
          <p:cNvSpPr/>
          <p:nvPr/>
        </p:nvSpPr>
        <p:spPr>
          <a:xfrm>
            <a:off x="914400" y="4892040"/>
            <a:ext cx="10332720" cy="228600"/>
          </a:xfrm>
          <a:prstGeom prst="rect">
            <a:avLst/>
          </a:prstGeom>
          <a:noFill/>
          <a:ln/>
        </p:spPr>
        <p:txBody>
          <a:bodyPr wrap="square" rtlCol="0" anchor="ctr"/>
          <a:lstStyle/>
          <a:p>
            <a:pPr indent="0" marL="0">
              <a:buNone/>
            </a:pPr>
            <a:r>
              <a:rPr lang="en-US" sz="950" b="1" dirty="0">
                <a:solidFill>
                  <a:srgbClr val="60A5FA"/>
                </a:solidFill>
                <a:latin typeface="Arial" pitchFamily="34" charset="0"/>
                <a:ea typeface="Arial" pitchFamily="34" charset="-122"/>
                <a:cs typeface="Arial" pitchFamily="34" charset="-120"/>
              </a:rPr>
              <a:t>ON-SCREEN ACTION / LIVE DEMO CUE:</a:t>
            </a:r>
            <a:endParaRPr lang="en-US" sz="950" dirty="0"/>
          </a:p>
        </p:txBody>
      </p:sp>
      <p:sp>
        <p:nvSpPr>
          <p:cNvPr id="27" name="Text 25"/>
          <p:cNvSpPr/>
          <p:nvPr/>
        </p:nvSpPr>
        <p:spPr>
          <a:xfrm>
            <a:off x="914400" y="5166360"/>
            <a:ext cx="10332720" cy="1005840"/>
          </a:xfrm>
          <a:prstGeom prst="rect">
            <a:avLst/>
          </a:prstGeom>
          <a:noFill/>
          <a:ln/>
        </p:spPr>
        <p:txBody>
          <a:bodyPr wrap="square" rtlCol="0" anchor="ctr"/>
          <a:lstStyle/>
          <a:p>
            <a:pPr indent="0" marL="0">
              <a:buNone/>
            </a:pPr>
            <a:r>
              <a:rPr lang="en-US" sz="950" dirty="0">
                <a:solidFill>
                  <a:srgbClr val="EFF6FF"/>
                </a:solidFill>
                <a:latin typeface="Arial" pitchFamily="34" charset="0"/>
                <a:ea typeface="Arial" pitchFamily="34" charset="-122"/>
                <a:cs typeface="Arial" pitchFamily="34" charset="-120"/>
              </a:rPr>
              <a:t>1. Click Proceed to Payment.</a:t>
            </a:r>
            <a:endParaRPr lang="en-US" sz="950" dirty="0"/>
          </a:p>
          <a:p>
            <a:pPr indent="0" marL="0">
              <a:buNone/>
            </a:pPr>
            <a:r>
              <a:rPr lang="en-US" sz="950" dirty="0">
                <a:solidFill>
                  <a:srgbClr val="EFF6FF"/>
                </a:solidFill>
                <a:latin typeface="Arial" pitchFamily="34" charset="0"/>
                <a:ea typeface="Arial" pitchFamily="34" charset="-122"/>
                <a:cs typeface="Arial" pitchFamily="34" charset="-120"/>
              </a:rPr>
              <a:t>2. Razorpay checkout modal opens.</a:t>
            </a:r>
            <a:endParaRPr lang="en-US" sz="950" dirty="0"/>
          </a:p>
          <a:p>
            <a:pPr indent="0" marL="0">
              <a:buNone/>
            </a:pPr>
            <a:r>
              <a:rPr lang="en-US" sz="950" dirty="0">
                <a:solidFill>
                  <a:srgbClr val="EFF6FF"/>
                </a:solidFill>
                <a:latin typeface="Arial" pitchFamily="34" charset="0"/>
                <a:ea typeface="Arial" pitchFamily="34" charset="-122"/>
                <a:cs typeface="Arial" pitchFamily="34" charset="-120"/>
              </a:rPr>
              <a:t>3. Complete mock payment simulation and click Pay Now.</a:t>
            </a:r>
            <a:endParaRPr lang="en-US" sz="950" dirty="0"/>
          </a:p>
          <a:p>
            <a:pPr indent="0" marL="0">
              <a:buNone/>
            </a:pPr>
            <a:r>
              <a:rPr lang="en-US" sz="950" dirty="0">
                <a:solidFill>
                  <a:srgbClr val="EFF6FF"/>
                </a:solidFill>
                <a:latin typeface="Arial" pitchFamily="34" charset="0"/>
                <a:ea typeface="Arial" pitchFamily="34" charset="-122"/>
                <a:cs typeface="Arial" pitchFamily="34" charset="-120"/>
              </a:rPr>
              <a:t>4. Show payment confirmation and 8-character PNR (ABK79421).</a:t>
            </a:r>
            <a:endParaRPr lang="en-US" sz="950" dirty="0"/>
          </a:p>
          <a:p>
            <a:pPr indent="0" marL="0">
              <a:buNone/>
            </a:pPr>
            <a:r>
              <a:rPr lang="en-US" sz="950" dirty="0">
                <a:solidFill>
                  <a:srgbClr val="EFF6FF"/>
                </a:solidFill>
                <a:latin typeface="Arial" pitchFamily="34" charset="0"/>
                <a:ea typeface="Arial" pitchFamily="34" charset="-122"/>
                <a:cs typeface="Arial" pitchFamily="34" charset="-120"/>
              </a:rPr>
              <a:t>5. Click View E-Ticket and show OpenPDF official ticket modal and PDF download.</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D1E"/>
        </a:solidFill>
      </p:bgPr>
    </p:bg>
    <p:spTree>
      <p:nvGrpSpPr>
        <p:cNvPr id="1" name=""/>
        <p:cNvGrpSpPr/>
        <p:nvPr/>
      </p:nvGrpSpPr>
      <p:grpSpPr>
        <a:xfrm>
          <a:off x="0" y="0"/>
          <a:ext cx="0" cy="0"/>
          <a:chOff x="0" y="0"/>
          <a:chExt cx="0" cy="0"/>
        </a:xfrm>
      </p:grpSpPr>
      <p:sp>
        <p:nvSpPr>
          <p:cNvPr id="2" name="Shape 0"/>
          <p:cNvSpPr/>
          <p:nvPr/>
        </p:nvSpPr>
        <p:spPr>
          <a:xfrm>
            <a:off x="731520" y="365760"/>
            <a:ext cx="10698480" cy="822960"/>
          </a:xfrm>
          <a:prstGeom prst="rect">
            <a:avLst/>
          </a:prstGeom>
          <a:solidFill>
            <a:srgbClr val="0F172A"/>
          </a:solidFill>
          <a:ln w="15240">
            <a:solidFill>
              <a:srgbClr val="2563EB"/>
            </a:solidFill>
            <a:prstDash val="solid"/>
          </a:ln>
        </p:spPr>
      </p:sp>
      <p:sp>
        <p:nvSpPr>
          <p:cNvPr id="3" name="Text 1"/>
          <p:cNvSpPr/>
          <p:nvPr/>
        </p:nvSpPr>
        <p:spPr>
          <a:xfrm>
            <a:off x="914400" y="438912"/>
            <a:ext cx="5486400" cy="228600"/>
          </a:xfrm>
          <a:prstGeom prst="rect">
            <a:avLst/>
          </a:prstGeom>
          <a:noFill/>
          <a:ln/>
        </p:spPr>
        <p:txBody>
          <a:bodyPr wrap="square" rtlCol="0" anchor="ctr"/>
          <a:lstStyle/>
          <a:p>
            <a:pPr indent="0" marL="0">
              <a:buNone/>
            </a:pPr>
            <a:r>
              <a:rPr lang="en-US" sz="900" b="1" dirty="0">
                <a:solidFill>
                  <a:srgbClr val="38BDF8"/>
                </a:solidFill>
                <a:latin typeface="Arial" pitchFamily="34" charset="0"/>
                <a:ea typeface="Arial" pitchFamily="34" charset="-122"/>
                <a:cs typeface="Arial" pitchFamily="34" charset="-120"/>
              </a:rPr>
              <a:t>SLIDE 8 OF 11  |  06:45 – 07:45</a:t>
            </a:r>
            <a:endParaRPr lang="en-US" sz="900" dirty="0"/>
          </a:p>
        </p:txBody>
      </p:sp>
      <p:sp>
        <p:nvSpPr>
          <p:cNvPr id="4" name="Text 2"/>
          <p:cNvSpPr/>
          <p:nvPr/>
        </p:nvSpPr>
        <p:spPr>
          <a:xfrm>
            <a:off x="914400" y="658368"/>
            <a:ext cx="82296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Live Step 3: Web Check-In &amp; IATA Boarding Pass</a:t>
            </a:r>
            <a:endParaRPr lang="en-US" sz="1600" dirty="0"/>
          </a:p>
        </p:txBody>
      </p:sp>
      <p:sp>
        <p:nvSpPr>
          <p:cNvPr id="5" name="Text 3"/>
          <p:cNvSpPr/>
          <p:nvPr/>
        </p:nvSpPr>
        <p:spPr>
          <a:xfrm>
            <a:off x="8686800" y="502920"/>
            <a:ext cx="2560320" cy="274320"/>
          </a:xfrm>
          <a:prstGeom prst="rect">
            <a:avLst/>
          </a:prstGeom>
          <a:noFill/>
          <a:ln/>
        </p:spPr>
        <p:txBody>
          <a:bodyPr wrap="square"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PART 2: LIVE SYSTEM DEMONSTRATION</a:t>
            </a:r>
            <a:endParaRPr lang="en-US" sz="800" dirty="0"/>
          </a:p>
        </p:txBody>
      </p:sp>
      <p:sp>
        <p:nvSpPr>
          <p:cNvPr id="6" name="Shape 4"/>
          <p:cNvSpPr/>
          <p:nvPr/>
        </p:nvSpPr>
        <p:spPr>
          <a:xfrm>
            <a:off x="731520" y="1325880"/>
            <a:ext cx="6583680" cy="3337560"/>
          </a:xfrm>
          <a:prstGeom prst="rect">
            <a:avLst/>
          </a:prstGeom>
          <a:solidFill>
            <a:srgbClr val="0F172A"/>
          </a:solidFill>
          <a:ln w="12700">
            <a:solidFill>
              <a:srgbClr val="334155"/>
            </a:solidFill>
            <a:prstDash val="solid"/>
          </a:ln>
        </p:spPr>
      </p:sp>
      <p:sp>
        <p:nvSpPr>
          <p:cNvPr id="7" name="Text 5"/>
          <p:cNvSpPr/>
          <p:nvPr/>
        </p:nvSpPr>
        <p:spPr>
          <a:xfrm>
            <a:off x="914400" y="1417320"/>
            <a:ext cx="6217920" cy="27432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KEY ARCHITECTURAL &amp; TECHNICAL HIGHLIGHTS</a:t>
            </a:r>
            <a:endParaRPr lang="en-US" sz="1000" dirty="0"/>
          </a:p>
        </p:txBody>
      </p:sp>
      <p:sp>
        <p:nvSpPr>
          <p:cNvPr id="8" name="Text 6"/>
          <p:cNvSpPr/>
          <p:nvPr/>
        </p:nvSpPr>
        <p:spPr>
          <a:xfrm>
            <a:off x="914400" y="17830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Interactive Fuselage Map:</a:t>
            </a:r>
            <a:endParaRPr lang="en-US" sz="1000" dirty="0"/>
          </a:p>
        </p:txBody>
      </p:sp>
      <p:sp>
        <p:nvSpPr>
          <p:cNvPr id="9" name="Text 7"/>
          <p:cNvSpPr/>
          <p:nvPr/>
        </p:nvSpPr>
        <p:spPr>
          <a:xfrm>
            <a:off x="1188720" y="20116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Visual seating layout showing occupied (red) vs available (green/blue) seats.</a:t>
            </a:r>
            <a:endParaRPr lang="en-US" sz="950" dirty="0"/>
          </a:p>
        </p:txBody>
      </p:sp>
      <p:sp>
        <p:nvSpPr>
          <p:cNvPr id="10" name="Text 8"/>
          <p:cNvSpPr/>
          <p:nvPr/>
        </p:nvSpPr>
        <p:spPr>
          <a:xfrm>
            <a:off x="914400" y="24688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Atomic Seat Assignment:</a:t>
            </a:r>
            <a:endParaRPr lang="en-US" sz="1000" dirty="0"/>
          </a:p>
        </p:txBody>
      </p:sp>
      <p:sp>
        <p:nvSpPr>
          <p:cNvPr id="11" name="Text 9"/>
          <p:cNvSpPr/>
          <p:nvPr/>
        </p:nvSpPr>
        <p:spPr>
          <a:xfrm>
            <a:off x="1188720" y="26974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Check-In Service validates seat availability and locks allocation to booking record.</a:t>
            </a:r>
            <a:endParaRPr lang="en-US" sz="950" dirty="0"/>
          </a:p>
        </p:txBody>
      </p:sp>
      <p:sp>
        <p:nvSpPr>
          <p:cNvPr id="12" name="Text 10"/>
          <p:cNvSpPr/>
          <p:nvPr/>
        </p:nvSpPr>
        <p:spPr>
          <a:xfrm>
            <a:off x="914400" y="31546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Lifecycle Transition:</a:t>
            </a:r>
            <a:endParaRPr lang="en-US" sz="1000" dirty="0"/>
          </a:p>
        </p:txBody>
      </p:sp>
      <p:sp>
        <p:nvSpPr>
          <p:cNvPr id="13" name="Text 11"/>
          <p:cNvSpPr/>
          <p:nvPr/>
        </p:nvSpPr>
        <p:spPr>
          <a:xfrm>
            <a:off x="1188720" y="33832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Passenger booking status advances from BOOKED to CHECKED_IN.</a:t>
            </a:r>
            <a:endParaRPr lang="en-US" sz="950" dirty="0"/>
          </a:p>
        </p:txBody>
      </p:sp>
      <p:sp>
        <p:nvSpPr>
          <p:cNvPr id="14" name="Text 12"/>
          <p:cNvSpPr/>
          <p:nvPr/>
        </p:nvSpPr>
        <p:spPr>
          <a:xfrm>
            <a:off x="914400" y="38404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IATA Barcode Standard:</a:t>
            </a:r>
            <a:endParaRPr lang="en-US" sz="1000" dirty="0"/>
          </a:p>
        </p:txBody>
      </p:sp>
      <p:sp>
        <p:nvSpPr>
          <p:cNvPr id="15" name="Text 13"/>
          <p:cNvSpPr/>
          <p:nvPr/>
        </p:nvSpPr>
        <p:spPr>
          <a:xfrm>
            <a:off x="1188720" y="40690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Generates authentic BCBP boarding pass with barcode string (BP-X-YYZ) &amp; gate info.</a:t>
            </a:r>
            <a:endParaRPr lang="en-US" sz="950" dirty="0"/>
          </a:p>
        </p:txBody>
      </p:sp>
      <p:sp>
        <p:nvSpPr>
          <p:cNvPr id="16" name="Shape 14"/>
          <p:cNvSpPr/>
          <p:nvPr/>
        </p:nvSpPr>
        <p:spPr>
          <a:xfrm>
            <a:off x="7498080" y="1325880"/>
            <a:ext cx="3931920" cy="1051560"/>
          </a:xfrm>
          <a:prstGeom prst="rect">
            <a:avLst/>
          </a:prstGeom>
          <a:solidFill>
            <a:srgbClr val="1E293B"/>
          </a:solidFill>
          <a:ln w="19050">
            <a:solidFill>
              <a:srgbClr val="38BDF8"/>
            </a:solidFill>
            <a:prstDash val="solid"/>
          </a:ln>
        </p:spPr>
      </p:sp>
      <p:sp>
        <p:nvSpPr>
          <p:cNvPr id="17" name="Text 15"/>
          <p:cNvSpPr/>
          <p:nvPr/>
        </p:nvSpPr>
        <p:spPr>
          <a:xfrm>
            <a:off x="7680960" y="1435608"/>
            <a:ext cx="3566160" cy="274320"/>
          </a:xfrm>
          <a:prstGeom prst="rect">
            <a:avLst/>
          </a:prstGeom>
          <a:noFill/>
          <a:ln/>
        </p:spPr>
        <p:txBody>
          <a:bodyPr wrap="square" rtlCol="0" anchor="ctr"/>
          <a:lstStyle/>
          <a:p>
            <a:pPr indent="0" marL="0">
              <a:buNone/>
            </a:pPr>
            <a:r>
              <a:rPr lang="en-US" sz="1100" b="1" dirty="0">
                <a:solidFill>
                  <a:srgbClr val="38BDF8"/>
                </a:solidFill>
                <a:latin typeface="Arial" pitchFamily="34" charset="0"/>
                <a:ea typeface="Arial" pitchFamily="34" charset="-122"/>
                <a:cs typeface="Arial" pitchFamily="34" charset="-120"/>
              </a:rPr>
              <a:t>Fuselage Seat Map</a:t>
            </a:r>
            <a:endParaRPr lang="en-US" sz="1100" dirty="0"/>
          </a:p>
        </p:txBody>
      </p:sp>
      <p:sp>
        <p:nvSpPr>
          <p:cNvPr id="18" name="Text 16"/>
          <p:cNvSpPr/>
          <p:nvPr/>
        </p:nvSpPr>
        <p:spPr>
          <a:xfrm>
            <a:off x="7680960" y="1737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Dynamic SVG/CSS grid matching aircraft cabin configuration</a:t>
            </a:r>
            <a:endParaRPr lang="en-US" sz="900" dirty="0"/>
          </a:p>
        </p:txBody>
      </p:sp>
      <p:sp>
        <p:nvSpPr>
          <p:cNvPr id="19" name="Shape 17"/>
          <p:cNvSpPr/>
          <p:nvPr/>
        </p:nvSpPr>
        <p:spPr>
          <a:xfrm>
            <a:off x="7498080" y="2468880"/>
            <a:ext cx="3931920" cy="1051560"/>
          </a:xfrm>
          <a:prstGeom prst="rect">
            <a:avLst/>
          </a:prstGeom>
          <a:solidFill>
            <a:srgbClr val="1E293B"/>
          </a:solidFill>
          <a:ln w="19050">
            <a:solidFill>
              <a:srgbClr val="10B981"/>
            </a:solidFill>
            <a:prstDash val="solid"/>
          </a:ln>
        </p:spPr>
      </p:sp>
      <p:sp>
        <p:nvSpPr>
          <p:cNvPr id="20" name="Text 18"/>
          <p:cNvSpPr/>
          <p:nvPr/>
        </p:nvSpPr>
        <p:spPr>
          <a:xfrm>
            <a:off x="7680960" y="2578608"/>
            <a:ext cx="3566160" cy="274320"/>
          </a:xfrm>
          <a:prstGeom prst="rect">
            <a:avLst/>
          </a:prstGeom>
          <a:noFill/>
          <a:ln/>
        </p:spPr>
        <p:txBody>
          <a:bodyPr wrap="square" rtlCol="0" anchor="ctr"/>
          <a:lstStyle/>
          <a:p>
            <a:pPr indent="0" marL="0">
              <a:buNone/>
            </a:pPr>
            <a:r>
              <a:rPr lang="en-US" sz="1100" b="1" dirty="0">
                <a:solidFill>
                  <a:srgbClr val="10B981"/>
                </a:solidFill>
                <a:latin typeface="Arial" pitchFamily="34" charset="0"/>
                <a:ea typeface="Arial" pitchFamily="34" charset="-122"/>
                <a:cs typeface="Arial" pitchFamily="34" charset="-120"/>
              </a:rPr>
              <a:t>Seat 12A Allocated</a:t>
            </a:r>
            <a:endParaRPr lang="en-US" sz="1100" dirty="0"/>
          </a:p>
        </p:txBody>
      </p:sp>
      <p:sp>
        <p:nvSpPr>
          <p:cNvPr id="21" name="Text 19"/>
          <p:cNvSpPr/>
          <p:nvPr/>
        </p:nvSpPr>
        <p:spPr>
          <a:xfrm>
            <a:off x="7680960" y="2880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Window seat locked to PNR ABK79421 in checkin_db</a:t>
            </a:r>
            <a:endParaRPr lang="en-US" sz="900" dirty="0"/>
          </a:p>
        </p:txBody>
      </p:sp>
      <p:sp>
        <p:nvSpPr>
          <p:cNvPr id="22" name="Shape 20"/>
          <p:cNvSpPr/>
          <p:nvPr/>
        </p:nvSpPr>
        <p:spPr>
          <a:xfrm>
            <a:off x="7498080" y="3611880"/>
            <a:ext cx="3931920" cy="1051560"/>
          </a:xfrm>
          <a:prstGeom prst="rect">
            <a:avLst/>
          </a:prstGeom>
          <a:solidFill>
            <a:srgbClr val="1E293B"/>
          </a:solidFill>
          <a:ln w="19050">
            <a:solidFill>
              <a:srgbClr val="F59E0B"/>
            </a:solidFill>
            <a:prstDash val="solid"/>
          </a:ln>
        </p:spPr>
      </p:sp>
      <p:sp>
        <p:nvSpPr>
          <p:cNvPr id="23" name="Text 21"/>
          <p:cNvSpPr/>
          <p:nvPr/>
        </p:nvSpPr>
        <p:spPr>
          <a:xfrm>
            <a:off x="7680960" y="3721608"/>
            <a:ext cx="3566160" cy="274320"/>
          </a:xfrm>
          <a:prstGeom prst="rect">
            <a:avLst/>
          </a:prstGeom>
          <a:noFill/>
          <a:ln/>
        </p:spPr>
        <p:txBody>
          <a:bodyPr wrap="square" rtlCol="0" anchor="ctr"/>
          <a:lstStyle/>
          <a:p>
            <a:pPr indent="0" marL="0">
              <a:buNone/>
            </a:pPr>
            <a:r>
              <a:rPr lang="en-US" sz="1100" b="1" dirty="0">
                <a:solidFill>
                  <a:srgbClr val="F59E0B"/>
                </a:solidFill>
                <a:latin typeface="Arial" pitchFamily="34" charset="0"/>
                <a:ea typeface="Arial" pitchFamily="34" charset="-122"/>
                <a:cs typeface="Arial" pitchFamily="34" charset="-120"/>
              </a:rPr>
              <a:t>IATA Boarding Pass</a:t>
            </a:r>
            <a:endParaRPr lang="en-US" sz="1100" dirty="0"/>
          </a:p>
        </p:txBody>
      </p:sp>
      <p:sp>
        <p:nvSpPr>
          <p:cNvPr id="24" name="Text 22"/>
          <p:cNvSpPr/>
          <p:nvPr/>
        </p:nvSpPr>
        <p:spPr>
          <a:xfrm>
            <a:off x="7680960" y="4023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Includes Gate 4B, Boarding Group 2, and digital 2D barcode</a:t>
            </a:r>
            <a:endParaRPr lang="en-US" sz="900" dirty="0"/>
          </a:p>
        </p:txBody>
      </p:sp>
      <p:sp>
        <p:nvSpPr>
          <p:cNvPr id="25" name="Shape 23"/>
          <p:cNvSpPr/>
          <p:nvPr/>
        </p:nvSpPr>
        <p:spPr>
          <a:xfrm>
            <a:off x="731520" y="4800600"/>
            <a:ext cx="10698480" cy="1463040"/>
          </a:xfrm>
          <a:prstGeom prst="rect">
            <a:avLst/>
          </a:prstGeom>
          <a:solidFill>
            <a:srgbClr val="172554"/>
          </a:solidFill>
          <a:ln w="15240">
            <a:solidFill>
              <a:srgbClr val="3B82F6"/>
            </a:solidFill>
            <a:prstDash val="solid"/>
          </a:ln>
        </p:spPr>
      </p:sp>
      <p:sp>
        <p:nvSpPr>
          <p:cNvPr id="26" name="Text 24"/>
          <p:cNvSpPr/>
          <p:nvPr/>
        </p:nvSpPr>
        <p:spPr>
          <a:xfrm>
            <a:off x="914400" y="4892040"/>
            <a:ext cx="10332720" cy="228600"/>
          </a:xfrm>
          <a:prstGeom prst="rect">
            <a:avLst/>
          </a:prstGeom>
          <a:noFill/>
          <a:ln/>
        </p:spPr>
        <p:txBody>
          <a:bodyPr wrap="square" rtlCol="0" anchor="ctr"/>
          <a:lstStyle/>
          <a:p>
            <a:pPr indent="0" marL="0">
              <a:buNone/>
            </a:pPr>
            <a:r>
              <a:rPr lang="en-US" sz="950" b="1" dirty="0">
                <a:solidFill>
                  <a:srgbClr val="60A5FA"/>
                </a:solidFill>
                <a:latin typeface="Arial" pitchFamily="34" charset="0"/>
                <a:ea typeface="Arial" pitchFamily="34" charset="-122"/>
                <a:cs typeface="Arial" pitchFamily="34" charset="-120"/>
              </a:rPr>
              <a:t>ON-SCREEN ACTION / LIVE DEMO CUE:</a:t>
            </a:r>
            <a:endParaRPr lang="en-US" sz="950" dirty="0"/>
          </a:p>
        </p:txBody>
      </p:sp>
      <p:sp>
        <p:nvSpPr>
          <p:cNvPr id="27" name="Text 25"/>
          <p:cNvSpPr/>
          <p:nvPr/>
        </p:nvSpPr>
        <p:spPr>
          <a:xfrm>
            <a:off x="914400" y="5166360"/>
            <a:ext cx="10332720" cy="1005840"/>
          </a:xfrm>
          <a:prstGeom prst="rect">
            <a:avLst/>
          </a:prstGeom>
          <a:noFill/>
          <a:ln/>
        </p:spPr>
        <p:txBody>
          <a:bodyPr wrap="square" rtlCol="0" anchor="ctr"/>
          <a:lstStyle/>
          <a:p>
            <a:pPr indent="0" marL="0">
              <a:buNone/>
            </a:pPr>
            <a:r>
              <a:rPr lang="en-US" sz="950" dirty="0">
                <a:solidFill>
                  <a:srgbClr val="EFF6FF"/>
                </a:solidFill>
                <a:latin typeface="Arial" pitchFamily="34" charset="0"/>
                <a:ea typeface="Arial" pitchFamily="34" charset="-122"/>
                <a:cs typeface="Arial" pitchFamily="34" charset="-120"/>
              </a:rPr>
              <a:t>1. Navigate to Web Check-In.</a:t>
            </a:r>
            <a:endParaRPr lang="en-US" sz="950" dirty="0"/>
          </a:p>
          <a:p>
            <a:pPr indent="0" marL="0">
              <a:buNone/>
            </a:pPr>
            <a:r>
              <a:rPr lang="en-US" sz="950" dirty="0">
                <a:solidFill>
                  <a:srgbClr val="EFF6FF"/>
                </a:solidFill>
                <a:latin typeface="Arial" pitchFamily="34" charset="0"/>
                <a:ea typeface="Arial" pitchFamily="34" charset="-122"/>
                <a:cs typeface="Arial" pitchFamily="34" charset="-120"/>
              </a:rPr>
              <a:t>2. Enter PNR ABK79421.</a:t>
            </a:r>
            <a:endParaRPr lang="en-US" sz="950" dirty="0"/>
          </a:p>
          <a:p>
            <a:pPr indent="0" marL="0">
              <a:buNone/>
            </a:pPr>
            <a:r>
              <a:rPr lang="en-US" sz="950" dirty="0">
                <a:solidFill>
                  <a:srgbClr val="EFF6FF"/>
                </a:solidFill>
                <a:latin typeface="Arial" pitchFamily="34" charset="0"/>
                <a:ea typeface="Arial" pitchFamily="34" charset="-122"/>
                <a:cs typeface="Arial" pitchFamily="34" charset="-120"/>
              </a:rPr>
              <a:t>3. Fuselage seat map renders dynamically.</a:t>
            </a:r>
            <a:endParaRPr lang="en-US" sz="950" dirty="0"/>
          </a:p>
          <a:p>
            <a:pPr indent="0" marL="0">
              <a:buNone/>
            </a:pPr>
            <a:r>
              <a:rPr lang="en-US" sz="950" dirty="0">
                <a:solidFill>
                  <a:srgbClr val="EFF6FF"/>
                </a:solidFill>
                <a:latin typeface="Arial" pitchFamily="34" charset="0"/>
                <a:ea typeface="Arial" pitchFamily="34" charset="-122"/>
                <a:cs typeface="Arial" pitchFamily="34" charset="-120"/>
              </a:rPr>
              <a:t>4. Select window seat 12A and click Confirm Check-In.</a:t>
            </a:r>
            <a:endParaRPr lang="en-US" sz="950" dirty="0"/>
          </a:p>
          <a:p>
            <a:pPr indent="0" marL="0">
              <a:buNone/>
            </a:pPr>
            <a:r>
              <a:rPr lang="en-US" sz="950" dirty="0">
                <a:solidFill>
                  <a:srgbClr val="EFF6FF"/>
                </a:solidFill>
                <a:latin typeface="Arial" pitchFamily="34" charset="0"/>
                <a:ea typeface="Arial" pitchFamily="34" charset="-122"/>
                <a:cs typeface="Arial" pitchFamily="34" charset="-120"/>
              </a:rPr>
              <a:t>5. Show digital Boarding Pass with IATA barcode (BP-X-YYZ), gate number, and seat 12A.</a:t>
            </a:r>
            <a:endParaRPr lang="en-US" sz="950" dirty="0"/>
          </a:p>
          <a:p>
            <a:pPr indent="0" marL="0">
              <a:buNone/>
            </a:pPr>
            <a:r>
              <a:rPr lang="en-US" sz="950" dirty="0">
                <a:solidFill>
                  <a:srgbClr val="EFF6FF"/>
                </a:solidFill>
                <a:latin typeface="Arial" pitchFamily="34" charset="0"/>
                <a:ea typeface="Arial" pitchFamily="34" charset="-122"/>
                <a:cs typeface="Arial" pitchFamily="34" charset="-120"/>
              </a:rPr>
              <a:t>6. Click Download Boarding Pass.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D1E"/>
        </a:solidFill>
      </p:bgPr>
    </p:bg>
    <p:spTree>
      <p:nvGrpSpPr>
        <p:cNvPr id="1" name=""/>
        <p:cNvGrpSpPr/>
        <p:nvPr/>
      </p:nvGrpSpPr>
      <p:grpSpPr>
        <a:xfrm>
          <a:off x="0" y="0"/>
          <a:ext cx="0" cy="0"/>
          <a:chOff x="0" y="0"/>
          <a:chExt cx="0" cy="0"/>
        </a:xfrm>
      </p:grpSpPr>
      <p:sp>
        <p:nvSpPr>
          <p:cNvPr id="2" name="Shape 0"/>
          <p:cNvSpPr/>
          <p:nvPr/>
        </p:nvSpPr>
        <p:spPr>
          <a:xfrm>
            <a:off x="731520" y="365760"/>
            <a:ext cx="10698480" cy="822960"/>
          </a:xfrm>
          <a:prstGeom prst="rect">
            <a:avLst/>
          </a:prstGeom>
          <a:solidFill>
            <a:srgbClr val="0F172A"/>
          </a:solidFill>
          <a:ln w="15240">
            <a:solidFill>
              <a:srgbClr val="2563EB"/>
            </a:solidFill>
            <a:prstDash val="solid"/>
          </a:ln>
        </p:spPr>
      </p:sp>
      <p:sp>
        <p:nvSpPr>
          <p:cNvPr id="3" name="Text 1"/>
          <p:cNvSpPr/>
          <p:nvPr/>
        </p:nvSpPr>
        <p:spPr>
          <a:xfrm>
            <a:off x="914400" y="438912"/>
            <a:ext cx="5486400" cy="228600"/>
          </a:xfrm>
          <a:prstGeom prst="rect">
            <a:avLst/>
          </a:prstGeom>
          <a:noFill/>
          <a:ln/>
        </p:spPr>
        <p:txBody>
          <a:bodyPr wrap="square" rtlCol="0" anchor="ctr"/>
          <a:lstStyle/>
          <a:p>
            <a:pPr indent="0" marL="0">
              <a:buNone/>
            </a:pPr>
            <a:r>
              <a:rPr lang="en-US" sz="900" b="1" dirty="0">
                <a:solidFill>
                  <a:srgbClr val="38BDF8"/>
                </a:solidFill>
                <a:latin typeface="Arial" pitchFamily="34" charset="0"/>
                <a:ea typeface="Arial" pitchFamily="34" charset="-122"/>
                <a:cs typeface="Arial" pitchFamily="34" charset="-120"/>
              </a:rPr>
              <a:t>SLIDE 9 OF 11  |  07:45 – 08:45</a:t>
            </a:r>
            <a:endParaRPr lang="en-US" sz="900" dirty="0"/>
          </a:p>
        </p:txBody>
      </p:sp>
      <p:sp>
        <p:nvSpPr>
          <p:cNvPr id="4" name="Text 2"/>
          <p:cNvSpPr/>
          <p:nvPr/>
        </p:nvSpPr>
        <p:spPr>
          <a:xfrm>
            <a:off x="914400" y="658368"/>
            <a:ext cx="82296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Live Step 4: Airport Ground Operations &amp; Gate Scanner</a:t>
            </a:r>
            <a:endParaRPr lang="en-US" sz="1600" dirty="0"/>
          </a:p>
        </p:txBody>
      </p:sp>
      <p:sp>
        <p:nvSpPr>
          <p:cNvPr id="5" name="Text 3"/>
          <p:cNvSpPr/>
          <p:nvPr/>
        </p:nvSpPr>
        <p:spPr>
          <a:xfrm>
            <a:off x="8686800" y="502920"/>
            <a:ext cx="2560320" cy="274320"/>
          </a:xfrm>
          <a:prstGeom prst="rect">
            <a:avLst/>
          </a:prstGeom>
          <a:noFill/>
          <a:ln/>
        </p:spPr>
        <p:txBody>
          <a:bodyPr wrap="square"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PART 2: LIVE SYSTEM DEMONSTRATION</a:t>
            </a:r>
            <a:endParaRPr lang="en-US" sz="800" dirty="0"/>
          </a:p>
        </p:txBody>
      </p:sp>
      <p:sp>
        <p:nvSpPr>
          <p:cNvPr id="6" name="Shape 4"/>
          <p:cNvSpPr/>
          <p:nvPr/>
        </p:nvSpPr>
        <p:spPr>
          <a:xfrm>
            <a:off x="731520" y="1325880"/>
            <a:ext cx="6583680" cy="3337560"/>
          </a:xfrm>
          <a:prstGeom prst="rect">
            <a:avLst/>
          </a:prstGeom>
          <a:solidFill>
            <a:srgbClr val="0F172A"/>
          </a:solidFill>
          <a:ln w="12700">
            <a:solidFill>
              <a:srgbClr val="334155"/>
            </a:solidFill>
            <a:prstDash val="solid"/>
          </a:ln>
        </p:spPr>
      </p:sp>
      <p:sp>
        <p:nvSpPr>
          <p:cNvPr id="7" name="Text 5"/>
          <p:cNvSpPr/>
          <p:nvPr/>
        </p:nvSpPr>
        <p:spPr>
          <a:xfrm>
            <a:off x="914400" y="1417320"/>
            <a:ext cx="6217920" cy="27432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KEY ARCHITECTURAL &amp; TECHNICAL HIGHLIGHTS</a:t>
            </a:r>
            <a:endParaRPr lang="en-US" sz="1000" dirty="0"/>
          </a:p>
        </p:txBody>
      </p:sp>
      <p:sp>
        <p:nvSpPr>
          <p:cNvPr id="8" name="Text 6"/>
          <p:cNvSpPr/>
          <p:nvPr/>
        </p:nvSpPr>
        <p:spPr>
          <a:xfrm>
            <a:off x="914400" y="17830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Airport Staff Portal:</a:t>
            </a:r>
            <a:endParaRPr lang="en-US" sz="1000" dirty="0"/>
          </a:p>
        </p:txBody>
      </p:sp>
      <p:sp>
        <p:nvSpPr>
          <p:cNvPr id="9" name="Text 7"/>
          <p:cNvSpPr/>
          <p:nvPr/>
        </p:nvSpPr>
        <p:spPr>
          <a:xfrm>
            <a:off x="1188720" y="20116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Specialized dashboard at /staff secured by Spring Security RBAC (ROLE_STAFF).</a:t>
            </a:r>
            <a:endParaRPr lang="en-US" sz="950" dirty="0"/>
          </a:p>
        </p:txBody>
      </p:sp>
      <p:sp>
        <p:nvSpPr>
          <p:cNvPr id="10" name="Text 8"/>
          <p:cNvSpPr/>
          <p:nvPr/>
        </p:nvSpPr>
        <p:spPr>
          <a:xfrm>
            <a:off x="914400" y="24688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Flight Manifest Oversight:</a:t>
            </a:r>
            <a:endParaRPr lang="en-US" sz="1000" dirty="0"/>
          </a:p>
        </p:txBody>
      </p:sp>
      <p:sp>
        <p:nvSpPr>
          <p:cNvPr id="11" name="Text 9"/>
          <p:cNvSpPr/>
          <p:nvPr/>
        </p:nvSpPr>
        <p:spPr>
          <a:xfrm>
            <a:off x="1188720" y="26974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Ground agents view real-time boarding completion rates and checked baggage.</a:t>
            </a:r>
            <a:endParaRPr lang="en-US" sz="950" dirty="0"/>
          </a:p>
        </p:txBody>
      </p:sp>
      <p:sp>
        <p:nvSpPr>
          <p:cNvPr id="12" name="Text 10"/>
          <p:cNvSpPr/>
          <p:nvPr/>
        </p:nvSpPr>
        <p:spPr>
          <a:xfrm>
            <a:off x="914400" y="31546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Gate Boarding Scanner:</a:t>
            </a:r>
            <a:endParaRPr lang="en-US" sz="1000" dirty="0"/>
          </a:p>
        </p:txBody>
      </p:sp>
      <p:sp>
        <p:nvSpPr>
          <p:cNvPr id="13" name="Text 11"/>
          <p:cNvSpPr/>
          <p:nvPr/>
        </p:nvSpPr>
        <p:spPr>
          <a:xfrm>
            <a:off x="1188720" y="33832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Validates boarding barcode and advances passenger status to BOARDED.</a:t>
            </a:r>
            <a:endParaRPr lang="en-US" sz="950" dirty="0"/>
          </a:p>
        </p:txBody>
      </p:sp>
      <p:sp>
        <p:nvSpPr>
          <p:cNvPr id="14" name="Text 12"/>
          <p:cNvSpPr/>
          <p:nvPr/>
        </p:nvSpPr>
        <p:spPr>
          <a:xfrm>
            <a:off x="914400" y="38404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Operational Dispatcher:</a:t>
            </a:r>
            <a:endParaRPr lang="en-US" sz="1000" dirty="0"/>
          </a:p>
        </p:txBody>
      </p:sp>
      <p:sp>
        <p:nvSpPr>
          <p:cNvPr id="15" name="Text 13"/>
          <p:cNvSpPr/>
          <p:nvPr/>
        </p:nvSpPr>
        <p:spPr>
          <a:xfrm>
            <a:off x="1188720" y="40690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Broadcasts operational flight status (SCHEDULED -&gt; BOARDING -&gt; DEPARTED).</a:t>
            </a:r>
            <a:endParaRPr lang="en-US" sz="950" dirty="0"/>
          </a:p>
        </p:txBody>
      </p:sp>
      <p:sp>
        <p:nvSpPr>
          <p:cNvPr id="16" name="Shape 14"/>
          <p:cNvSpPr/>
          <p:nvPr/>
        </p:nvSpPr>
        <p:spPr>
          <a:xfrm>
            <a:off x="7498080" y="1325880"/>
            <a:ext cx="3931920" cy="1051560"/>
          </a:xfrm>
          <a:prstGeom prst="rect">
            <a:avLst/>
          </a:prstGeom>
          <a:solidFill>
            <a:srgbClr val="1E293B"/>
          </a:solidFill>
          <a:ln w="19050">
            <a:solidFill>
              <a:srgbClr val="38BDF8"/>
            </a:solidFill>
            <a:prstDash val="solid"/>
          </a:ln>
        </p:spPr>
      </p:sp>
      <p:sp>
        <p:nvSpPr>
          <p:cNvPr id="17" name="Text 15"/>
          <p:cNvSpPr/>
          <p:nvPr/>
        </p:nvSpPr>
        <p:spPr>
          <a:xfrm>
            <a:off x="7680960" y="1435608"/>
            <a:ext cx="3566160" cy="274320"/>
          </a:xfrm>
          <a:prstGeom prst="rect">
            <a:avLst/>
          </a:prstGeom>
          <a:noFill/>
          <a:ln/>
        </p:spPr>
        <p:txBody>
          <a:bodyPr wrap="square" rtlCol="0" anchor="ctr"/>
          <a:lstStyle/>
          <a:p>
            <a:pPr indent="0" marL="0">
              <a:buNone/>
            </a:pPr>
            <a:r>
              <a:rPr lang="en-US" sz="1100" b="1" dirty="0">
                <a:solidFill>
                  <a:srgbClr val="38BDF8"/>
                </a:solidFill>
                <a:latin typeface="Arial" pitchFamily="34" charset="0"/>
                <a:ea typeface="Arial" pitchFamily="34" charset="-122"/>
                <a:cs typeface="Arial" pitchFamily="34" charset="-120"/>
              </a:rPr>
              <a:t>Passenger Manifest</a:t>
            </a:r>
            <a:endParaRPr lang="en-US" sz="1100" dirty="0"/>
          </a:p>
        </p:txBody>
      </p:sp>
      <p:sp>
        <p:nvSpPr>
          <p:cNvPr id="18" name="Text 16"/>
          <p:cNvSpPr/>
          <p:nvPr/>
        </p:nvSpPr>
        <p:spPr>
          <a:xfrm>
            <a:off x="7680960" y="1737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Full manifest visibility: Seat 12A, PNR ABK79421, Bag Tag #BG8841</a:t>
            </a:r>
            <a:endParaRPr lang="en-US" sz="900" dirty="0"/>
          </a:p>
        </p:txBody>
      </p:sp>
      <p:sp>
        <p:nvSpPr>
          <p:cNvPr id="19" name="Shape 17"/>
          <p:cNvSpPr/>
          <p:nvPr/>
        </p:nvSpPr>
        <p:spPr>
          <a:xfrm>
            <a:off x="7498080" y="2468880"/>
            <a:ext cx="3931920" cy="1051560"/>
          </a:xfrm>
          <a:prstGeom prst="rect">
            <a:avLst/>
          </a:prstGeom>
          <a:solidFill>
            <a:srgbClr val="1E293B"/>
          </a:solidFill>
          <a:ln w="19050">
            <a:solidFill>
              <a:srgbClr val="10B981"/>
            </a:solidFill>
            <a:prstDash val="solid"/>
          </a:ln>
        </p:spPr>
      </p:sp>
      <p:sp>
        <p:nvSpPr>
          <p:cNvPr id="20" name="Text 18"/>
          <p:cNvSpPr/>
          <p:nvPr/>
        </p:nvSpPr>
        <p:spPr>
          <a:xfrm>
            <a:off x="7680960" y="2578608"/>
            <a:ext cx="3566160" cy="274320"/>
          </a:xfrm>
          <a:prstGeom prst="rect">
            <a:avLst/>
          </a:prstGeom>
          <a:noFill/>
          <a:ln/>
        </p:spPr>
        <p:txBody>
          <a:bodyPr wrap="square" rtlCol="0" anchor="ctr"/>
          <a:lstStyle/>
          <a:p>
            <a:pPr indent="0" marL="0">
              <a:buNone/>
            </a:pPr>
            <a:r>
              <a:rPr lang="en-US" sz="1100" b="1" dirty="0">
                <a:solidFill>
                  <a:srgbClr val="10B981"/>
                </a:solidFill>
                <a:latin typeface="Arial" pitchFamily="34" charset="0"/>
                <a:ea typeface="Arial" pitchFamily="34" charset="-122"/>
                <a:cs typeface="Arial" pitchFamily="34" charset="-120"/>
              </a:rPr>
              <a:t>Gate Scanner</a:t>
            </a:r>
            <a:endParaRPr lang="en-US" sz="1100" dirty="0"/>
          </a:p>
        </p:txBody>
      </p:sp>
      <p:sp>
        <p:nvSpPr>
          <p:cNvPr id="21" name="Text 19"/>
          <p:cNvSpPr/>
          <p:nvPr/>
        </p:nvSpPr>
        <p:spPr>
          <a:xfrm>
            <a:off x="7680960" y="2880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Instant transition from CHECKED_IN to BOARDED upon barcode scan</a:t>
            </a:r>
            <a:endParaRPr lang="en-US" sz="900" dirty="0"/>
          </a:p>
        </p:txBody>
      </p:sp>
      <p:sp>
        <p:nvSpPr>
          <p:cNvPr id="22" name="Shape 20"/>
          <p:cNvSpPr/>
          <p:nvPr/>
        </p:nvSpPr>
        <p:spPr>
          <a:xfrm>
            <a:off x="7498080" y="3611880"/>
            <a:ext cx="3931920" cy="1051560"/>
          </a:xfrm>
          <a:prstGeom prst="rect">
            <a:avLst/>
          </a:prstGeom>
          <a:solidFill>
            <a:srgbClr val="1E293B"/>
          </a:solidFill>
          <a:ln w="19050">
            <a:solidFill>
              <a:srgbClr val="6366F1"/>
            </a:solidFill>
            <a:prstDash val="solid"/>
          </a:ln>
        </p:spPr>
      </p:sp>
      <p:sp>
        <p:nvSpPr>
          <p:cNvPr id="23" name="Text 21"/>
          <p:cNvSpPr/>
          <p:nvPr/>
        </p:nvSpPr>
        <p:spPr>
          <a:xfrm>
            <a:off x="7680960" y="3721608"/>
            <a:ext cx="3566160" cy="274320"/>
          </a:xfrm>
          <a:prstGeom prst="rect">
            <a:avLst/>
          </a:prstGeom>
          <a:noFill/>
          <a:ln/>
        </p:spPr>
        <p:txBody>
          <a:bodyPr wrap="square" rtlCol="0" anchor="ctr"/>
          <a:lstStyle/>
          <a:p>
            <a:pPr indent="0" marL="0">
              <a:buNone/>
            </a:pPr>
            <a:r>
              <a:rPr lang="en-US" sz="1100" b="1" dirty="0">
                <a:solidFill>
                  <a:srgbClr val="6366F1"/>
                </a:solidFill>
                <a:latin typeface="Arial" pitchFamily="34" charset="0"/>
                <a:ea typeface="Arial" pitchFamily="34" charset="-122"/>
                <a:cs typeface="Arial" pitchFamily="34" charset="-120"/>
              </a:rPr>
              <a:t>Flight Dispatch</a:t>
            </a:r>
            <a:endParaRPr lang="en-US" sz="1100" dirty="0"/>
          </a:p>
        </p:txBody>
      </p:sp>
      <p:sp>
        <p:nvSpPr>
          <p:cNvPr id="24" name="Text 22"/>
          <p:cNvSpPr/>
          <p:nvPr/>
        </p:nvSpPr>
        <p:spPr>
          <a:xfrm>
            <a:off x="7680960" y="4023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Operational status updated to BOARDING across all airport boards</a:t>
            </a:r>
            <a:endParaRPr lang="en-US" sz="900" dirty="0"/>
          </a:p>
        </p:txBody>
      </p:sp>
      <p:sp>
        <p:nvSpPr>
          <p:cNvPr id="25" name="Shape 23"/>
          <p:cNvSpPr/>
          <p:nvPr/>
        </p:nvSpPr>
        <p:spPr>
          <a:xfrm>
            <a:off x="731520" y="4800600"/>
            <a:ext cx="10698480" cy="1463040"/>
          </a:xfrm>
          <a:prstGeom prst="rect">
            <a:avLst/>
          </a:prstGeom>
          <a:solidFill>
            <a:srgbClr val="172554"/>
          </a:solidFill>
          <a:ln w="15240">
            <a:solidFill>
              <a:srgbClr val="3B82F6"/>
            </a:solidFill>
            <a:prstDash val="solid"/>
          </a:ln>
        </p:spPr>
      </p:sp>
      <p:sp>
        <p:nvSpPr>
          <p:cNvPr id="26" name="Text 24"/>
          <p:cNvSpPr/>
          <p:nvPr/>
        </p:nvSpPr>
        <p:spPr>
          <a:xfrm>
            <a:off x="914400" y="4892040"/>
            <a:ext cx="10332720" cy="228600"/>
          </a:xfrm>
          <a:prstGeom prst="rect">
            <a:avLst/>
          </a:prstGeom>
          <a:noFill/>
          <a:ln/>
        </p:spPr>
        <p:txBody>
          <a:bodyPr wrap="square" rtlCol="0" anchor="ctr"/>
          <a:lstStyle/>
          <a:p>
            <a:pPr indent="0" marL="0">
              <a:buNone/>
            </a:pPr>
            <a:r>
              <a:rPr lang="en-US" sz="950" b="1" dirty="0">
                <a:solidFill>
                  <a:srgbClr val="60A5FA"/>
                </a:solidFill>
                <a:latin typeface="Arial" pitchFamily="34" charset="0"/>
                <a:ea typeface="Arial" pitchFamily="34" charset="-122"/>
                <a:cs typeface="Arial" pitchFamily="34" charset="-120"/>
              </a:rPr>
              <a:t>ON-SCREEN ACTION / LIVE DEMO CUE:</a:t>
            </a:r>
            <a:endParaRPr lang="en-US" sz="950" dirty="0"/>
          </a:p>
        </p:txBody>
      </p:sp>
      <p:sp>
        <p:nvSpPr>
          <p:cNvPr id="27" name="Text 25"/>
          <p:cNvSpPr/>
          <p:nvPr/>
        </p:nvSpPr>
        <p:spPr>
          <a:xfrm>
            <a:off x="914400" y="5166360"/>
            <a:ext cx="10332720" cy="1005840"/>
          </a:xfrm>
          <a:prstGeom prst="rect">
            <a:avLst/>
          </a:prstGeom>
          <a:noFill/>
          <a:ln/>
        </p:spPr>
        <p:txBody>
          <a:bodyPr wrap="square" rtlCol="0" anchor="ctr"/>
          <a:lstStyle/>
          <a:p>
            <a:pPr indent="0" marL="0">
              <a:buNone/>
            </a:pPr>
            <a:r>
              <a:rPr lang="en-US" sz="950" dirty="0">
                <a:solidFill>
                  <a:srgbClr val="EFF6FF"/>
                </a:solidFill>
                <a:latin typeface="Arial" pitchFamily="34" charset="0"/>
                <a:ea typeface="Arial" pitchFamily="34" charset="-122"/>
                <a:cs typeface="Arial" pitchFamily="34" charset="-120"/>
              </a:rPr>
              <a:t>1. Log out and log in as staff@aerobook.com / Staff@123.</a:t>
            </a:r>
            <a:endParaRPr lang="en-US" sz="950" dirty="0"/>
          </a:p>
          <a:p>
            <a:pPr indent="0" marL="0">
              <a:buNone/>
            </a:pPr>
            <a:r>
              <a:rPr lang="en-US" sz="950" dirty="0">
                <a:solidFill>
                  <a:srgbClr val="EFF6FF"/>
                </a:solidFill>
                <a:latin typeface="Arial" pitchFamily="34" charset="0"/>
                <a:ea typeface="Arial" pitchFamily="34" charset="-122"/>
                <a:cs typeface="Arial" pitchFamily="34" charset="-120"/>
              </a:rPr>
              <a:t>2. Land on Staff Dashboard (/staff).</a:t>
            </a:r>
            <a:endParaRPr lang="en-US" sz="950" dirty="0"/>
          </a:p>
          <a:p>
            <a:pPr indent="0" marL="0">
              <a:buNone/>
            </a:pPr>
            <a:r>
              <a:rPr lang="en-US" sz="950" dirty="0">
                <a:solidFill>
                  <a:srgbClr val="EFF6FF"/>
                </a:solidFill>
                <a:latin typeface="Arial" pitchFamily="34" charset="0"/>
                <a:ea typeface="Arial" pitchFamily="34" charset="-122"/>
                <a:cs typeface="Arial" pitchFamily="34" charset="-120"/>
              </a:rPr>
              <a:t>3. In Passenger Manifest, search for flight AB-101. Locate Priya's record with seat 12A.</a:t>
            </a:r>
            <a:endParaRPr lang="en-US" sz="950" dirty="0"/>
          </a:p>
          <a:p>
            <a:pPr indent="0" marL="0">
              <a:buNone/>
            </a:pPr>
            <a:r>
              <a:rPr lang="en-US" sz="950" dirty="0">
                <a:solidFill>
                  <a:srgbClr val="EFF6FF"/>
                </a:solidFill>
                <a:latin typeface="Arial" pitchFamily="34" charset="0"/>
                <a:ea typeface="Arial" pitchFamily="34" charset="-122"/>
                <a:cs typeface="Arial" pitchFamily="34" charset="-120"/>
              </a:rPr>
              <a:t>4. Click Simulate Gate Scan / Board Passenger. Show status updating to BOARDED.</a:t>
            </a:r>
            <a:endParaRPr lang="en-US" sz="950" dirty="0"/>
          </a:p>
          <a:p>
            <a:pPr indent="0" marL="0">
              <a:buNone/>
            </a:pPr>
            <a:r>
              <a:rPr lang="en-US" sz="950" dirty="0">
                <a:solidFill>
                  <a:srgbClr val="EFF6FF"/>
                </a:solidFill>
                <a:latin typeface="Arial" pitchFamily="34" charset="0"/>
                <a:ea typeface="Arial" pitchFamily="34" charset="-122"/>
                <a:cs typeface="Arial" pitchFamily="34" charset="-120"/>
              </a:rPr>
              <a:t>5. In Flight Status Dispatcher, update flight status from SCHEDULED to BOARDING.</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D1E"/>
        </a:solidFill>
      </p:bgPr>
    </p:bg>
    <p:spTree>
      <p:nvGrpSpPr>
        <p:cNvPr id="1" name=""/>
        <p:cNvGrpSpPr/>
        <p:nvPr/>
      </p:nvGrpSpPr>
      <p:grpSpPr>
        <a:xfrm>
          <a:off x="0" y="0"/>
          <a:ext cx="0" cy="0"/>
          <a:chOff x="0" y="0"/>
          <a:chExt cx="0" cy="0"/>
        </a:xfrm>
      </p:grpSpPr>
      <p:sp>
        <p:nvSpPr>
          <p:cNvPr id="2" name="Shape 0"/>
          <p:cNvSpPr/>
          <p:nvPr/>
        </p:nvSpPr>
        <p:spPr>
          <a:xfrm>
            <a:off x="731520" y="365760"/>
            <a:ext cx="10698480" cy="822960"/>
          </a:xfrm>
          <a:prstGeom prst="rect">
            <a:avLst/>
          </a:prstGeom>
          <a:solidFill>
            <a:srgbClr val="0F172A"/>
          </a:solidFill>
          <a:ln w="15240">
            <a:solidFill>
              <a:srgbClr val="2563EB"/>
            </a:solidFill>
            <a:prstDash val="solid"/>
          </a:ln>
        </p:spPr>
      </p:sp>
      <p:sp>
        <p:nvSpPr>
          <p:cNvPr id="3" name="Text 1"/>
          <p:cNvSpPr/>
          <p:nvPr/>
        </p:nvSpPr>
        <p:spPr>
          <a:xfrm>
            <a:off x="914400" y="438912"/>
            <a:ext cx="5486400" cy="228600"/>
          </a:xfrm>
          <a:prstGeom prst="rect">
            <a:avLst/>
          </a:prstGeom>
          <a:noFill/>
          <a:ln/>
        </p:spPr>
        <p:txBody>
          <a:bodyPr wrap="square" rtlCol="0" anchor="ctr"/>
          <a:lstStyle/>
          <a:p>
            <a:pPr indent="0" marL="0">
              <a:buNone/>
            </a:pPr>
            <a:r>
              <a:rPr lang="en-US" sz="900" b="1" dirty="0">
                <a:solidFill>
                  <a:srgbClr val="38BDF8"/>
                </a:solidFill>
                <a:latin typeface="Arial" pitchFamily="34" charset="0"/>
                <a:ea typeface="Arial" pitchFamily="34" charset="-122"/>
                <a:cs typeface="Arial" pitchFamily="34" charset="-120"/>
              </a:rPr>
              <a:t>SLIDE 10 OF 11  |  08:45 – 09:30</a:t>
            </a:r>
            <a:endParaRPr lang="en-US" sz="900" dirty="0"/>
          </a:p>
        </p:txBody>
      </p:sp>
      <p:sp>
        <p:nvSpPr>
          <p:cNvPr id="4" name="Text 2"/>
          <p:cNvSpPr/>
          <p:nvPr/>
        </p:nvSpPr>
        <p:spPr>
          <a:xfrm>
            <a:off x="914400" y="658368"/>
            <a:ext cx="82296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Live Step 5: Airline Administration &amp; Fleet Control</a:t>
            </a:r>
            <a:endParaRPr lang="en-US" sz="1600" dirty="0"/>
          </a:p>
        </p:txBody>
      </p:sp>
      <p:sp>
        <p:nvSpPr>
          <p:cNvPr id="5" name="Text 3"/>
          <p:cNvSpPr/>
          <p:nvPr/>
        </p:nvSpPr>
        <p:spPr>
          <a:xfrm>
            <a:off x="8686800" y="502920"/>
            <a:ext cx="2560320" cy="274320"/>
          </a:xfrm>
          <a:prstGeom prst="rect">
            <a:avLst/>
          </a:prstGeom>
          <a:noFill/>
          <a:ln/>
        </p:spPr>
        <p:txBody>
          <a:bodyPr wrap="square"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PART 2: LIVE SYSTEM DEMONSTRATION</a:t>
            </a:r>
            <a:endParaRPr lang="en-US" sz="800" dirty="0"/>
          </a:p>
        </p:txBody>
      </p:sp>
      <p:sp>
        <p:nvSpPr>
          <p:cNvPr id="6" name="Shape 4"/>
          <p:cNvSpPr/>
          <p:nvPr/>
        </p:nvSpPr>
        <p:spPr>
          <a:xfrm>
            <a:off x="731520" y="1325880"/>
            <a:ext cx="6583680" cy="3337560"/>
          </a:xfrm>
          <a:prstGeom prst="rect">
            <a:avLst/>
          </a:prstGeom>
          <a:solidFill>
            <a:srgbClr val="0F172A"/>
          </a:solidFill>
          <a:ln w="12700">
            <a:solidFill>
              <a:srgbClr val="334155"/>
            </a:solidFill>
            <a:prstDash val="solid"/>
          </a:ln>
        </p:spPr>
      </p:sp>
      <p:sp>
        <p:nvSpPr>
          <p:cNvPr id="7" name="Text 5"/>
          <p:cNvSpPr/>
          <p:nvPr/>
        </p:nvSpPr>
        <p:spPr>
          <a:xfrm>
            <a:off x="914400" y="1417320"/>
            <a:ext cx="6217920" cy="27432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KEY ARCHITECTURAL &amp; TECHNICAL HIGHLIGHTS</a:t>
            </a:r>
            <a:endParaRPr lang="en-US" sz="1000" dirty="0"/>
          </a:p>
        </p:txBody>
      </p:sp>
      <p:sp>
        <p:nvSpPr>
          <p:cNvPr id="8" name="Text 6"/>
          <p:cNvSpPr/>
          <p:nvPr/>
        </p:nvSpPr>
        <p:spPr>
          <a:xfrm>
            <a:off x="914400" y="17830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Fleet Inventory:</a:t>
            </a:r>
            <a:endParaRPr lang="en-US" sz="1000" dirty="0"/>
          </a:p>
        </p:txBody>
      </p:sp>
      <p:sp>
        <p:nvSpPr>
          <p:cNvPr id="9" name="Text 7"/>
          <p:cNvSpPr/>
          <p:nvPr/>
        </p:nvSpPr>
        <p:spPr>
          <a:xfrm>
            <a:off x="1188720" y="20116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Manage commercial aircraft models (Boeing 737, Airbus A320, Boeing 787) &amp; capacity.</a:t>
            </a:r>
            <a:endParaRPr lang="en-US" sz="950" dirty="0"/>
          </a:p>
        </p:txBody>
      </p:sp>
      <p:sp>
        <p:nvSpPr>
          <p:cNvPr id="10" name="Text 8"/>
          <p:cNvSpPr/>
          <p:nvPr/>
        </p:nvSpPr>
        <p:spPr>
          <a:xfrm>
            <a:off x="914400" y="24688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Route &amp; Schedule Engine:</a:t>
            </a:r>
            <a:endParaRPr lang="en-US" sz="1000" dirty="0"/>
          </a:p>
        </p:txBody>
      </p:sp>
      <p:sp>
        <p:nvSpPr>
          <p:cNvPr id="11" name="Text 9"/>
          <p:cNvSpPr/>
          <p:nvPr/>
        </p:nvSpPr>
        <p:spPr>
          <a:xfrm>
            <a:off x="1188720" y="26974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Create flights, link aircraft, define departure/arrival hubs, and set base fares.</a:t>
            </a:r>
            <a:endParaRPr lang="en-US" sz="950" dirty="0"/>
          </a:p>
        </p:txBody>
      </p:sp>
      <p:sp>
        <p:nvSpPr>
          <p:cNvPr id="12" name="Text 10"/>
          <p:cNvSpPr/>
          <p:nvPr/>
        </p:nvSpPr>
        <p:spPr>
          <a:xfrm>
            <a:off x="914400" y="31546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Campaign Management:</a:t>
            </a:r>
            <a:endParaRPr lang="en-US" sz="1000" dirty="0"/>
          </a:p>
        </p:txBody>
      </p:sp>
      <p:sp>
        <p:nvSpPr>
          <p:cNvPr id="13" name="Text 11"/>
          <p:cNvSpPr/>
          <p:nvPr/>
        </p:nvSpPr>
        <p:spPr>
          <a:xfrm>
            <a:off x="1188720" y="33832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Configure promotional discount coupons, percentage caps, and usage quotas.</a:t>
            </a:r>
            <a:endParaRPr lang="en-US" sz="950" dirty="0"/>
          </a:p>
        </p:txBody>
      </p:sp>
      <p:sp>
        <p:nvSpPr>
          <p:cNvPr id="14" name="Text 12"/>
          <p:cNvSpPr/>
          <p:nvPr/>
        </p:nvSpPr>
        <p:spPr>
          <a:xfrm>
            <a:off x="914400" y="38404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Credential Directory:</a:t>
            </a:r>
            <a:endParaRPr lang="en-US" sz="1000" dirty="0"/>
          </a:p>
        </p:txBody>
      </p:sp>
      <p:sp>
        <p:nvSpPr>
          <p:cNvPr id="15" name="Text 13"/>
          <p:cNvSpPr/>
          <p:nvPr/>
        </p:nvSpPr>
        <p:spPr>
          <a:xfrm>
            <a:off x="1188720" y="40690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Full enterprise user audit, account status verification, and RBAC role promotion.</a:t>
            </a:r>
            <a:endParaRPr lang="en-US" sz="950" dirty="0"/>
          </a:p>
        </p:txBody>
      </p:sp>
      <p:sp>
        <p:nvSpPr>
          <p:cNvPr id="16" name="Shape 14"/>
          <p:cNvSpPr/>
          <p:nvPr/>
        </p:nvSpPr>
        <p:spPr>
          <a:xfrm>
            <a:off x="7498080" y="1325880"/>
            <a:ext cx="3931920" cy="1051560"/>
          </a:xfrm>
          <a:prstGeom prst="rect">
            <a:avLst/>
          </a:prstGeom>
          <a:solidFill>
            <a:srgbClr val="1E293B"/>
          </a:solidFill>
          <a:ln w="19050">
            <a:solidFill>
              <a:srgbClr val="8B5CF6"/>
            </a:solidFill>
            <a:prstDash val="solid"/>
          </a:ln>
        </p:spPr>
      </p:sp>
      <p:sp>
        <p:nvSpPr>
          <p:cNvPr id="17" name="Text 15"/>
          <p:cNvSpPr/>
          <p:nvPr/>
        </p:nvSpPr>
        <p:spPr>
          <a:xfrm>
            <a:off x="7680960" y="1435608"/>
            <a:ext cx="3566160" cy="274320"/>
          </a:xfrm>
          <a:prstGeom prst="rect">
            <a:avLst/>
          </a:prstGeom>
          <a:noFill/>
          <a:ln/>
        </p:spPr>
        <p:txBody>
          <a:bodyPr wrap="square" rtlCol="0" anchor="ctr"/>
          <a:lstStyle/>
          <a:p>
            <a:pPr indent="0" marL="0">
              <a:buNone/>
            </a:pPr>
            <a:r>
              <a:rPr lang="en-US" sz="1100" b="1" dirty="0">
                <a:solidFill>
                  <a:srgbClr val="8B5CF6"/>
                </a:solidFill>
                <a:latin typeface="Arial" pitchFamily="34" charset="0"/>
                <a:ea typeface="Arial" pitchFamily="34" charset="-122"/>
                <a:cs typeface="Arial" pitchFamily="34" charset="-120"/>
              </a:rPr>
              <a:t>Fleet Management</a:t>
            </a:r>
            <a:endParaRPr lang="en-US" sz="1100" dirty="0"/>
          </a:p>
        </p:txBody>
      </p:sp>
      <p:sp>
        <p:nvSpPr>
          <p:cNvPr id="18" name="Text 16"/>
          <p:cNvSpPr/>
          <p:nvPr/>
        </p:nvSpPr>
        <p:spPr>
          <a:xfrm>
            <a:off x="7680960" y="1737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Aircraft registration, manufacturer fleet status, and cabin configurations</a:t>
            </a:r>
            <a:endParaRPr lang="en-US" sz="900" dirty="0"/>
          </a:p>
        </p:txBody>
      </p:sp>
      <p:sp>
        <p:nvSpPr>
          <p:cNvPr id="19" name="Shape 17"/>
          <p:cNvSpPr/>
          <p:nvPr/>
        </p:nvSpPr>
        <p:spPr>
          <a:xfrm>
            <a:off x="7498080" y="2468880"/>
            <a:ext cx="3931920" cy="1051560"/>
          </a:xfrm>
          <a:prstGeom prst="rect">
            <a:avLst/>
          </a:prstGeom>
          <a:solidFill>
            <a:srgbClr val="1E293B"/>
          </a:solidFill>
          <a:ln w="19050">
            <a:solidFill>
              <a:srgbClr val="38BDF8"/>
            </a:solidFill>
            <a:prstDash val="solid"/>
          </a:ln>
        </p:spPr>
      </p:sp>
      <p:sp>
        <p:nvSpPr>
          <p:cNvPr id="20" name="Text 18"/>
          <p:cNvSpPr/>
          <p:nvPr/>
        </p:nvSpPr>
        <p:spPr>
          <a:xfrm>
            <a:off x="7680960" y="2578608"/>
            <a:ext cx="3566160" cy="274320"/>
          </a:xfrm>
          <a:prstGeom prst="rect">
            <a:avLst/>
          </a:prstGeom>
          <a:noFill/>
          <a:ln/>
        </p:spPr>
        <p:txBody>
          <a:bodyPr wrap="square" rtlCol="0" anchor="ctr"/>
          <a:lstStyle/>
          <a:p>
            <a:pPr indent="0" marL="0">
              <a:buNone/>
            </a:pPr>
            <a:r>
              <a:rPr lang="en-US" sz="1100" b="1" dirty="0">
                <a:solidFill>
                  <a:srgbClr val="38BDF8"/>
                </a:solidFill>
                <a:latin typeface="Arial" pitchFamily="34" charset="0"/>
                <a:ea typeface="Arial" pitchFamily="34" charset="-122"/>
                <a:cs typeface="Arial" pitchFamily="34" charset="-120"/>
              </a:rPr>
              <a:t>Flight Scheduling</a:t>
            </a:r>
            <a:endParaRPr lang="en-US" sz="1100" dirty="0"/>
          </a:p>
        </p:txBody>
      </p:sp>
      <p:sp>
        <p:nvSpPr>
          <p:cNvPr id="21" name="Text 19"/>
          <p:cNvSpPr/>
          <p:nvPr/>
        </p:nvSpPr>
        <p:spPr>
          <a:xfrm>
            <a:off x="7680960" y="2880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Route timing, origin/destination hubs, base fares, and aircraft linkage</a:t>
            </a:r>
            <a:endParaRPr lang="en-US" sz="900" dirty="0"/>
          </a:p>
        </p:txBody>
      </p:sp>
      <p:sp>
        <p:nvSpPr>
          <p:cNvPr id="22" name="Shape 20"/>
          <p:cNvSpPr/>
          <p:nvPr/>
        </p:nvSpPr>
        <p:spPr>
          <a:xfrm>
            <a:off x="7498080" y="3611880"/>
            <a:ext cx="3931920" cy="1051560"/>
          </a:xfrm>
          <a:prstGeom prst="rect">
            <a:avLst/>
          </a:prstGeom>
          <a:solidFill>
            <a:srgbClr val="1E293B"/>
          </a:solidFill>
          <a:ln w="19050">
            <a:solidFill>
              <a:srgbClr val="10B981"/>
            </a:solidFill>
            <a:prstDash val="solid"/>
          </a:ln>
        </p:spPr>
      </p:sp>
      <p:sp>
        <p:nvSpPr>
          <p:cNvPr id="23" name="Text 21"/>
          <p:cNvSpPr/>
          <p:nvPr/>
        </p:nvSpPr>
        <p:spPr>
          <a:xfrm>
            <a:off x="7680960" y="3721608"/>
            <a:ext cx="3566160" cy="274320"/>
          </a:xfrm>
          <a:prstGeom prst="rect">
            <a:avLst/>
          </a:prstGeom>
          <a:noFill/>
          <a:ln/>
        </p:spPr>
        <p:txBody>
          <a:bodyPr wrap="square" rtlCol="0" anchor="ctr"/>
          <a:lstStyle/>
          <a:p>
            <a:pPr indent="0" marL="0">
              <a:buNone/>
            </a:pPr>
            <a:r>
              <a:rPr lang="en-US" sz="1100" b="1" dirty="0">
                <a:solidFill>
                  <a:srgbClr val="10B981"/>
                </a:solidFill>
                <a:latin typeface="Arial" pitchFamily="34" charset="0"/>
                <a:ea typeface="Arial" pitchFamily="34" charset="-122"/>
                <a:cs typeface="Arial" pitchFamily="34" charset="-120"/>
              </a:rPr>
              <a:t>Promo Campaigns</a:t>
            </a:r>
            <a:endParaRPr lang="en-US" sz="1100" dirty="0"/>
          </a:p>
        </p:txBody>
      </p:sp>
      <p:sp>
        <p:nvSpPr>
          <p:cNvPr id="24" name="Text 22"/>
          <p:cNvSpPr/>
          <p:nvPr/>
        </p:nvSpPr>
        <p:spPr>
          <a:xfrm>
            <a:off x="7680960" y="4023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Coupon rules, usage quotas, discount caps, and campaign date windows</a:t>
            </a:r>
            <a:endParaRPr lang="en-US" sz="900" dirty="0"/>
          </a:p>
        </p:txBody>
      </p:sp>
      <p:sp>
        <p:nvSpPr>
          <p:cNvPr id="25" name="Shape 23"/>
          <p:cNvSpPr/>
          <p:nvPr/>
        </p:nvSpPr>
        <p:spPr>
          <a:xfrm>
            <a:off x="731520" y="4800600"/>
            <a:ext cx="10698480" cy="1463040"/>
          </a:xfrm>
          <a:prstGeom prst="rect">
            <a:avLst/>
          </a:prstGeom>
          <a:solidFill>
            <a:srgbClr val="172554"/>
          </a:solidFill>
          <a:ln w="15240">
            <a:solidFill>
              <a:srgbClr val="3B82F6"/>
            </a:solidFill>
            <a:prstDash val="solid"/>
          </a:ln>
        </p:spPr>
      </p:sp>
      <p:sp>
        <p:nvSpPr>
          <p:cNvPr id="26" name="Text 24"/>
          <p:cNvSpPr/>
          <p:nvPr/>
        </p:nvSpPr>
        <p:spPr>
          <a:xfrm>
            <a:off x="914400" y="4892040"/>
            <a:ext cx="10332720" cy="228600"/>
          </a:xfrm>
          <a:prstGeom prst="rect">
            <a:avLst/>
          </a:prstGeom>
          <a:noFill/>
          <a:ln/>
        </p:spPr>
        <p:txBody>
          <a:bodyPr wrap="square" rtlCol="0" anchor="ctr"/>
          <a:lstStyle/>
          <a:p>
            <a:pPr indent="0" marL="0">
              <a:buNone/>
            </a:pPr>
            <a:r>
              <a:rPr lang="en-US" sz="950" b="1" dirty="0">
                <a:solidFill>
                  <a:srgbClr val="60A5FA"/>
                </a:solidFill>
                <a:latin typeface="Arial" pitchFamily="34" charset="0"/>
                <a:ea typeface="Arial" pitchFamily="34" charset="-122"/>
                <a:cs typeface="Arial" pitchFamily="34" charset="-120"/>
              </a:rPr>
              <a:t>ON-SCREEN ACTION / LIVE DEMO CUE:</a:t>
            </a:r>
            <a:endParaRPr lang="en-US" sz="950" dirty="0"/>
          </a:p>
        </p:txBody>
      </p:sp>
      <p:sp>
        <p:nvSpPr>
          <p:cNvPr id="27" name="Text 25"/>
          <p:cNvSpPr/>
          <p:nvPr/>
        </p:nvSpPr>
        <p:spPr>
          <a:xfrm>
            <a:off x="914400" y="5166360"/>
            <a:ext cx="10332720" cy="1005840"/>
          </a:xfrm>
          <a:prstGeom prst="rect">
            <a:avLst/>
          </a:prstGeom>
          <a:noFill/>
          <a:ln/>
        </p:spPr>
        <p:txBody>
          <a:bodyPr wrap="square" rtlCol="0" anchor="ctr"/>
          <a:lstStyle/>
          <a:p>
            <a:pPr indent="0" marL="0">
              <a:buNone/>
            </a:pPr>
            <a:r>
              <a:rPr lang="en-US" sz="950" dirty="0">
                <a:solidFill>
                  <a:srgbClr val="EFF6FF"/>
                </a:solidFill>
                <a:latin typeface="Arial" pitchFamily="34" charset="0"/>
                <a:ea typeface="Arial" pitchFamily="34" charset="-122"/>
                <a:cs typeface="Arial" pitchFamily="34" charset="-120"/>
              </a:rPr>
              <a:t>1. Log out and log in as admin@aerobook.com / Admin@123.</a:t>
            </a:r>
            <a:endParaRPr lang="en-US" sz="950" dirty="0"/>
          </a:p>
          <a:p>
            <a:pPr indent="0" marL="0">
              <a:buNone/>
            </a:pPr>
            <a:r>
              <a:rPr lang="en-US" sz="950" dirty="0">
                <a:solidFill>
                  <a:srgbClr val="EFF6FF"/>
                </a:solidFill>
                <a:latin typeface="Arial" pitchFamily="34" charset="0"/>
                <a:ea typeface="Arial" pitchFamily="34" charset="-122"/>
                <a:cs typeface="Arial" pitchFamily="34" charset="-120"/>
              </a:rPr>
              <a:t>2. Land on Admin Dashboard (/admin).</a:t>
            </a:r>
            <a:endParaRPr lang="en-US" sz="950" dirty="0"/>
          </a:p>
          <a:p>
            <a:pPr indent="0" marL="0">
              <a:buNone/>
            </a:pPr>
            <a:r>
              <a:rPr lang="en-US" sz="950" dirty="0">
                <a:solidFill>
                  <a:srgbClr val="EFF6FF"/>
                </a:solidFill>
                <a:latin typeface="Arial" pitchFamily="34" charset="0"/>
                <a:ea typeface="Arial" pitchFamily="34" charset="-122"/>
                <a:cs typeface="Arial" pitchFamily="34" charset="-120"/>
              </a:rPr>
              <a:t>3. Navigate through tabs: Fleet Management (Boeing 737, Airbus A320), Flight Schedules (view/create schedules), Coupons &amp; Campaigns (WELCOME10), and User Management directory.</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D1E"/>
        </a:solidFill>
      </p:bgPr>
    </p:bg>
    <p:spTree>
      <p:nvGrpSpPr>
        <p:cNvPr id="1" name=""/>
        <p:cNvGrpSpPr/>
        <p:nvPr/>
      </p:nvGrpSpPr>
      <p:grpSpPr>
        <a:xfrm>
          <a:off x="0" y="0"/>
          <a:ext cx="0" cy="0"/>
          <a:chOff x="0" y="0"/>
          <a:chExt cx="0" cy="0"/>
        </a:xfrm>
      </p:grpSpPr>
      <p:sp>
        <p:nvSpPr>
          <p:cNvPr id="2" name="Shape 0"/>
          <p:cNvSpPr/>
          <p:nvPr/>
        </p:nvSpPr>
        <p:spPr>
          <a:xfrm>
            <a:off x="731520" y="365760"/>
            <a:ext cx="10698480" cy="822960"/>
          </a:xfrm>
          <a:prstGeom prst="rect">
            <a:avLst/>
          </a:prstGeom>
          <a:solidFill>
            <a:srgbClr val="0F172A"/>
          </a:solidFill>
          <a:ln w="15240">
            <a:solidFill>
              <a:srgbClr val="2563EB"/>
            </a:solidFill>
            <a:prstDash val="solid"/>
          </a:ln>
        </p:spPr>
      </p:sp>
      <p:sp>
        <p:nvSpPr>
          <p:cNvPr id="3" name="Text 1"/>
          <p:cNvSpPr/>
          <p:nvPr/>
        </p:nvSpPr>
        <p:spPr>
          <a:xfrm>
            <a:off x="914400" y="438912"/>
            <a:ext cx="5486400" cy="228600"/>
          </a:xfrm>
          <a:prstGeom prst="rect">
            <a:avLst/>
          </a:prstGeom>
          <a:noFill/>
          <a:ln/>
        </p:spPr>
        <p:txBody>
          <a:bodyPr wrap="square" rtlCol="0" anchor="ctr"/>
          <a:lstStyle/>
          <a:p>
            <a:pPr indent="0" marL="0">
              <a:buNone/>
            </a:pPr>
            <a:r>
              <a:rPr lang="en-US" sz="900" b="1" dirty="0">
                <a:solidFill>
                  <a:srgbClr val="38BDF8"/>
                </a:solidFill>
                <a:latin typeface="Arial" pitchFamily="34" charset="0"/>
                <a:ea typeface="Arial" pitchFamily="34" charset="-122"/>
                <a:cs typeface="Arial" pitchFamily="34" charset="-120"/>
              </a:rPr>
              <a:t>SLIDE 11 OF 11  |  09:30 – 10:00</a:t>
            </a:r>
            <a:endParaRPr lang="en-US" sz="900" dirty="0"/>
          </a:p>
        </p:txBody>
      </p:sp>
      <p:sp>
        <p:nvSpPr>
          <p:cNvPr id="4" name="Text 2"/>
          <p:cNvSpPr/>
          <p:nvPr/>
        </p:nvSpPr>
        <p:spPr>
          <a:xfrm>
            <a:off x="914400" y="658368"/>
            <a:ext cx="82296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Conclusion &amp; Technical Wrap-Up</a:t>
            </a:r>
            <a:endParaRPr lang="en-US" sz="1600" dirty="0"/>
          </a:p>
        </p:txBody>
      </p:sp>
      <p:sp>
        <p:nvSpPr>
          <p:cNvPr id="5" name="Text 3"/>
          <p:cNvSpPr/>
          <p:nvPr/>
        </p:nvSpPr>
        <p:spPr>
          <a:xfrm>
            <a:off x="8686800" y="502920"/>
            <a:ext cx="2560320" cy="274320"/>
          </a:xfrm>
          <a:prstGeom prst="rect">
            <a:avLst/>
          </a:prstGeom>
          <a:noFill/>
          <a:ln/>
        </p:spPr>
        <p:txBody>
          <a:bodyPr wrap="square"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PART 2: LIVE SYSTEM DEMONSTRATION</a:t>
            </a:r>
            <a:endParaRPr lang="en-US" sz="800" dirty="0"/>
          </a:p>
        </p:txBody>
      </p:sp>
      <p:sp>
        <p:nvSpPr>
          <p:cNvPr id="6" name="Shape 4"/>
          <p:cNvSpPr/>
          <p:nvPr/>
        </p:nvSpPr>
        <p:spPr>
          <a:xfrm>
            <a:off x="731520" y="1325880"/>
            <a:ext cx="6583680" cy="3337560"/>
          </a:xfrm>
          <a:prstGeom prst="rect">
            <a:avLst/>
          </a:prstGeom>
          <a:solidFill>
            <a:srgbClr val="0F172A"/>
          </a:solidFill>
          <a:ln w="12700">
            <a:solidFill>
              <a:srgbClr val="334155"/>
            </a:solidFill>
            <a:prstDash val="solid"/>
          </a:ln>
        </p:spPr>
      </p:sp>
      <p:sp>
        <p:nvSpPr>
          <p:cNvPr id="7" name="Text 5"/>
          <p:cNvSpPr/>
          <p:nvPr/>
        </p:nvSpPr>
        <p:spPr>
          <a:xfrm>
            <a:off x="914400" y="1417320"/>
            <a:ext cx="6217920" cy="27432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KEY ARCHITECTURAL &amp; TECHNICAL HIGHLIGHTS</a:t>
            </a:r>
            <a:endParaRPr lang="en-US" sz="1000" dirty="0"/>
          </a:p>
        </p:txBody>
      </p:sp>
      <p:sp>
        <p:nvSpPr>
          <p:cNvPr id="8" name="Text 6"/>
          <p:cNvSpPr/>
          <p:nvPr/>
        </p:nvSpPr>
        <p:spPr>
          <a:xfrm>
            <a:off x="914400" y="17830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Cloud-Native Microservices:</a:t>
            </a:r>
            <a:endParaRPr lang="en-US" sz="1000" dirty="0"/>
          </a:p>
        </p:txBody>
      </p:sp>
      <p:sp>
        <p:nvSpPr>
          <p:cNvPr id="9" name="Text 7"/>
          <p:cNvSpPr/>
          <p:nvPr/>
        </p:nvSpPr>
        <p:spPr>
          <a:xfrm>
            <a:off x="1188720" y="20116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11 Java Spring Boot services communicating via Eureka and Netty API Gateway.</a:t>
            </a:r>
            <a:endParaRPr lang="en-US" sz="950" dirty="0"/>
          </a:p>
        </p:txBody>
      </p:sp>
      <p:sp>
        <p:nvSpPr>
          <p:cNvPr id="10" name="Text 8"/>
          <p:cNvSpPr/>
          <p:nvPr/>
        </p:nvSpPr>
        <p:spPr>
          <a:xfrm>
            <a:off x="914400" y="24688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Eventual Consistency:</a:t>
            </a:r>
            <a:endParaRPr lang="en-US" sz="1000" dirty="0"/>
          </a:p>
        </p:txBody>
      </p:sp>
      <p:sp>
        <p:nvSpPr>
          <p:cNvPr id="11" name="Text 9"/>
          <p:cNvSpPr/>
          <p:nvPr/>
        </p:nvSpPr>
        <p:spPr>
          <a:xfrm>
            <a:off x="1188720" y="26974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RabbitMQ AMQP messaging guarantees resilient, decoupled async processing.</a:t>
            </a:r>
            <a:endParaRPr lang="en-US" sz="950" dirty="0"/>
          </a:p>
        </p:txBody>
      </p:sp>
      <p:sp>
        <p:nvSpPr>
          <p:cNvPr id="12" name="Text 10"/>
          <p:cNvSpPr/>
          <p:nvPr/>
        </p:nvSpPr>
        <p:spPr>
          <a:xfrm>
            <a:off x="914400" y="31546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Zero Overselling:</a:t>
            </a:r>
            <a:endParaRPr lang="en-US" sz="1000" dirty="0"/>
          </a:p>
        </p:txBody>
      </p:sp>
      <p:sp>
        <p:nvSpPr>
          <p:cNvPr id="13" name="Text 11"/>
          <p:cNvSpPr/>
          <p:nvPr/>
        </p:nvSpPr>
        <p:spPr>
          <a:xfrm>
            <a:off x="1188720" y="33832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Pessimistic row locking ensures atomic seat inventory checks at scale.</a:t>
            </a:r>
            <a:endParaRPr lang="en-US" sz="950" dirty="0"/>
          </a:p>
        </p:txBody>
      </p:sp>
      <p:sp>
        <p:nvSpPr>
          <p:cNvPr id="14" name="Text 12"/>
          <p:cNvSpPr/>
          <p:nvPr/>
        </p:nvSpPr>
        <p:spPr>
          <a:xfrm>
            <a:off x="914400" y="3840480"/>
            <a:ext cx="621792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Unified Modern UI:</a:t>
            </a:r>
            <a:endParaRPr lang="en-US" sz="1000" dirty="0"/>
          </a:p>
        </p:txBody>
      </p:sp>
      <p:sp>
        <p:nvSpPr>
          <p:cNvPr id="15" name="Text 13"/>
          <p:cNvSpPr/>
          <p:nvPr/>
        </p:nvSpPr>
        <p:spPr>
          <a:xfrm>
            <a:off x="1188720" y="4069080"/>
            <a:ext cx="5852160" cy="411480"/>
          </a:xfrm>
          <a:prstGeom prst="rect">
            <a:avLst/>
          </a:prstGeom>
          <a:noFill/>
          <a:ln/>
        </p:spPr>
        <p:txBody>
          <a:bodyPr wrap="square" rtlCol="0" anchor="ctr"/>
          <a:lstStyle/>
          <a:p>
            <a:pPr indent="0" marL="0">
              <a:buNone/>
            </a:pPr>
            <a:r>
              <a:rPr lang="en-US" sz="950" dirty="0">
                <a:solidFill>
                  <a:srgbClr val="CBD5E1"/>
                </a:solidFill>
                <a:latin typeface="Arial" pitchFamily="34" charset="0"/>
                <a:ea typeface="Arial" pitchFamily="34" charset="-122"/>
                <a:cs typeface="Arial" pitchFamily="34" charset="-120"/>
              </a:rPr>
              <a:t>Angular 18 SPA delivers seamless workflows across Passenger, Staff, and Admin roles.</a:t>
            </a:r>
            <a:endParaRPr lang="en-US" sz="950" dirty="0"/>
          </a:p>
        </p:txBody>
      </p:sp>
      <p:sp>
        <p:nvSpPr>
          <p:cNvPr id="16" name="Shape 14"/>
          <p:cNvSpPr/>
          <p:nvPr/>
        </p:nvSpPr>
        <p:spPr>
          <a:xfrm>
            <a:off x="7498080" y="1325880"/>
            <a:ext cx="3931920" cy="1051560"/>
          </a:xfrm>
          <a:prstGeom prst="rect">
            <a:avLst/>
          </a:prstGeom>
          <a:solidFill>
            <a:srgbClr val="1E293B"/>
          </a:solidFill>
          <a:ln w="19050">
            <a:solidFill>
              <a:srgbClr val="10B981"/>
            </a:solidFill>
            <a:prstDash val="solid"/>
          </a:ln>
        </p:spPr>
      </p:sp>
      <p:sp>
        <p:nvSpPr>
          <p:cNvPr id="17" name="Text 15"/>
          <p:cNvSpPr/>
          <p:nvPr/>
        </p:nvSpPr>
        <p:spPr>
          <a:xfrm>
            <a:off x="7680960" y="1435608"/>
            <a:ext cx="3566160" cy="274320"/>
          </a:xfrm>
          <a:prstGeom prst="rect">
            <a:avLst/>
          </a:prstGeom>
          <a:noFill/>
          <a:ln/>
        </p:spPr>
        <p:txBody>
          <a:bodyPr wrap="square" rtlCol="0" anchor="ctr"/>
          <a:lstStyle/>
          <a:p>
            <a:pPr indent="0" marL="0">
              <a:buNone/>
            </a:pPr>
            <a:r>
              <a:rPr lang="en-US" sz="1100" b="1" dirty="0">
                <a:solidFill>
                  <a:srgbClr val="10B981"/>
                </a:solidFill>
                <a:latin typeface="Arial" pitchFamily="34" charset="0"/>
                <a:ea typeface="Arial" pitchFamily="34" charset="-122"/>
                <a:cs typeface="Arial" pitchFamily="34" charset="-120"/>
              </a:rPr>
              <a:t>11 Microservices</a:t>
            </a:r>
            <a:endParaRPr lang="en-US" sz="1100" dirty="0"/>
          </a:p>
        </p:txBody>
      </p:sp>
      <p:sp>
        <p:nvSpPr>
          <p:cNvPr id="18" name="Text 16"/>
          <p:cNvSpPr/>
          <p:nvPr/>
        </p:nvSpPr>
        <p:spPr>
          <a:xfrm>
            <a:off x="7680960" y="1737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100% decoupled Spring Boot backend with Eureka client-side load balancing</a:t>
            </a:r>
            <a:endParaRPr lang="en-US" sz="900" dirty="0"/>
          </a:p>
        </p:txBody>
      </p:sp>
      <p:sp>
        <p:nvSpPr>
          <p:cNvPr id="19" name="Shape 17"/>
          <p:cNvSpPr/>
          <p:nvPr/>
        </p:nvSpPr>
        <p:spPr>
          <a:xfrm>
            <a:off x="7498080" y="2468880"/>
            <a:ext cx="3931920" cy="1051560"/>
          </a:xfrm>
          <a:prstGeom prst="rect">
            <a:avLst/>
          </a:prstGeom>
          <a:solidFill>
            <a:srgbClr val="1E293B"/>
          </a:solidFill>
          <a:ln w="19050">
            <a:solidFill>
              <a:srgbClr val="38BDF8"/>
            </a:solidFill>
            <a:prstDash val="solid"/>
          </a:ln>
        </p:spPr>
      </p:sp>
      <p:sp>
        <p:nvSpPr>
          <p:cNvPr id="20" name="Text 18"/>
          <p:cNvSpPr/>
          <p:nvPr/>
        </p:nvSpPr>
        <p:spPr>
          <a:xfrm>
            <a:off x="7680960" y="2578608"/>
            <a:ext cx="3566160" cy="274320"/>
          </a:xfrm>
          <a:prstGeom prst="rect">
            <a:avLst/>
          </a:prstGeom>
          <a:noFill/>
          <a:ln/>
        </p:spPr>
        <p:txBody>
          <a:bodyPr wrap="square" rtlCol="0" anchor="ctr"/>
          <a:lstStyle/>
          <a:p>
            <a:pPr indent="0" marL="0">
              <a:buNone/>
            </a:pPr>
            <a:r>
              <a:rPr lang="en-US" sz="1100" b="1" dirty="0">
                <a:solidFill>
                  <a:srgbClr val="38BDF8"/>
                </a:solidFill>
                <a:latin typeface="Arial" pitchFamily="34" charset="0"/>
                <a:ea typeface="Arial" pitchFamily="34" charset="-122"/>
                <a:cs typeface="Arial" pitchFamily="34" charset="-120"/>
              </a:rPr>
              <a:t>8 MySQL DBs</a:t>
            </a:r>
            <a:endParaRPr lang="en-US" sz="1100" dirty="0"/>
          </a:p>
        </p:txBody>
      </p:sp>
      <p:sp>
        <p:nvSpPr>
          <p:cNvPr id="21" name="Text 19"/>
          <p:cNvSpPr/>
          <p:nvPr/>
        </p:nvSpPr>
        <p:spPr>
          <a:xfrm>
            <a:off x="7680960" y="2880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Zero database-level cross-coupling; strict domain boundaries</a:t>
            </a:r>
            <a:endParaRPr lang="en-US" sz="900" dirty="0"/>
          </a:p>
        </p:txBody>
      </p:sp>
      <p:sp>
        <p:nvSpPr>
          <p:cNvPr id="22" name="Shape 20"/>
          <p:cNvSpPr/>
          <p:nvPr/>
        </p:nvSpPr>
        <p:spPr>
          <a:xfrm>
            <a:off x="7498080" y="3611880"/>
            <a:ext cx="3931920" cy="1051560"/>
          </a:xfrm>
          <a:prstGeom prst="rect">
            <a:avLst/>
          </a:prstGeom>
          <a:solidFill>
            <a:srgbClr val="1E293B"/>
          </a:solidFill>
          <a:ln w="19050">
            <a:solidFill>
              <a:srgbClr val="F59E0B"/>
            </a:solidFill>
            <a:prstDash val="solid"/>
          </a:ln>
        </p:spPr>
      </p:sp>
      <p:sp>
        <p:nvSpPr>
          <p:cNvPr id="23" name="Text 21"/>
          <p:cNvSpPr/>
          <p:nvPr/>
        </p:nvSpPr>
        <p:spPr>
          <a:xfrm>
            <a:off x="7680960" y="3721608"/>
            <a:ext cx="3566160" cy="274320"/>
          </a:xfrm>
          <a:prstGeom prst="rect">
            <a:avLst/>
          </a:prstGeom>
          <a:noFill/>
          <a:ln/>
        </p:spPr>
        <p:txBody>
          <a:bodyPr wrap="square" rtlCol="0" anchor="ctr"/>
          <a:lstStyle/>
          <a:p>
            <a:pPr indent="0" marL="0">
              <a:buNone/>
            </a:pPr>
            <a:r>
              <a:rPr lang="en-US" sz="1100" b="1" dirty="0">
                <a:solidFill>
                  <a:srgbClr val="F59E0B"/>
                </a:solidFill>
                <a:latin typeface="Arial" pitchFamily="34" charset="0"/>
                <a:ea typeface="Arial" pitchFamily="34" charset="-122"/>
                <a:cs typeface="Arial" pitchFamily="34" charset="-120"/>
              </a:rPr>
              <a:t>SonarQube Validated</a:t>
            </a:r>
            <a:endParaRPr lang="en-US" sz="1100" dirty="0"/>
          </a:p>
        </p:txBody>
      </p:sp>
      <p:sp>
        <p:nvSpPr>
          <p:cNvPr id="24" name="Text 22"/>
          <p:cNvSpPr/>
          <p:nvPr/>
        </p:nvSpPr>
        <p:spPr>
          <a:xfrm>
            <a:off x="7680960" y="4023360"/>
            <a:ext cx="3566160" cy="548640"/>
          </a:xfrm>
          <a:prstGeom prst="rect">
            <a:avLst/>
          </a:prstGeom>
          <a:noFill/>
          <a:ln/>
        </p:spPr>
        <p:txBody>
          <a:bodyPr wrap="square" rtlCol="0" anchor="ctr"/>
          <a:lstStyle/>
          <a:p>
            <a:pPr indent="0" marL="0">
              <a:buNone/>
            </a:pPr>
            <a:r>
              <a:rPr lang="en-US" sz="900" dirty="0">
                <a:solidFill>
                  <a:srgbClr val="E2E8F0"/>
                </a:solidFill>
                <a:latin typeface="Arial" pitchFamily="34" charset="0"/>
                <a:ea typeface="Arial" pitchFamily="34" charset="-122"/>
                <a:cs typeface="Arial" pitchFamily="34" charset="-120"/>
              </a:rPr>
              <a:t>Enterprise code quality with JaCoCo and LCOV coverage pipelines</a:t>
            </a:r>
            <a:endParaRPr lang="en-US" sz="900" dirty="0"/>
          </a:p>
        </p:txBody>
      </p:sp>
      <p:sp>
        <p:nvSpPr>
          <p:cNvPr id="25" name="Shape 23"/>
          <p:cNvSpPr/>
          <p:nvPr/>
        </p:nvSpPr>
        <p:spPr>
          <a:xfrm>
            <a:off x="731520" y="4800600"/>
            <a:ext cx="10698480" cy="1463040"/>
          </a:xfrm>
          <a:prstGeom prst="rect">
            <a:avLst/>
          </a:prstGeom>
          <a:solidFill>
            <a:srgbClr val="172554"/>
          </a:solidFill>
          <a:ln w="15240">
            <a:solidFill>
              <a:srgbClr val="3B82F6"/>
            </a:solidFill>
            <a:prstDash val="solid"/>
          </a:ln>
        </p:spPr>
      </p:sp>
      <p:sp>
        <p:nvSpPr>
          <p:cNvPr id="26" name="Text 24"/>
          <p:cNvSpPr/>
          <p:nvPr/>
        </p:nvSpPr>
        <p:spPr>
          <a:xfrm>
            <a:off x="914400" y="4892040"/>
            <a:ext cx="10332720" cy="228600"/>
          </a:xfrm>
          <a:prstGeom prst="rect">
            <a:avLst/>
          </a:prstGeom>
          <a:noFill/>
          <a:ln/>
        </p:spPr>
        <p:txBody>
          <a:bodyPr wrap="square" rtlCol="0" anchor="ctr"/>
          <a:lstStyle/>
          <a:p>
            <a:pPr indent="0" marL="0">
              <a:buNone/>
            </a:pPr>
            <a:r>
              <a:rPr lang="en-US" sz="950" b="1" dirty="0">
                <a:solidFill>
                  <a:srgbClr val="60A5FA"/>
                </a:solidFill>
                <a:latin typeface="Arial" pitchFamily="34" charset="0"/>
                <a:ea typeface="Arial" pitchFamily="34" charset="-122"/>
                <a:cs typeface="Arial" pitchFamily="34" charset="-120"/>
              </a:rPr>
              <a:t>ON-SCREEN ACTION / LIVE DEMO CUE:</a:t>
            </a:r>
            <a:endParaRPr lang="en-US" sz="950" dirty="0"/>
          </a:p>
        </p:txBody>
      </p:sp>
      <p:sp>
        <p:nvSpPr>
          <p:cNvPr id="27" name="Text 25"/>
          <p:cNvSpPr/>
          <p:nvPr/>
        </p:nvSpPr>
        <p:spPr>
          <a:xfrm>
            <a:off x="914400" y="5166360"/>
            <a:ext cx="10332720" cy="1005840"/>
          </a:xfrm>
          <a:prstGeom prst="rect">
            <a:avLst/>
          </a:prstGeom>
          <a:noFill/>
          <a:ln/>
        </p:spPr>
        <p:txBody>
          <a:bodyPr wrap="square" rtlCol="0" anchor="ctr"/>
          <a:lstStyle/>
          <a:p>
            <a:pPr indent="0" marL="0">
              <a:buNone/>
            </a:pPr>
            <a:r>
              <a:rPr lang="en-US" sz="950" dirty="0">
                <a:solidFill>
                  <a:srgbClr val="EFF6FF"/>
                </a:solidFill>
                <a:latin typeface="Arial" pitchFamily="34" charset="0"/>
                <a:ea typeface="Arial" pitchFamily="34" charset="-122"/>
                <a:cs typeface="Arial" pitchFamily="34" charset="-120"/>
              </a:rPr>
              <a:t>Switch back to the AeroBook Home Screen or show the Eureka Dashboard with all 10 healthy microservices active. Deliver confident, professional closing statement.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2026-10-21T06:44:04Z</dcterms:created>
  <dcterms:modified xsi:type="dcterms:W3CDTF">2026-10-21T06:44:04Z</dcterms:modified>
</cp:coreProperties>
</file>